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d3cf074-4e85-e669-07bc-149a0e6a9387}">
          <p14:sldIdLst>
            <p14:sldId id="256"/>
            <p14:sldId id="257"/>
            <p14:sldId id="258"/>
            <p14:sldId id="259"/>
            <p14:sldId id="260"/>
            <p14:sldId id="261"/>
            <p14:sldId id="262"/>
          </p14:sldIdLst>
        </p14:section>
        <p14:section name="The model" id="{7f159a6e-6da6-e182-4d0b-b4b8328511dd}">
          <p14:sldIdLst>
            <p14:sldId id="263"/>
            <p14:sldId id="264"/>
          </p14:sldIdLst>
        </p14:section>
        <p14:section name="Results" id="{e28da7c2-1af7-15c3-cdc5-d024f3c142cd}">
          <p14:sldIdLst>
            <p14:sldId id="265"/>
            <p14:sldId id="266"/>
            <p14:sldId id="267"/>
            <p14:sldId id="268"/>
          </p14:sldIdLst>
        </p14:section>
        <p14:section name="Validation" id="{92d4872b-54e6-1898-d1fb-ffbe85238d1f}">
          <p14:sldIdLst>
            <p14:sldId id="269"/>
          </p14:sldIdLst>
        </p14:section>
        <p14:section name="Close" id="{b13baee5-89da-91ae-9db4-6594eda1351e}">
          <p14:sldIdLst>
            <p14:sldId id="270"/>
          </p14:sldIdLst>
        </p14:section>
        <p14:section name="Backup" id="{7b94ca39-9de4-0073-627d-5bffea7a4e7e}">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title is the chapter title; change for the seminar if you like.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third question is latent in the canonical theory because those models have one signal. It becomes askable once a public signal is added, which the global-games literature did in the early 2000s. It is exactly the question a panic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If asked how the theory answers the third question: the public-signal global games answer it with the Bayesian precision ratio, the weight on y is tau_y over tau_x plus tau_y, the same for everyone and vanishing as private information sharpens; so any sorting between depositors is noise and official communication stops mattering just when depositors pay most attention. (Slide dropped for this audience.) The cases: in each one the public line and private evidence are in open disagreement, the weights do not vanish, and the interesting fact is who moved on which. Chapter 3's stale public signal is the general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ladder: variation in the signal (Goldstein-Pauzner: same signal technology, different draws, which selects the equilibrium), variation in location (who hears it, from whom, when: Kelly-O Grada, Iyer-Puri, Cookson et al.), variation in interpretation (the same two signals, different dispositional weights; culture is the stable source). Rung 1 orders depositors by luck, rung 2 by position, rung 3 by who they are, and only rung 3 predicts that the order flips with the sign of the public error. Nearest cousins to acknowledge if asked: Izmalkov-Yildiz 2010 (heterogeneous priors), He-Manela 2016 (information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r1k pooled: G1' +0.033, G4' -0.031, G2a' +0.093, all Holm-significant; G2b ordering holds. G3 +0.0034 pooled but (0.3, 0.5) wrong-signed in every bank -&gt; counts against. G3c (post hoc, channel-isolated) +0.019, right-signed in every pair. 3 of 4 confirmatory tests support, in all three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Celsius falls from ~0.86 (D1–D5 band 0.82–0.90) to 0.35 (top 0.1%); the ABM stays at 0.93–1.00. The model does not yet reproduce how large depositors exit. Next: super-individuals.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Vault bank, earlier specification (chapter Fig 1). For questions about Ch 1's P6. This figure is also monotone decreasing: P6 (non-monotonic fragility) was predicted in Ch 1 and found in neither bank; the P6b placebo hump was null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Who runs, and how a run spreads: an agent-based test of the theory</a:t>
            </a:r>
            <a:endParaRPr lang="en-US" sz="1800" dirty="0"/>
          </a:p>
          <a:p>
            <a:pPr indent="0" marL="0">
              <a:buNone/>
            </a:pPr>
            <a:r>
              <a:rPr lang="en-US" sz="1400" dirty="0">
                <a:solidFill>
                  <a:schemeClr val="accent3"/>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With two signals, a third question appears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Which signal does a depositor act on, and in what proportion?</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Latent in the canonical models. </a:t>
            </a:r>
            <a:pPr indent="0" marL="0">
              <a:spcAft>
                <a:spcPts val="900"/>
              </a:spcAft>
              <a:buNone/>
            </a:pPr>
            <a:r>
              <a:rPr lang="en-US" sz="1400" dirty="0">
                <a:solidFill>
                  <a:schemeClr val="tx1"/>
                </a:solidFill>
              </a:rPr>
              <a:t>Diamond–Dybvig has no signal; Morris–Shin and Goldstein–Pauzner have one. The question cannot arise.</a:t>
            </a:r>
            <a:endParaRPr lang="en-US" sz="1400" dirty="0"/>
          </a:p>
          <a:p>
            <a:pPr marL="177800" indent="-177800">
              <a:spcAft>
                <a:spcPts val="900"/>
              </a:spcAft>
              <a:buSzPct val="100000"/>
              <a:buChar char="•"/>
            </a:pPr>
            <a:r>
              <a:rPr lang="en-US" sz="1400" b="1" dirty="0">
                <a:solidFill>
                  <a:schemeClr val="tx1"/>
                </a:solidFill>
              </a:rPr>
              <a:t>Askable once a public signal is added. </a:t>
            </a:r>
            <a:pPr indent="0" marL="0">
              <a:spcAft>
                <a:spcPts val="900"/>
              </a:spcAft>
              <a:buNone/>
            </a:pPr>
            <a:r>
              <a:rPr lang="en-US" sz="1400" dirty="0">
                <a:solidFill>
                  <a:schemeClr val="tx1"/>
                </a:solidFill>
              </a:rPr>
              <a:t>Morris–Shin (2002), Hellwig (2002), Angeletos–Werning (2006) put a public signal next to the private one.</a:t>
            </a:r>
            <a:endParaRPr lang="en-US" sz="1400" dirty="0"/>
          </a:p>
          <a:p>
            <a:pPr marL="177800" indent="-177800">
              <a:spcAft>
                <a:spcPts val="900"/>
              </a:spcAft>
              <a:buSzPct val="100000"/>
              <a:buChar char="•"/>
            </a:pPr>
            <a:r>
              <a:rPr lang="en-US" sz="1400" b="1" dirty="0">
                <a:solidFill>
                  <a:schemeClr val="tx1"/>
                </a:solidFill>
              </a:rPr>
              <a:t>The question a panic poses. </a:t>
            </a:r>
            <a:pPr indent="0" marL="0">
              <a:spcAft>
                <a:spcPts val="900"/>
              </a:spcAft>
              <a:buNone/>
            </a:pPr>
            <a:r>
              <a:rPr lang="en-US" sz="1400" dirty="0">
                <a:solidFill>
                  <a:schemeClr val="tx1"/>
                </a:solidFill>
              </a:rPr>
              <a:t>A depositor in a run holds two things that disagree: what they see and what they are told.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What panics look like</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Panics are open disagreements between the public line and private evidence, and depositors split on which to trust.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Celsius, 2022. </a:t>
            </a:r>
            <a:pPr indent="0" marL="0">
              <a:spcAft>
                <a:spcPts val="900"/>
              </a:spcAft>
              <a:buNone/>
            </a:pPr>
            <a:r>
              <a:rPr lang="en-US" sz="1400" dirty="0">
                <a:solidFill>
                  <a:schemeClr val="tx1"/>
                </a:solidFill>
              </a:rPr>
              <a:t>Official posts insisting the platform was sound, while CEL fell and withdrawals accelerated.</a:t>
            </a:r>
            <a:endParaRPr lang="en-US" sz="1400" dirty="0"/>
          </a:p>
          <a:p>
            <a:pPr marL="177800" indent="-177800">
              <a:spcAft>
                <a:spcPts val="900"/>
              </a:spcAft>
              <a:buSzPct val="100000"/>
              <a:buChar char="•"/>
            </a:pPr>
            <a:r>
              <a:rPr lang="en-US" sz="1400" b="1" dirty="0">
                <a:solidFill>
                  <a:schemeClr val="tx1"/>
                </a:solidFill>
              </a:rPr>
              <a:t>Silicon Valley Bank, 2023. </a:t>
            </a:r>
            <a:pPr indent="0" marL="0">
              <a:spcAft>
                <a:spcPts val="900"/>
              </a:spcAft>
              <a:buNone/>
            </a:pPr>
            <a:r>
              <a:rPr lang="en-US" sz="1400" dirty="0">
                <a:solidFill>
                  <a:schemeClr val="tx1"/>
                </a:solidFill>
              </a:rPr>
              <a:t>A call asking clients to stay calm, against a Twitter feed saying the opposite.</a:t>
            </a:r>
            <a:endParaRPr lang="en-US" sz="1400" dirty="0"/>
          </a:p>
          <a:p>
            <a:pPr marL="177800" indent="-177800">
              <a:spcAft>
                <a:spcPts val="900"/>
              </a:spcAft>
              <a:buSzPct val="100000"/>
              <a:buChar char="•"/>
            </a:pPr>
            <a:r>
              <a:rPr lang="en-US" sz="1400" b="1" dirty="0">
                <a:solidFill>
                  <a:schemeClr val="tx1"/>
                </a:solidFill>
              </a:rPr>
              <a:t>Northern Rock, 2007. </a:t>
            </a:r>
            <a:pPr indent="0" marL="0">
              <a:spcAft>
                <a:spcPts val="900"/>
              </a:spcAft>
              <a:buNone/>
            </a:pPr>
            <a:r>
              <a:rPr lang="en-US" sz="1400" dirty="0">
                <a:solidFill>
                  <a:schemeClr val="tx1"/>
                </a:solidFill>
              </a:rPr>
              <a:t>A Bank of England support announcement, against queues outside the branches.</a:t>
            </a:r>
            <a:endParaRPr lang="en-US" sz="1400" dirty="0"/>
          </a:p>
        </p:txBody>
      </p:sp>
      <p:sp>
        <p:nvSpPr>
          <p:cNvPr id="5" name="step-foot"/>
          <p:cNvSpPr txBox="1"/>
          <p:nvPr/>
        </p:nvSpPr>
        <p:spPr>
          <a:xfrm>
            <a:off x="457200" y="4251960"/>
            <a:ext cx="8229600" cy="320040"/>
          </a:xfrm>
          <a:prstGeom prst="rect">
            <a:avLst/>
          </a:prstGeom>
          <a:noFill/>
          <a:ln/>
        </p:spPr>
        <p:txBody>
          <a:bodyPr wrap="square" lIns="0" tIns="0" rIns="0" bIns="0" rtlCol="0" anchor="ctr"/>
          <a:lstStyle/>
          <a:p>
            <a:pPr indent="0" marL="0">
              <a:buNone/>
            </a:pPr>
            <a:r>
              <a:rPr lang="en-US" sz="1100" i="1" dirty="0">
                <a:solidFill>
                  <a:schemeClr val="accent3"/>
                </a:solidFill>
              </a:rPr>
              <a:t>In each case the interesting fact is who moved on which signal.</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ladder: signal, location, interpretation</a:t>
            </a:r>
            <a:endParaRPr lang="en-US" sz="2400" dirty="0"/>
          </a:p>
        </p:txBody>
      </p:sp>
      <p:pic>
        <p:nvPicPr>
          <p:cNvPr id="3" name="ladder" descr="Three panels. Signal: one bank fundamental sends a noisy private signal to each depositor, who line up from run to stay. Location: a network in which the signal has reached some depositors from a first hearer and not others. Interpretation: the same private and public signals reach an individualist, who leans on the private signal, and a collectivist, who leans on the public one; culture sets the weight.">    </p:cNvPr>
          <p:cNvPicPr>
            <a:picLocks noChangeAspect="1"/>
          </p:cNvPicPr>
          <p:nvPr/>
        </p:nvPicPr>
        <p:blipFill>
          <a:blip r:embed="rId1"/>
          <a:stretch>
            <a:fillRect/>
          </a:stretch>
        </p:blipFill>
        <p:spPr>
          <a:xfrm>
            <a:off x="653339" y="1097280"/>
            <a:ext cx="7837322" cy="2743200"/>
          </a:xfrm>
          <a:prstGeom prst="rect">
            <a:avLst/>
          </a:prstGeom>
        </p:spPr>
      </p:pic>
      <p:sp>
        <p:nvSpPr>
          <p:cNvPr id="4" name="ladder-note"/>
          <p:cNvSpPr/>
          <p:nvPr/>
        </p:nvSpPr>
        <p:spPr>
          <a:xfrm>
            <a:off x="457200" y="3977640"/>
            <a:ext cx="8229600" cy="566928"/>
          </a:xfrm>
          <a:prstGeom prst="roundRect">
            <a:avLst>
              <a:gd name="adj" fmla="val 12903"/>
            </a:avLst>
          </a:prstGeom>
          <a:solidFill>
            <a:schemeClr val="accent4"/>
          </a:solidFill>
          <a:ln w="12700">
            <a:solidFill>
              <a:schemeClr val="accent4"/>
            </a:solidFill>
            <a:prstDash val="solid"/>
          </a:ln>
        </p:spPr>
      </p:sp>
      <p:sp>
        <p:nvSpPr>
          <p:cNvPr id="5" name="ladder-text"/>
          <p:cNvSpPr txBox="1"/>
          <p:nvPr/>
        </p:nvSpPr>
        <p:spPr>
          <a:xfrm>
            <a:off x="594360" y="4005072"/>
            <a:ext cx="7955280" cy="512064"/>
          </a:xfrm>
          <a:prstGeom prst="rect">
            <a:avLst/>
          </a:prstGeom>
          <a:noFill/>
          <a:ln/>
        </p:spPr>
        <p:txBody>
          <a:bodyPr wrap="square" lIns="0" tIns="0" rIns="0" bIns="0" rtlCol="0" anchor="ctr"/>
          <a:lstStyle/>
          <a:p>
            <a:pPr indent="0" marL="0">
              <a:buNone/>
            </a:pPr>
            <a:r>
              <a:rPr lang="en-US" sz="1200" dirty="0">
                <a:solidFill>
                  <a:schemeClr val="accent3"/>
                </a:solidFill>
              </a:rPr>
              <a:t>Rungs 1 and 2 are the literature. </a:t>
            </a:r>
            <a:pPr indent="0" marL="0">
              <a:buNone/>
            </a:pPr>
            <a:r>
              <a:rPr lang="en-US" sz="1200" b="1" dirty="0">
                <a:solidFill>
                  <a:schemeClr val="accent1"/>
                </a:solidFill>
              </a:rPr>
              <a:t>Rung 3 is this paper: </a:t>
            </a:r>
            <a:pPr indent="0" marL="0">
              <a:buNone/>
            </a:pPr>
            <a:r>
              <a:rPr lang="en-US" sz="1200" dirty="0">
                <a:solidFill>
                  <a:schemeClr val="tx1"/>
                </a:solidFill>
              </a:rPr>
              <a:t>the only one that orders depositors by a trait, and reverses when the public line is too optimistic or too pessimistic.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the theory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the pre-registered tests, channels, and the Celsius docking gap.</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pre-registered tests, three versions of the bank</a:t>
            </a:r>
            <a:endParaRPr lang="en-US" sz="2400" dirty="0"/>
          </a:p>
        </p:txBody>
      </p:sp>
      <p:pic>
        <p:nvPicPr>
          <p:cNvPr id="3" name="e03" descr="Forest plot of five tests (G1', G4', G2a', G3, G3c) across three bank versions with pooled estimates and per-pair markers.">    </p:cNvPr>
          <p:cNvPicPr>
            <a:picLocks noChangeAspect="1"/>
          </p:cNvPicPr>
          <p:nvPr/>
        </p:nvPicPr>
        <p:blipFill>
          <a:blip r:embed="rId1"/>
          <a:stretch>
            <a:fillRect/>
          </a:stretch>
        </p:blipFill>
        <p:spPr>
          <a:xfrm>
            <a:off x="882533" y="1051560"/>
            <a:ext cx="7378934"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G1′, G4′, G2a′, G3 and G3c (post hoc). Rows: risk-neutral all-or-nothing, CARA partial, capped reference bank. Filled dot: pooled; hollow: each λ pair. Shaded: the theory’s predicted sign.</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Matching Celsius: how large depositors exit</a:t>
            </a:r>
            <a:endParaRPr lang="en-US" sz="2400" dirty="0"/>
          </a:p>
        </p:txBody>
      </p:sp>
      <p:pic>
        <p:nvPicPr>
          <p:cNvPr id="3" name="e04" descr="Share of exits that withdraw everything at once by depositor size: Celsius falls from about 0.86 to 0.35 for the largest; the model stays at 0.93 to 1.">    </p:cNvPr>
          <p:cNvPicPr>
            <a:picLocks noChangeAspect="1"/>
          </p:cNvPicPr>
          <p:nvPr/>
        </p:nvPicPr>
        <p:blipFill>
          <a:blip r:embed="rId1"/>
          <a:stretch>
            <a:fillRect/>
          </a:stretch>
        </p:blipFill>
        <p:spPr>
          <a:xfrm>
            <a:off x="1882292" y="1051560"/>
            <a:ext cx="537941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of exits that withdraw everything at once, by depositor size. Black: Celsius (band for D1–D5); greys: the model, uncapped and capped.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Earlier specification (vault bank): failure by mix</a:t>
            </a:r>
            <a:endParaRPr lang="en-US" sz="2400" dirty="0"/>
          </a:p>
        </p:txBody>
      </p:sp>
      <p:pic>
        <p:nvPicPr>
          <p:cNvPr id="3" name="fig1" descr="Earlier vault-bank specification: probability of a run falls with the share of individualists for all three signal-weighting gaps.">    </p:cNvPr>
          <p:cNvPicPr>
            <a:picLocks noChangeAspect="1"/>
          </p:cNvPicPr>
          <p:nvPr/>
        </p:nvPicPr>
        <p:blipFill>
          <a:blip r:embed="rId1"/>
          <a:stretch>
            <a:fillRect/>
          </a:stretch>
        </p:blipFill>
        <p:spPr>
          <a:xfrm>
            <a:off x="1999016" y="1051560"/>
            <a:ext cx="5145969"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Vault bank, earlier specification (chapter Figure 1): probability of a run by share of individualists, three λ gaps. Also monotone.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2026-10-26T03:41:20Z</dcterms:created>
  <dcterms:modified xsi:type="dcterms:W3CDTF">2026-10-26T03:41:20Z</dcterms:modified>
</cp:coreProperties>
</file>