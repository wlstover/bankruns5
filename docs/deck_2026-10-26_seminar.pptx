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f6ab689-e716-50b2-a8ef-bd79688c58af}">
          <p14:sldIdLst>
            <p14:sldId id="256"/>
            <p14:sldId id="257"/>
            <p14:sldId id="258"/>
            <p14:sldId id="259"/>
            <p14:sldId id="260"/>
            <p14:sldId id="261"/>
            <p14:sldId id="262"/>
            <p14:sldId id="263"/>
            <p14:sldId id="264"/>
            <p14:sldId id="265"/>
          </p14:sldIdLst>
        </p14:section>
        <p14:section name="The model" id="{2f5aba78-8008-3114-d10d-af08b27c9fc7}">
          <p14:sldIdLst>
            <p14:sldId id="266"/>
            <p14:sldId id="267"/>
          </p14:sldIdLst>
        </p14:section>
        <p14:section name="Results" id="{f897c536-0899-5807-fd68-c845caa705bd}">
          <p14:sldIdLst>
            <p14:sldId id="268"/>
            <p14:sldId id="269"/>
            <p14:sldId id="270"/>
            <p14:sldId id="271"/>
          </p14:sldIdLst>
        </p14:section>
        <p14:section name="Validation" id="{034c4000-e196-635d-6d30-dad78092c2df}">
          <p14:sldIdLst>
            <p14:sldId id="272"/>
          </p14:sldIdLst>
        </p14:section>
        <p14:section name="Close" id="{a1fe47ac-9984-e7ba-d204-c2aec107f240}">
          <p14:sldIdLst>
            <p14:sldId id="273"/>
          </p14:sldIdLst>
        </p14:section>
        <p14:section name="Backup" id="{53d3af6e-e97e-e219-9c6e-cdeb02f9417f}">
          <p14:sldIdLst>
            <p14:sldId id="274"/>
            <p14:sldId id="275"/>
            <p14:sldId id="276"/>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title is the chapter title; change for the seminar if you like. ~0.5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Raise the question only: who runs? Theory (Diamond–Dybvig) says runs can happen; it is silent on who runs first and how a run spreads. The screenshot: the FSB warned the G20 on 12 October 2026 that a fully reserved stablecoin can still face a redemption run. Even a regulator thinking about a modern run asks whether one happens, not who starts it. Alternative screenshot in figures/deck is not provided; the Nano Banc failure (25 September 2026, American Banker) was a capital failure, not a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two mechanisms the literature has used to answer who runs and when. Variation in the signal: Goldstein-Pauzner's noisy private draw (same technology, different draws), the device that gives Diamond-Dybvig an equilibrium-selection mechanism; depositors are ex ante identical, so who runs is luck. Note the model is static: for an intermediate fundamental a fraction runs (those below the threshold draw), not everyone or nobody; the all-or-nothing picture is the zero-noise limit. Timing only enters with the network literature. Variation in location: the network and media literature; the order is position. Both are consistent with identical processing. The third rung, variation in interpretation, is where this dissertation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third question is latent in the canonical theory because those models have one signal. It becomes askable once a public signal is added, which the global-games literature did in the early 2000s. It is exactly the question a panic poses.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public-signal papers answer the question with the Bayesian precision ratio: the weight on y is tau_y over tau_x plus tau_y. Two consequences: the weight is uniform across depositors, so there is no who; and it vanishes as the private signal gets precise. Both are at odds with what panics look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Counterexamples. In each case the public line and private evidence are in open disagreement, the weights do not vanish, and the interesting fact is who moved on which. Chapter 3's stale public signal is the general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Cultural economics gives a source of the weight that satisfies the three things the model needs: heterogeneity, positivity, and stability with respect to the information environment. Individualism is the dimension that maps onto the private-versus-social weighting, and names make it measurable at the individual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Where the three chapters sit on the through-line. Then the ladder as the recap, then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Why Chapter 3 is a simulation. Chapter 1 relaxed the Bayesian precision answer and kept the rest of Goldstein-Pauzner so the threshold equilibrium survives. The ABM varies the signal, location and interpretation together, plus the incentive side, which no closed-form model could carry; that is what lets the channel decomposition (lambda on the neighbour blend vs the news blend) be measured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ladder: variation in the signal (Goldstein-Pauzner: same signal technology, different draws, which selects the equilibrium), variation in location (who hears it, from whom, when: Kelly-O Grada, Iyer-Puri, Cookson et al.), variation in interpretation (the same two signals, different dispositional weights; culture is the stable source). Rung 1 orders depositors by luck, rung 2 by position, rung 3 by who they are, and only rung 3 predicts that the order flips with the sign of the public error. Nearest cousins to acknowledge if asked: Izmalkov-Yildiz 2010 (heterogeneous priors), He-Manela 2016 (information acquisition).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N = 1,000 depositors on a small-world network; one bank that sells assets at a discount when cash runs short (fire-sale bank). Each tick a depositor sees neighbours' withdrawals and the public news, blends them with a private signal, and withdraws if that pays. Reference bank: deposits log-normal (sigma 2.5), each capped at 1% of the total; CARA 0.1; partial withdrawals allowed. The diagram is the technical ODD overview: walk the right-hand column (warm-up, world, shock, tick loop) and skip the formulas.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Individualists put little weight on others (neighbours and public news) and more on their own information; collectivists the reverse. In the model: weight on the social side lambda; pairs shown in the figures (I, C): (0.1, 0.9) = large difference, (0.2, 0.8) = medium, (0.3, 0.5) = small. Type comes from a cultural warm-up on the network: the top mu share become individualists. Colours used throughout: orange = individualists, blue = collectivists.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Collectivists jump from 0.15 to 0.93 once 20–35% of neighbours are out and reach 1.0; individualists plateau at ~0.25–0.30. Slopes: C 0.80, I 0.22 (difference +0.58, t 16.7). Lambda pairs pooled; reference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Large difference (0.1, 0.9): 0.67 at mu 0 -&gt; 0.08 at mu 1; medium (0.2, 0.8) similar; small (0.3, 0.5): 0.25 -&gt; 0.09. Monotone, no interior peak. The difference between types matters most when collectivists dominate; lines converge at mu &gt;= 0.75. Includes pure cells (mu 0 and 1). If asked about Ch 1's non-monotonic prediction (P6): see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Large difference (0.1, 0.9): outdated pessimistic 0.48, none 0.31, accurate 0.29, outdated middling (y0 0.5) 0.18, outdated optimistic 0.16. Accurate news barely changes failure; stale optimistic halves it; stale pessimistic raises it by half. Small difference (0.3, 0.5) barely moves (0.09–0.15). All mu. Policy framing: the information environment (right to reassure), not sorting depositors by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Lambda pairs pooled. Uncapped (sigma 2.5) 0.61 -&gt; 0.11; capped at 1% 0.51 -&gt; 0.08; similar sizes (sigma 1) 0.50 -&gt; 0.08. Capping brings failure down to the no-concentration level at every mu. The mu gradient is the same in all three: culture's effect does not depend on concentration. One spoken sentence on what 'capped at 1%' means (no single depositor holds more than 1% of the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Ch 1's theory predicts: optimistic news -&gt; individualists run more than collectivists; pessimistic -&gt; collectivists run more. The lines rise through zero as predicted. Large difference reaches about ±0.1; small stays flat. Pre-registered tests: 3 of 4 support, on all three versions of the bank (r1k pooled: G1' +0.033, G4' -0.031, G2a' +0.093, Holm-significant; G3 counts against). Option: make this one sentence and move the figure to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Next steps from the outline: super-individuals (match how Celsius's largest depositors exit), deposit insurance and the reserve ratio on the fire-sale bank, topology and learning, and the full parameter sweep (stale public signal + no-signal baseline; CARA 0.1; sigma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types withdraw less as mu rises; collectivists above individualists at every mixed mu for the two wide gaps; nearly identical at (0.3, 0.5). Technical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r1k pooled: G1' +0.033, G4' -0.031, G2a' +0.093, all Holm-significant; G2b ordering holds. G3 +0.0034 pooled but (0.3, 0.5) wrong-signed in every bank -&gt; counts against. G3c (post hoc, channel-isolated) +0.019, right-signed in every pair. 3 of 4 confirmatory tests support, in all three banks.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Theta-blend only: +0.14 (Ch 1's sign). Head-count only: -0.07 (opposite). Both: +0.02. The two channels pull in opposite directions; Ch 1's sign survives, damped by herding.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Celsius falls from ~0.86 (D1–D5 band 0.82–0.90) to 0.35 (top 0.1%); the ABM stays at 0.93–1.00. The model does not yet reproduce how large depositors exit. Next: super-individuals.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Vault bank, earlier specification (chapter Fig 1). For questions about Ch 1's P6. This figure is also monotone decreasing: P6 (non-monotonic fragility) was predicted in Ch 1 and found in neither bank; the P6b placebo hump was null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rtlCol="0"/>
          <a:lstStyle>
            <a:lvl1pPr indent="0" marL="0">
              <a:buNone/>
              <a:defRPr lang="en-US" sz="1800" dirty="0">
                <a:solidFill>
                  <a:schemeClr val="accent4"/>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chemeClr val="accent3"/>
                </a:solidFill>
              </a:rPr>
              <a:t>A bank run model for the twentieth century</a:t>
            </a:r>
            <a:endParaRPr lang="en-US" sz="9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3" name="Text 0"/>
          <p:cNvSpPr/>
          <p:nvPr>
            <p:ph idx="101" type="body" hasCustomPrompt="1"/>
          </p:nvPr>
        </p:nvSpPr>
        <p:spPr>
          <a:xfrm>
            <a:off x="548640" y="2971800"/>
            <a:ext cx="8046720" cy="731520"/>
          </a:xfrm>
          <a:prstGeom prst="rect">
            <a:avLst/>
          </a:prstGeom>
          <a:noFill/>
          <a:ln/>
        </p:spPr>
        <p:txBody>
          <a:bodyPr wrap="square" rtlCol="0"/>
          <a:lstStyle>
            <a:lvl1pPr indent="0" marL="0">
              <a:buNone/>
              <a:defRPr lang="en-US" sz="1600" dirty="0">
                <a:solidFill>
                  <a:schemeClr val="accent4"/>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lIns="0" tIns="0" rIns="0" bIns="0" rtlCol="0" anchor="b"/>
          <a:lstStyle/>
          <a:p>
            <a:pPr algn="l" indent="0" marL="0">
              <a:buNone/>
            </a:pPr>
            <a:r>
              <a:rPr lang="en-US" sz="3400" b="1" dirty="0">
                <a:solidFill>
                  <a:schemeClr val="bg1"/>
                </a:solidFill>
              </a:rPr>
              <a:t>A bank run model for the twentieth century</a:t>
            </a: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lIns="0" tIns="0" rIns="0" bIns="0" rtlCol="0" anchor="t"/>
          <a:lstStyle/>
          <a:p>
            <a:pPr indent="0" marL="0">
              <a:buNone/>
            </a:pPr>
            <a:r>
              <a:rPr lang="en-US" sz="1800" dirty="0">
                <a:solidFill>
                  <a:schemeClr val="accent4"/>
                </a:solidFill>
              </a:rPr>
              <a:t>Who runs, and how a run spreads: an agent-based test of the theory</a:t>
            </a:r>
            <a:endParaRPr lang="en-US" sz="1800" dirty="0"/>
          </a:p>
          <a:p>
            <a:pPr indent="0" marL="0">
              <a:buNone/>
            </a:pPr>
            <a:r>
              <a:rPr lang="en-US" sz="1400" dirty="0">
                <a:solidFill>
                  <a:schemeClr val="accent3"/>
                </a:solidFill>
              </a:rPr>
              <a:t>Walter Stover  ·  George Mason University  ·  26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puzzle: who runs?</a:t>
            </a:r>
            <a:endParaRPr lang="en-US" sz="2400" dirty="0"/>
          </a:p>
        </p:txBody>
      </p:sp>
      <p:pic>
        <p:nvPicPr>
          <p:cNvPr id="3" name="news" descr="Screenshot of a CryptoSlate news article dated 12 October 2026: Global watchdog warns the $300 billion stablecoin market could face bank runs even with full reserves. The FSB says cross-border liquidity mismatches could trigger redemption crises and threaten dollar pegs as regulators prepare for G20 discussions.">    </p:cNvPr>
          <p:cNvPicPr>
            <a:picLocks noChangeAspect="1"/>
          </p:cNvPicPr>
          <p:nvPr/>
        </p:nvPicPr>
        <p:blipFill>
          <a:blip r:embed="rId1"/>
          <a:stretch>
            <a:fillRect/>
          </a:stretch>
        </p:blipFill>
        <p:spPr>
          <a:xfrm>
            <a:off x="2414267" y="1051560"/>
            <a:ext cx="4315465" cy="3337560"/>
          </a:xfrm>
          <a:prstGeom prst="rect">
            <a:avLst/>
          </a:prstGeom>
        </p:spPr>
      </p:pic>
      <p:sp>
        <p:nvSpPr>
          <p:cNvPr id="4" name="caption"/>
          <p:cNvSpPr txBox="1"/>
          <p:nvPr/>
        </p:nvSpPr>
        <p:spPr>
          <a:xfrm>
            <a:off x="2414267" y="4434840"/>
            <a:ext cx="4315465" cy="274320"/>
          </a:xfrm>
          <a:prstGeom prst="rect">
            <a:avLst/>
          </a:prstGeom>
          <a:noFill/>
          <a:ln/>
        </p:spPr>
        <p:txBody>
          <a:bodyPr wrap="square" lIns="0" tIns="0" rIns="0" bIns="0" rtlCol="0" anchor="ctr"/>
          <a:lstStyle/>
          <a:p>
            <a:pPr indent="0" marL="0">
              <a:buNone/>
            </a:pPr>
            <a:r>
              <a:rPr lang="en-US" sz="1000" i="1" dirty="0">
                <a:solidFill>
                  <a:schemeClr val="accent3"/>
                </a:solidFill>
              </a:rPr>
              <a:t>CryptoSlate, 12 October 2026, on the Financial Stability Board’s note to the G20. Screenshot, cryptoslate.com.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Who runs? Luck of the draw, and location</a:t>
            </a:r>
            <a:endParaRPr lang="en-US" sz="2400" dirty="0"/>
          </a:p>
        </p:txBody>
      </p:sp>
      <p:sp>
        <p:nvSpPr>
          <p:cNvPr id="3" name="chip"/>
          <p:cNvSpPr/>
          <p:nvPr/>
        </p:nvSpPr>
        <p:spPr>
          <a:xfrm>
            <a:off x="457200" y="1143000"/>
            <a:ext cx="384048" cy="384048"/>
          </a:xfrm>
          <a:prstGeom prst="roundRect">
            <a:avLst>
              <a:gd name="adj" fmla="val 14286"/>
            </a:avLst>
          </a:prstGeom>
          <a:solidFill>
            <a:schemeClr val="accent1"/>
          </a:solidFill>
          <a:ln w="12700">
            <a:solidFill>
              <a:schemeClr val="accent1"/>
            </a:solidFill>
            <a:prstDash val="solid"/>
          </a:ln>
        </p:spPr>
      </p:sp>
      <p:sp>
        <p:nvSpPr>
          <p:cNvPr id="4" name="chip-label"/>
          <p:cNvSpPr txBox="1"/>
          <p:nvPr/>
        </p:nvSpPr>
        <p:spPr>
          <a:xfrm>
            <a:off x="457200" y="114300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mbria" pitchFamily="34" charset="0"/>
                <a:ea typeface="Cambria" pitchFamily="34" charset="-122"/>
                <a:cs typeface="Cambria" pitchFamily="34" charset="-120"/>
              </a:rPr>
              <a:t>1</a:t>
            </a:r>
            <a:endParaRPr lang="en-US" sz="1300" dirty="0"/>
          </a:p>
        </p:txBody>
      </p:sp>
      <p:sp>
        <p:nvSpPr>
          <p:cNvPr id="5" name="step-items"/>
          <p:cNvSpPr txBox="1"/>
          <p:nvPr/>
        </p:nvSpPr>
        <p:spPr>
          <a:xfrm>
            <a:off x="1005840" y="1188720"/>
            <a:ext cx="7680960" cy="30175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Variation in the signal. </a:t>
            </a:r>
            <a:pPr indent="0" marL="0">
              <a:spcAft>
                <a:spcPts val="900"/>
              </a:spcAft>
              <a:buNone/>
            </a:pPr>
            <a:r>
              <a:rPr lang="en-US" sz="1400" dirty="0">
                <a:solidFill>
                  <a:schemeClr val="tx1"/>
                </a:solidFill>
              </a:rPr>
              <a:t>Goldstein–Pauzner give every depositor a noisy draw of the same signal. The draw breaks common knowledge and selects the equilibrium. Who runs is whoever drew low; everyone decides at once, so there is no first.</a:t>
            </a:r>
            <a:endParaRPr lang="en-US" sz="1400" dirty="0"/>
          </a:p>
          <a:p>
            <a:pPr marL="177800" indent="-177800">
              <a:spcAft>
                <a:spcPts val="900"/>
              </a:spcAft>
              <a:buSzPct val="100000"/>
              <a:buChar char="•"/>
            </a:pPr>
            <a:r>
              <a:rPr lang="en-US" sz="1400" b="1" dirty="0">
                <a:solidFill>
                  <a:schemeClr val="tx1"/>
                </a:solidFill>
              </a:rPr>
              <a:t>Variation in location. </a:t>
            </a:r>
            <a:pPr indent="0" marL="0">
              <a:spcAft>
                <a:spcPts val="900"/>
              </a:spcAft>
              <a:buNone/>
            </a:pPr>
            <a:r>
              <a:rPr lang="en-US" sz="1400" dirty="0">
                <a:solidFill>
                  <a:schemeClr val="tx1"/>
                </a:solidFill>
              </a:rPr>
              <a:t>Networks and media decide who hears what, from whom, when (Kelly–Ó Gráda, Iyer–Puri, Cookson et al.). Who runs first is whoever sits nearest the source.</a:t>
            </a:r>
            <a:endParaRPr lang="en-US" sz="1400" dirty="0"/>
          </a:p>
          <a:p>
            <a:pPr marL="177800" indent="-177800">
              <a:spcAft>
                <a:spcPts val="900"/>
              </a:spcAft>
              <a:buSzPct val="100000"/>
              <a:buChar char="•"/>
            </a:pPr>
            <a:r>
              <a:rPr lang="en-US" sz="1400" b="1" dirty="0">
                <a:solidFill>
                  <a:schemeClr val="tx1"/>
                </a:solidFill>
              </a:rPr>
              <a:t>Both are fruitful. </a:t>
            </a:r>
            <a:pPr indent="0" marL="0">
              <a:spcAft>
                <a:spcPts val="900"/>
              </a:spcAft>
              <a:buNone/>
            </a:pPr>
            <a:r>
              <a:rPr lang="en-US" sz="1400" dirty="0">
                <a:solidFill>
                  <a:schemeClr val="tx1"/>
                </a:solidFill>
              </a:rPr>
              <a:t>Neither says anything about the depositor: the same Bayesian, with the same prior, sits at every node.</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With two signals, a third question appears</a:t>
            </a:r>
            <a:endParaRPr lang="en-US" sz="2400" dirty="0"/>
          </a:p>
        </p:txBody>
      </p:sp>
      <p:sp>
        <p:nvSpPr>
          <p:cNvPr id="3" name="chip"/>
          <p:cNvSpPr/>
          <p:nvPr/>
        </p:nvSpPr>
        <p:spPr>
          <a:xfrm>
            <a:off x="457200" y="1143000"/>
            <a:ext cx="384048" cy="384048"/>
          </a:xfrm>
          <a:prstGeom prst="roundRect">
            <a:avLst>
              <a:gd name="adj" fmla="val 14286"/>
            </a:avLst>
          </a:prstGeom>
          <a:solidFill>
            <a:schemeClr val="accent1"/>
          </a:solidFill>
          <a:ln w="12700">
            <a:solidFill>
              <a:schemeClr val="accent1"/>
            </a:solidFill>
            <a:prstDash val="solid"/>
          </a:ln>
        </p:spPr>
      </p:sp>
      <p:sp>
        <p:nvSpPr>
          <p:cNvPr id="4" name="chip-label"/>
          <p:cNvSpPr txBox="1"/>
          <p:nvPr/>
        </p:nvSpPr>
        <p:spPr>
          <a:xfrm>
            <a:off x="457200" y="114300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mbria" pitchFamily="34" charset="0"/>
                <a:ea typeface="Cambria" pitchFamily="34" charset="-122"/>
                <a:cs typeface="Cambria" pitchFamily="34" charset="-120"/>
              </a:rPr>
              <a:t>2</a:t>
            </a:r>
            <a:endParaRPr lang="en-US" sz="1300" dirty="0"/>
          </a:p>
        </p:txBody>
      </p:sp>
      <p:sp>
        <p:nvSpPr>
          <p:cNvPr id="5" name="step-lead"/>
          <p:cNvSpPr txBox="1"/>
          <p:nvPr/>
        </p:nvSpPr>
        <p:spPr>
          <a:xfrm>
            <a:off x="1005840" y="1051560"/>
            <a:ext cx="7680960" cy="868680"/>
          </a:xfrm>
          <a:prstGeom prst="rect">
            <a:avLst/>
          </a:prstGeom>
          <a:noFill/>
          <a:ln/>
        </p:spPr>
        <p:txBody>
          <a:bodyPr wrap="square" lIns="0" tIns="0" rIns="0" bIns="0" rtlCol="0" anchor="ctr"/>
          <a:lstStyle/>
          <a:p>
            <a:pPr indent="0" marL="0">
              <a:buNone/>
            </a:pPr>
            <a:r>
              <a:rPr lang="en-US" sz="1700" b="1" dirty="0">
                <a:solidFill>
                  <a:schemeClr val="tx2"/>
                </a:solidFill>
              </a:rPr>
              <a:t>Which signal does a depositor act on, and in what proportion?</a:t>
            </a:r>
            <a:endParaRPr lang="en-US" sz="1700" dirty="0"/>
          </a:p>
        </p:txBody>
      </p:sp>
      <p:sp>
        <p:nvSpPr>
          <p:cNvPr id="6" name="step-items"/>
          <p:cNvSpPr txBox="1"/>
          <p:nvPr/>
        </p:nvSpPr>
        <p:spPr>
          <a:xfrm>
            <a:off x="1005840" y="2103120"/>
            <a:ext cx="768096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Latent in the canonical models. </a:t>
            </a:r>
            <a:pPr indent="0" marL="0">
              <a:spcAft>
                <a:spcPts val="900"/>
              </a:spcAft>
              <a:buNone/>
            </a:pPr>
            <a:r>
              <a:rPr lang="en-US" sz="1400" dirty="0">
                <a:solidFill>
                  <a:schemeClr val="tx1"/>
                </a:solidFill>
              </a:rPr>
              <a:t>Diamond–Dybvig has no signal; Morris–Shin and Goldstein–Pauzner have one. The question cannot arise.</a:t>
            </a:r>
            <a:endParaRPr lang="en-US" sz="1400" dirty="0"/>
          </a:p>
          <a:p>
            <a:pPr marL="177800" indent="-177800">
              <a:spcAft>
                <a:spcPts val="900"/>
              </a:spcAft>
              <a:buSzPct val="100000"/>
              <a:buChar char="•"/>
            </a:pPr>
            <a:r>
              <a:rPr lang="en-US" sz="1400" b="1" dirty="0">
                <a:solidFill>
                  <a:schemeClr val="tx1"/>
                </a:solidFill>
              </a:rPr>
              <a:t>Askable once a public signal is added. </a:t>
            </a:r>
            <a:pPr indent="0" marL="0">
              <a:spcAft>
                <a:spcPts val="900"/>
              </a:spcAft>
              <a:buNone/>
            </a:pPr>
            <a:r>
              <a:rPr lang="en-US" sz="1400" dirty="0">
                <a:solidFill>
                  <a:schemeClr val="tx1"/>
                </a:solidFill>
              </a:rPr>
              <a:t>Morris–Shin (2002), Hellwig (2002), Angeletos–Werning (2006) put a public signal next to the private one.</a:t>
            </a:r>
            <a:endParaRPr lang="en-US" sz="1400" dirty="0"/>
          </a:p>
          <a:p>
            <a:pPr marL="177800" indent="-177800">
              <a:spcAft>
                <a:spcPts val="900"/>
              </a:spcAft>
              <a:buSzPct val="100000"/>
              <a:buChar char="•"/>
            </a:pPr>
            <a:r>
              <a:rPr lang="en-US" sz="1400" b="1" dirty="0">
                <a:solidFill>
                  <a:schemeClr val="tx1"/>
                </a:solidFill>
              </a:rPr>
              <a:t>The question a panic poses. </a:t>
            </a:r>
            <a:pPr indent="0" marL="0">
              <a:spcAft>
                <a:spcPts val="900"/>
              </a:spcAft>
              <a:buNone/>
            </a:pPr>
            <a:r>
              <a:rPr lang="en-US" sz="1400" dirty="0">
                <a:solidFill>
                  <a:schemeClr val="tx1"/>
                </a:solidFill>
              </a:rPr>
              <a:t>A depositor in a run holds two things that disagree: what they see and what they are told.</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How the theory answers it: the Bayesian precision ratio</a:t>
            </a:r>
            <a:endParaRPr lang="en-US" sz="2400" dirty="0"/>
          </a:p>
        </p:txBody>
      </p:sp>
      <p:sp>
        <p:nvSpPr>
          <p:cNvPr id="3" name="chip"/>
          <p:cNvSpPr/>
          <p:nvPr/>
        </p:nvSpPr>
        <p:spPr>
          <a:xfrm>
            <a:off x="457200" y="1143000"/>
            <a:ext cx="384048" cy="384048"/>
          </a:xfrm>
          <a:prstGeom prst="roundRect">
            <a:avLst>
              <a:gd name="adj" fmla="val 14286"/>
            </a:avLst>
          </a:prstGeom>
          <a:solidFill>
            <a:schemeClr val="accent1"/>
          </a:solidFill>
          <a:ln w="12700">
            <a:solidFill>
              <a:schemeClr val="accent1"/>
            </a:solidFill>
            <a:prstDash val="solid"/>
          </a:ln>
        </p:spPr>
      </p:sp>
      <p:sp>
        <p:nvSpPr>
          <p:cNvPr id="4" name="chip-label"/>
          <p:cNvSpPr txBox="1"/>
          <p:nvPr/>
        </p:nvSpPr>
        <p:spPr>
          <a:xfrm>
            <a:off x="457200" y="114300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mbria" pitchFamily="34" charset="0"/>
                <a:ea typeface="Cambria" pitchFamily="34" charset="-122"/>
                <a:cs typeface="Cambria" pitchFamily="34" charset="-120"/>
              </a:rPr>
              <a:t>3</a:t>
            </a:r>
            <a:endParaRPr lang="en-US" sz="1300" dirty="0"/>
          </a:p>
        </p:txBody>
      </p:sp>
      <p:sp>
        <p:nvSpPr>
          <p:cNvPr id="5" name="step-lead"/>
          <p:cNvSpPr txBox="1"/>
          <p:nvPr/>
        </p:nvSpPr>
        <p:spPr>
          <a:xfrm>
            <a:off x="1005840" y="1051560"/>
            <a:ext cx="7680960" cy="868680"/>
          </a:xfrm>
          <a:prstGeom prst="rect">
            <a:avLst/>
          </a:prstGeom>
          <a:noFill/>
          <a:ln/>
        </p:spPr>
        <p:txBody>
          <a:bodyPr wrap="square" lIns="0" tIns="0" rIns="0" bIns="0" rtlCol="0" anchor="ctr"/>
          <a:lstStyle/>
          <a:p>
            <a:pPr indent="0" marL="0">
              <a:buNone/>
            </a:pPr>
            <a:r>
              <a:rPr lang="en-US" sz="1700" b="1" dirty="0">
                <a:solidFill>
                  <a:schemeClr val="tx2"/>
                </a:solidFill>
              </a:rPr>
              <a:t>Weight on the public signal = its precision relative to the private one. The same for everyone, and vanishing.</a:t>
            </a:r>
            <a:endParaRPr lang="en-US" sz="1700" dirty="0"/>
          </a:p>
        </p:txBody>
      </p:sp>
      <p:sp>
        <p:nvSpPr>
          <p:cNvPr id="6" name="step-items"/>
          <p:cNvSpPr txBox="1"/>
          <p:nvPr/>
        </p:nvSpPr>
        <p:spPr>
          <a:xfrm>
            <a:off x="1005840" y="2103120"/>
            <a:ext cx="768096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The same for everyone. </a:t>
            </a:r>
            <a:pPr indent="0" marL="0">
              <a:spcAft>
                <a:spcPts val="900"/>
              </a:spcAft>
              <a:buNone/>
            </a:pPr>
            <a:r>
              <a:rPr lang="en-US" sz="1400" dirty="0">
                <a:solidFill>
                  <a:schemeClr val="tx1"/>
                </a:solidFill>
              </a:rPr>
              <a:t>Two depositors with the same signals form the same belief. There is no ‘who’.</a:t>
            </a:r>
            <a:endParaRPr lang="en-US" sz="1400" dirty="0"/>
          </a:p>
          <a:p>
            <a:pPr marL="177800" indent="-177800">
              <a:spcAft>
                <a:spcPts val="900"/>
              </a:spcAft>
              <a:buSzPct val="100000"/>
              <a:buChar char="•"/>
            </a:pPr>
            <a:r>
              <a:rPr lang="en-US" sz="1400" b="1" dirty="0">
                <a:solidFill>
                  <a:schemeClr val="tx1"/>
                </a:solidFill>
              </a:rPr>
              <a:t>Vanishing. </a:t>
            </a:r>
            <a:pPr indent="0" marL="0">
              <a:spcAft>
                <a:spcPts val="900"/>
              </a:spcAft>
              <a:buNone/>
            </a:pPr>
            <a:r>
              <a:rPr lang="en-US" sz="1400" dirty="0">
                <a:solidFill>
                  <a:schemeClr val="tx1"/>
                </a:solidFill>
              </a:rPr>
              <a:t>As private information sharpens, the weight on the public line goes to zero. The public signal matters only while depositors know little.</a:t>
            </a:r>
            <a:endParaRPr lang="en-US" sz="1400" dirty="0"/>
          </a:p>
          <a:p>
            <a:pPr marL="177800" indent="-177800">
              <a:spcAft>
                <a:spcPts val="900"/>
              </a:spcAft>
              <a:buSzPct val="100000"/>
              <a:buChar char="•"/>
            </a:pPr>
            <a:r>
              <a:rPr lang="en-US" sz="1400" b="1" dirty="0">
                <a:solidFill>
                  <a:schemeClr val="tx1"/>
                </a:solidFill>
              </a:rPr>
              <a:t>What it predicts about a panic. </a:t>
            </a:r>
            <a:pPr indent="0" marL="0">
              <a:spcAft>
                <a:spcPts val="900"/>
              </a:spcAft>
              <a:buNone/>
            </a:pPr>
            <a:r>
              <a:rPr lang="en-US" sz="1400" dirty="0">
                <a:solidFill>
                  <a:schemeClr val="tx1"/>
                </a:solidFill>
              </a:rPr>
              <a:t>Any sorting between depositors is noise, and official communication stops mattering just when depositors are paying most attention.</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Panics do not look like that</a:t>
            </a:r>
            <a:endParaRPr lang="en-US" sz="2400" dirty="0"/>
          </a:p>
        </p:txBody>
      </p:sp>
      <p:sp>
        <p:nvSpPr>
          <p:cNvPr id="3" name="chip"/>
          <p:cNvSpPr/>
          <p:nvPr/>
        </p:nvSpPr>
        <p:spPr>
          <a:xfrm>
            <a:off x="457200" y="1143000"/>
            <a:ext cx="384048" cy="384048"/>
          </a:xfrm>
          <a:prstGeom prst="roundRect">
            <a:avLst>
              <a:gd name="adj" fmla="val 14286"/>
            </a:avLst>
          </a:prstGeom>
          <a:solidFill>
            <a:schemeClr val="accent1"/>
          </a:solidFill>
          <a:ln w="12700">
            <a:solidFill>
              <a:schemeClr val="accent1"/>
            </a:solidFill>
            <a:prstDash val="solid"/>
          </a:ln>
        </p:spPr>
      </p:sp>
      <p:sp>
        <p:nvSpPr>
          <p:cNvPr id="4" name="chip-label"/>
          <p:cNvSpPr txBox="1"/>
          <p:nvPr/>
        </p:nvSpPr>
        <p:spPr>
          <a:xfrm>
            <a:off x="457200" y="114300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mbria" pitchFamily="34" charset="0"/>
                <a:ea typeface="Cambria" pitchFamily="34" charset="-122"/>
                <a:cs typeface="Cambria" pitchFamily="34" charset="-120"/>
              </a:rPr>
              <a:t>4</a:t>
            </a:r>
            <a:endParaRPr lang="en-US" sz="1300" dirty="0"/>
          </a:p>
        </p:txBody>
      </p:sp>
      <p:sp>
        <p:nvSpPr>
          <p:cNvPr id="5" name="step-lead"/>
          <p:cNvSpPr txBox="1"/>
          <p:nvPr/>
        </p:nvSpPr>
        <p:spPr>
          <a:xfrm>
            <a:off x="1005840" y="1051560"/>
            <a:ext cx="7680960" cy="868680"/>
          </a:xfrm>
          <a:prstGeom prst="rect">
            <a:avLst/>
          </a:prstGeom>
          <a:noFill/>
          <a:ln/>
        </p:spPr>
        <p:txBody>
          <a:bodyPr wrap="square" lIns="0" tIns="0" rIns="0" bIns="0" rtlCol="0" anchor="ctr"/>
          <a:lstStyle/>
          <a:p>
            <a:pPr indent="0" marL="0">
              <a:buNone/>
            </a:pPr>
            <a:r>
              <a:rPr lang="en-US" sz="1700" b="1" dirty="0">
                <a:solidFill>
                  <a:schemeClr val="tx2"/>
                </a:solidFill>
              </a:rPr>
              <a:t>Panics are open disagreements between the public line and private evidence, and depositors split on which to trust.</a:t>
            </a:r>
            <a:endParaRPr lang="en-US" sz="1700" dirty="0"/>
          </a:p>
        </p:txBody>
      </p:sp>
      <p:sp>
        <p:nvSpPr>
          <p:cNvPr id="6" name="step-items"/>
          <p:cNvSpPr txBox="1"/>
          <p:nvPr/>
        </p:nvSpPr>
        <p:spPr>
          <a:xfrm>
            <a:off x="1005840" y="2103120"/>
            <a:ext cx="768096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Celsius, 2022. </a:t>
            </a:r>
            <a:pPr indent="0" marL="0">
              <a:spcAft>
                <a:spcPts val="900"/>
              </a:spcAft>
              <a:buNone/>
            </a:pPr>
            <a:r>
              <a:rPr lang="en-US" sz="1400" dirty="0">
                <a:solidFill>
                  <a:schemeClr val="tx1"/>
                </a:solidFill>
              </a:rPr>
              <a:t>Official posts insisting the platform was sound, while CEL fell and withdrawals accelerated.</a:t>
            </a:r>
            <a:endParaRPr lang="en-US" sz="1400" dirty="0"/>
          </a:p>
          <a:p>
            <a:pPr marL="177800" indent="-177800">
              <a:spcAft>
                <a:spcPts val="900"/>
              </a:spcAft>
              <a:buSzPct val="100000"/>
              <a:buChar char="•"/>
            </a:pPr>
            <a:r>
              <a:rPr lang="en-US" sz="1400" b="1" dirty="0">
                <a:solidFill>
                  <a:schemeClr val="tx1"/>
                </a:solidFill>
              </a:rPr>
              <a:t>Silicon Valley Bank, 2023. </a:t>
            </a:r>
            <a:pPr indent="0" marL="0">
              <a:spcAft>
                <a:spcPts val="900"/>
              </a:spcAft>
              <a:buNone/>
            </a:pPr>
            <a:r>
              <a:rPr lang="en-US" sz="1400" dirty="0">
                <a:solidFill>
                  <a:schemeClr val="tx1"/>
                </a:solidFill>
              </a:rPr>
              <a:t>A call asking clients to stay calm, against a Twitter feed saying the opposite.</a:t>
            </a:r>
            <a:endParaRPr lang="en-US" sz="1400" dirty="0"/>
          </a:p>
          <a:p>
            <a:pPr marL="177800" indent="-177800">
              <a:spcAft>
                <a:spcPts val="900"/>
              </a:spcAft>
              <a:buSzPct val="100000"/>
              <a:buChar char="•"/>
            </a:pPr>
            <a:r>
              <a:rPr lang="en-US" sz="1400" b="1" dirty="0">
                <a:solidFill>
                  <a:schemeClr val="tx1"/>
                </a:solidFill>
              </a:rPr>
              <a:t>Northern Rock, 2007. </a:t>
            </a:r>
            <a:pPr indent="0" marL="0">
              <a:spcAft>
                <a:spcPts val="900"/>
              </a:spcAft>
              <a:buNone/>
            </a:pPr>
            <a:r>
              <a:rPr lang="en-US" sz="1400" dirty="0">
                <a:solidFill>
                  <a:schemeClr val="tx1"/>
                </a:solidFill>
              </a:rPr>
              <a:t>A Bank of England support announcement, against queues outside the branches.</a:t>
            </a:r>
            <a:endParaRPr lang="en-US" sz="1400" dirty="0"/>
          </a:p>
        </p:txBody>
      </p:sp>
      <p:sp>
        <p:nvSpPr>
          <p:cNvPr id="7" name="step-foot"/>
          <p:cNvSpPr txBox="1"/>
          <p:nvPr/>
        </p:nvSpPr>
        <p:spPr>
          <a:xfrm>
            <a:off x="1005840" y="4251960"/>
            <a:ext cx="7680960" cy="320040"/>
          </a:xfrm>
          <a:prstGeom prst="rect">
            <a:avLst/>
          </a:prstGeom>
          <a:noFill/>
          <a:ln/>
        </p:spPr>
        <p:txBody>
          <a:bodyPr wrap="square" lIns="0" tIns="0" rIns="0" bIns="0" rtlCol="0" anchor="ctr"/>
          <a:lstStyle/>
          <a:p>
            <a:pPr indent="0" marL="0">
              <a:buNone/>
            </a:pPr>
            <a:r>
              <a:rPr lang="en-US" sz="1100" i="1" dirty="0">
                <a:solidFill>
                  <a:schemeClr val="accent3"/>
                </a:solidFill>
              </a:rPr>
              <a:t>In each case the interesting fact is who moved on which signal.</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Cultural economics: a source of stable weights</a:t>
            </a:r>
            <a:endParaRPr lang="en-US" sz="2400" dirty="0"/>
          </a:p>
        </p:txBody>
      </p:sp>
      <p:sp>
        <p:nvSpPr>
          <p:cNvPr id="3" name="chip"/>
          <p:cNvSpPr/>
          <p:nvPr/>
        </p:nvSpPr>
        <p:spPr>
          <a:xfrm>
            <a:off x="457200" y="1143000"/>
            <a:ext cx="384048" cy="384048"/>
          </a:xfrm>
          <a:prstGeom prst="roundRect">
            <a:avLst>
              <a:gd name="adj" fmla="val 14286"/>
            </a:avLst>
          </a:prstGeom>
          <a:solidFill>
            <a:schemeClr val="accent1"/>
          </a:solidFill>
          <a:ln w="12700">
            <a:solidFill>
              <a:schemeClr val="accent1"/>
            </a:solidFill>
            <a:prstDash val="solid"/>
          </a:ln>
        </p:spPr>
      </p:sp>
      <p:sp>
        <p:nvSpPr>
          <p:cNvPr id="4" name="chip-label"/>
          <p:cNvSpPr txBox="1"/>
          <p:nvPr/>
        </p:nvSpPr>
        <p:spPr>
          <a:xfrm>
            <a:off x="457200" y="114300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mbria" pitchFamily="34" charset="0"/>
                <a:ea typeface="Cambria" pitchFamily="34" charset="-122"/>
                <a:cs typeface="Cambria" pitchFamily="34" charset="-120"/>
              </a:rPr>
              <a:t>5</a:t>
            </a:r>
            <a:endParaRPr lang="en-US" sz="1300" dirty="0"/>
          </a:p>
        </p:txBody>
      </p:sp>
      <p:sp>
        <p:nvSpPr>
          <p:cNvPr id="5" name="step-lead"/>
          <p:cNvSpPr txBox="1"/>
          <p:nvPr/>
        </p:nvSpPr>
        <p:spPr>
          <a:xfrm>
            <a:off x="1005840" y="1051560"/>
            <a:ext cx="7680960" cy="868680"/>
          </a:xfrm>
          <a:prstGeom prst="rect">
            <a:avLst/>
          </a:prstGeom>
          <a:noFill/>
          <a:ln/>
        </p:spPr>
        <p:txBody>
          <a:bodyPr wrap="square" lIns="0" tIns="0" rIns="0" bIns="0" rtlCol="0" anchor="ctr"/>
          <a:lstStyle/>
          <a:p>
            <a:pPr indent="0" marL="0">
              <a:buNone/>
            </a:pPr>
            <a:r>
              <a:rPr lang="en-US" sz="1700" b="1" dirty="0">
                <a:solidFill>
                  <a:schemeClr val="tx2"/>
                </a:solidFill>
              </a:rPr>
              <a:t>Culture supplies a weight that differs across depositors, is set before the run, and does not move with the information environment.</a:t>
            </a:r>
            <a:endParaRPr lang="en-US" sz="1700" dirty="0"/>
          </a:p>
        </p:txBody>
      </p:sp>
      <p:sp>
        <p:nvSpPr>
          <p:cNvPr id="6" name="step-items"/>
          <p:cNvSpPr txBox="1"/>
          <p:nvPr/>
        </p:nvSpPr>
        <p:spPr>
          <a:xfrm>
            <a:off x="1005840" y="2103120"/>
            <a:ext cx="768096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Transmitted, not chosen. </a:t>
            </a:r>
            <a:pPr indent="0" marL="0">
              <a:spcAft>
                <a:spcPts val="900"/>
              </a:spcAft>
              <a:buNone/>
            </a:pPr>
            <a:r>
              <a:rPr lang="en-US" sz="1400" dirty="0">
                <a:solidFill>
                  <a:schemeClr val="tx1"/>
                </a:solidFill>
              </a:rPr>
              <a:t>Cultural values pass largely unchanged from parents to children (Guiso, Sapienza, Zingales; Bazzi et al.). The weight is a disposition, not a calculation.</a:t>
            </a:r>
            <a:endParaRPr lang="en-US" sz="1400" dirty="0"/>
          </a:p>
          <a:p>
            <a:pPr marL="177800" indent="-177800">
              <a:spcAft>
                <a:spcPts val="900"/>
              </a:spcAft>
              <a:buSzPct val="100000"/>
              <a:buChar char="•"/>
            </a:pPr>
            <a:r>
              <a:rPr lang="en-US" sz="1400" b="1" dirty="0">
                <a:solidFill>
                  <a:schemeClr val="tx1"/>
                </a:solidFill>
              </a:rPr>
              <a:t>Individualism is the right dimension. </a:t>
            </a:r>
            <a:pPr indent="0" marL="0">
              <a:spcAft>
                <a:spcPts val="900"/>
              </a:spcAft>
              <a:buNone/>
            </a:pPr>
            <a:r>
              <a:rPr lang="en-US" sz="1400" dirty="0">
                <a:solidFill>
                  <a:schemeClr val="tx1"/>
                </a:solidFill>
              </a:rPr>
              <a:t>Self-reliance against deference to the group (Hofstede) is the private-against-social weighting the model already contains (Gorodnichenko–Roland).</a:t>
            </a:r>
            <a:endParaRPr lang="en-US" sz="1400" dirty="0"/>
          </a:p>
          <a:p>
            <a:pPr marL="177800" indent="-177800">
              <a:spcAft>
                <a:spcPts val="900"/>
              </a:spcAft>
              <a:buSzPct val="100000"/>
              <a:buChar char="•"/>
            </a:pPr>
            <a:r>
              <a:rPr lang="en-US" sz="1400" b="1" dirty="0">
                <a:solidFill>
                  <a:schemeClr val="tx1"/>
                </a:solidFill>
              </a:rPr>
              <a:t>Measurable per depositor. </a:t>
            </a:r>
            <a:pPr indent="0" marL="0">
              <a:spcAft>
                <a:spcPts val="900"/>
              </a:spcAft>
              <a:buNone/>
            </a:pPr>
            <a:r>
              <a:rPr lang="en-US" sz="1400" dirty="0">
                <a:solidFill>
                  <a:schemeClr val="tx1"/>
                </a:solidFill>
              </a:rPr>
              <a:t>Given names carry it (Twenge et al.), so the weight can be observed, not assumed.</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What this dissertation does with it</a:t>
            </a:r>
            <a:endParaRPr lang="en-US" sz="2400" dirty="0"/>
          </a:p>
        </p:txBody>
      </p:sp>
      <p:sp>
        <p:nvSpPr>
          <p:cNvPr id="3" name="chip"/>
          <p:cNvSpPr/>
          <p:nvPr/>
        </p:nvSpPr>
        <p:spPr>
          <a:xfrm>
            <a:off x="457200" y="1143000"/>
            <a:ext cx="384048" cy="384048"/>
          </a:xfrm>
          <a:prstGeom prst="roundRect">
            <a:avLst>
              <a:gd name="adj" fmla="val 14286"/>
            </a:avLst>
          </a:prstGeom>
          <a:solidFill>
            <a:schemeClr val="accent1"/>
          </a:solidFill>
          <a:ln w="12700">
            <a:solidFill>
              <a:schemeClr val="accent1"/>
            </a:solidFill>
            <a:prstDash val="solid"/>
          </a:ln>
        </p:spPr>
      </p:sp>
      <p:sp>
        <p:nvSpPr>
          <p:cNvPr id="4" name="chip-label"/>
          <p:cNvSpPr txBox="1"/>
          <p:nvPr/>
        </p:nvSpPr>
        <p:spPr>
          <a:xfrm>
            <a:off x="457200" y="114300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mbria" pitchFamily="34" charset="0"/>
                <a:ea typeface="Cambria" pitchFamily="34" charset="-122"/>
                <a:cs typeface="Cambria" pitchFamily="34" charset="-120"/>
              </a:rPr>
              <a:t>6</a:t>
            </a:r>
            <a:endParaRPr lang="en-US" sz="1300" dirty="0"/>
          </a:p>
        </p:txBody>
      </p:sp>
      <p:sp>
        <p:nvSpPr>
          <p:cNvPr id="5" name="step-lead"/>
          <p:cNvSpPr txBox="1"/>
          <p:nvPr/>
        </p:nvSpPr>
        <p:spPr>
          <a:xfrm>
            <a:off x="1005840" y="1051560"/>
            <a:ext cx="7680960" cy="868680"/>
          </a:xfrm>
          <a:prstGeom prst="rect">
            <a:avLst/>
          </a:prstGeom>
          <a:noFill/>
          <a:ln/>
        </p:spPr>
        <p:txBody>
          <a:bodyPr wrap="square" lIns="0" tIns="0" rIns="0" bIns="0" rtlCol="0" anchor="ctr"/>
          <a:lstStyle/>
          <a:p>
            <a:pPr indent="0" marL="0">
              <a:buNone/>
            </a:pPr>
            <a:r>
              <a:rPr lang="en-US" sz="1700" b="1" dirty="0">
                <a:solidFill>
                  <a:schemeClr val="tx2"/>
                </a:solidFill>
              </a:rPr>
              <a:t>The weight is the depositor’s psychological characteristic; culture is the population-level source.</a:t>
            </a:r>
            <a:endParaRPr lang="en-US" sz="1700" dirty="0"/>
          </a:p>
        </p:txBody>
      </p:sp>
      <p:sp>
        <p:nvSpPr>
          <p:cNvPr id="6" name="step-items"/>
          <p:cNvSpPr txBox="1"/>
          <p:nvPr/>
        </p:nvSpPr>
        <p:spPr>
          <a:xfrm>
            <a:off x="1005840" y="2103120"/>
            <a:ext cx="768096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Chapter 1 formalises it. </a:t>
            </a:r>
            <a:pPr indent="0" marL="0">
              <a:spcAft>
                <a:spcPts val="900"/>
              </a:spcAft>
              <a:buNone/>
            </a:pPr>
            <a:r>
              <a:rPr lang="en-US" sz="1400" dirty="0">
                <a:solidFill>
                  <a:schemeClr val="tx1"/>
                </a:solidFill>
              </a:rPr>
              <a:t>A stale public signal and heterogeneous dispositional weights inside Goldstein–Pauzner. Prediction: which type runs reverses with the sign of the public error.</a:t>
            </a:r>
            <a:endParaRPr lang="en-US" sz="1400" dirty="0"/>
          </a:p>
          <a:p>
            <a:pPr marL="177800" indent="-177800">
              <a:spcAft>
                <a:spcPts val="900"/>
              </a:spcAft>
              <a:buSzPct val="100000"/>
              <a:buChar char="•"/>
            </a:pPr>
            <a:r>
              <a:rPr lang="en-US" sz="1400" b="1" dirty="0">
                <a:solidFill>
                  <a:schemeClr val="tx1"/>
                </a:solidFill>
              </a:rPr>
              <a:t>Chapter 2 observes it once. </a:t>
            </a:r>
            <a:pPr indent="0" marL="0">
              <a:spcAft>
                <a:spcPts val="900"/>
              </a:spcAft>
              <a:buNone/>
            </a:pPr>
            <a:r>
              <a:rPr lang="en-US" sz="1400" dirty="0">
                <a:solidFill>
                  <a:schemeClr val="tx1"/>
                </a:solidFill>
              </a:rPr>
              <a:t>Celsius: individualism predicts direction and timing within platform and within ancestral origin, and which public signals depositors act on.</a:t>
            </a:r>
            <a:endParaRPr lang="en-US" sz="1400" dirty="0"/>
          </a:p>
          <a:p>
            <a:pPr marL="177800" indent="-177800">
              <a:spcAft>
                <a:spcPts val="900"/>
              </a:spcAft>
              <a:buSzPct val="100000"/>
              <a:buChar char="•"/>
            </a:pPr>
            <a:r>
              <a:rPr lang="en-US" sz="1400" b="1" dirty="0">
                <a:solidFill>
                  <a:schemeClr val="tx1"/>
                </a:solidFill>
              </a:rPr>
              <a:t>Chapter 3 varies it. </a:t>
            </a:r>
            <a:pPr indent="0" marL="0">
              <a:spcAft>
                <a:spcPts val="900"/>
              </a:spcAft>
              <a:buNone/>
            </a:pPr>
            <a:r>
              <a:rPr lang="en-US" sz="1400" dirty="0">
                <a:solidFill>
                  <a:schemeClr val="tx1"/>
                </a:solidFill>
              </a:rPr>
              <a:t>The mix of types, the gap between them, the staleness of the news, and the bank’s contract, in a population of interacting depositors.</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Why the third chapter is a simulation</a:t>
            </a:r>
            <a:endParaRPr lang="en-US" sz="2400" dirty="0"/>
          </a:p>
        </p:txBody>
      </p:sp>
      <p:sp>
        <p:nvSpPr>
          <p:cNvPr id="3" name="chip"/>
          <p:cNvSpPr/>
          <p:nvPr/>
        </p:nvSpPr>
        <p:spPr>
          <a:xfrm>
            <a:off x="457200" y="1143000"/>
            <a:ext cx="384048" cy="384048"/>
          </a:xfrm>
          <a:prstGeom prst="roundRect">
            <a:avLst>
              <a:gd name="adj" fmla="val 14286"/>
            </a:avLst>
          </a:prstGeom>
          <a:solidFill>
            <a:schemeClr val="accent1"/>
          </a:solidFill>
          <a:ln w="12700">
            <a:solidFill>
              <a:schemeClr val="accent1"/>
            </a:solidFill>
            <a:prstDash val="solid"/>
          </a:ln>
        </p:spPr>
      </p:sp>
      <p:sp>
        <p:nvSpPr>
          <p:cNvPr id="4" name="chip-label"/>
          <p:cNvSpPr txBox="1"/>
          <p:nvPr/>
        </p:nvSpPr>
        <p:spPr>
          <a:xfrm>
            <a:off x="457200" y="114300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mbria" pitchFamily="34" charset="0"/>
                <a:ea typeface="Cambria" pitchFamily="34" charset="-122"/>
                <a:cs typeface="Cambria" pitchFamily="34" charset="-120"/>
              </a:rPr>
              <a:t>7</a:t>
            </a:r>
            <a:endParaRPr lang="en-US" sz="1300" dirty="0"/>
          </a:p>
        </p:txBody>
      </p:sp>
      <p:sp>
        <p:nvSpPr>
          <p:cNvPr id="5" name="step-lead"/>
          <p:cNvSpPr txBox="1"/>
          <p:nvPr/>
        </p:nvSpPr>
        <p:spPr>
          <a:xfrm>
            <a:off x="1005840" y="1051560"/>
            <a:ext cx="7680960" cy="868680"/>
          </a:xfrm>
          <a:prstGeom prst="rect">
            <a:avLst/>
          </a:prstGeom>
          <a:noFill/>
          <a:ln/>
        </p:spPr>
        <p:txBody>
          <a:bodyPr wrap="square" lIns="0" tIns="0" rIns="0" bIns="0" rtlCol="0" anchor="ctr"/>
          <a:lstStyle/>
          <a:p>
            <a:pPr indent="0" marL="0">
              <a:buNone/>
            </a:pPr>
            <a:r>
              <a:rPr lang="en-US" sz="1700" b="1" dirty="0">
                <a:solidFill>
                  <a:schemeClr val="tx2"/>
                </a:solidFill>
              </a:rPr>
              <a:t>Chapter 1 relaxed one assumption. The agent-based model relaxes the rest at once, and lets the three rungs interact.</a:t>
            </a:r>
            <a:endParaRPr lang="en-US" sz="1700" dirty="0"/>
          </a:p>
        </p:txBody>
      </p:sp>
      <p:sp>
        <p:nvSpPr>
          <p:cNvPr id="6" name="step-items"/>
          <p:cNvSpPr txBox="1"/>
          <p:nvPr/>
        </p:nvSpPr>
        <p:spPr>
          <a:xfrm>
            <a:off x="1005840" y="2103120"/>
            <a:ext cx="768096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Chapter 1 relaxed one thing. </a:t>
            </a:r>
            <a:pPr indent="0" marL="0">
              <a:spcAft>
                <a:spcPts val="900"/>
              </a:spcAft>
              <a:buNone/>
            </a:pPr>
            <a:r>
              <a:rPr lang="en-US" sz="1400" dirty="0">
                <a:solidFill>
                  <a:schemeClr val="tx1"/>
                </a:solidFill>
              </a:rPr>
              <a:t>The precision ratio became a stable, heterogeneous weight on a stale public signal. Everything else stayed: a continuum of depositors, one simultaneous move, no network.</a:t>
            </a:r>
            <a:endParaRPr lang="en-US" sz="1400" dirty="0"/>
          </a:p>
          <a:p>
            <a:pPr marL="177800" indent="-177800">
              <a:spcAft>
                <a:spcPts val="900"/>
              </a:spcAft>
              <a:buSzPct val="100000"/>
              <a:buChar char="•"/>
            </a:pPr>
            <a:r>
              <a:rPr lang="en-US" sz="1400" b="1" dirty="0">
                <a:solidFill>
                  <a:schemeClr val="tx1"/>
                </a:solidFill>
              </a:rPr>
              <a:t>The model relaxes the rest at once. </a:t>
            </a:r>
            <a:pPr indent="0" marL="0">
              <a:spcAft>
                <a:spcPts val="900"/>
              </a:spcAft>
              <a:buNone/>
            </a:pPr>
            <a:r>
              <a:rPr lang="en-US" sz="1400" dirty="0">
                <a:solidFill>
                  <a:schemeClr val="tx1"/>
                </a:solidFill>
              </a:rPr>
              <a:t>The signal (a private draw per depositor), location (a network, neighbours’ withdrawals arriving tick by tick, public news absent, accurate or stale), interpretation (λ, formed in a cultural warm-up), plus deposit sizes, risk preferences and the contract.</a:t>
            </a:r>
            <a:endParaRPr lang="en-US" sz="1400" dirty="0"/>
          </a:p>
          <a:p>
            <a:pPr marL="177800" indent="-177800">
              <a:spcAft>
                <a:spcPts val="900"/>
              </a:spcAft>
              <a:buSzPct val="100000"/>
              <a:buChar char="•"/>
            </a:pPr>
            <a:r>
              <a:rPr lang="en-US" sz="1400" b="1" dirty="0">
                <a:solidFill>
                  <a:schemeClr val="tx1"/>
                </a:solidFill>
              </a:rPr>
              <a:t>An analytical model cannot carry all of that. </a:t>
            </a:r>
            <a:pPr indent="0" marL="0">
              <a:spcAft>
                <a:spcPts val="900"/>
              </a:spcAft>
              <a:buNone/>
            </a:pPr>
            <a:r>
              <a:rPr lang="en-US" sz="1400" dirty="0">
                <a:solidFill>
                  <a:schemeClr val="tx1"/>
                </a:solidFill>
              </a:rPr>
              <a:t>Each addition breaks the threshold-equilibrium machinery; together they are beyond closed form. The simulation is what lets the rungs be varied and measured separately.</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ladder: signal, location, interpretation</a:t>
            </a:r>
            <a:endParaRPr lang="en-US" sz="2400" dirty="0"/>
          </a:p>
        </p:txBody>
      </p:sp>
      <p:pic>
        <p:nvPicPr>
          <p:cNvPr id="3" name="ladder" descr="Three panels. Signal: one bank fundamental sends a noisy private signal to each depositor, who line up from run to stay. Location: a network in which the signal has reached some depositors from a first hearer and not others. Interpretation: the same private and public signals reach an individualist, who leans on the private signal, and a collectivist, who leans on the public one; culture sets the weight.">    </p:cNvPr>
          <p:cNvPicPr>
            <a:picLocks noChangeAspect="1"/>
          </p:cNvPicPr>
          <p:nvPr/>
        </p:nvPicPr>
        <p:blipFill>
          <a:blip r:embed="rId1"/>
          <a:stretch>
            <a:fillRect/>
          </a:stretch>
        </p:blipFill>
        <p:spPr>
          <a:xfrm>
            <a:off x="653339" y="1097280"/>
            <a:ext cx="7837322" cy="2743200"/>
          </a:xfrm>
          <a:prstGeom prst="rect">
            <a:avLst/>
          </a:prstGeom>
        </p:spPr>
      </p:pic>
      <p:sp>
        <p:nvSpPr>
          <p:cNvPr id="4" name="ladder-note"/>
          <p:cNvSpPr/>
          <p:nvPr/>
        </p:nvSpPr>
        <p:spPr>
          <a:xfrm>
            <a:off x="457200" y="3977640"/>
            <a:ext cx="8229600" cy="566928"/>
          </a:xfrm>
          <a:prstGeom prst="roundRect">
            <a:avLst>
              <a:gd name="adj" fmla="val 12903"/>
            </a:avLst>
          </a:prstGeom>
          <a:solidFill>
            <a:schemeClr val="accent4"/>
          </a:solidFill>
          <a:ln w="12700">
            <a:solidFill>
              <a:schemeClr val="accent4"/>
            </a:solidFill>
            <a:prstDash val="solid"/>
          </a:ln>
        </p:spPr>
      </p:sp>
      <p:sp>
        <p:nvSpPr>
          <p:cNvPr id="5" name="ladder-text"/>
          <p:cNvSpPr txBox="1"/>
          <p:nvPr/>
        </p:nvSpPr>
        <p:spPr>
          <a:xfrm>
            <a:off x="594360" y="4005072"/>
            <a:ext cx="7955280" cy="512064"/>
          </a:xfrm>
          <a:prstGeom prst="rect">
            <a:avLst/>
          </a:prstGeom>
          <a:noFill/>
          <a:ln/>
        </p:spPr>
        <p:txBody>
          <a:bodyPr wrap="square" lIns="0" tIns="0" rIns="0" bIns="0" rtlCol="0" anchor="ctr"/>
          <a:lstStyle/>
          <a:p>
            <a:pPr indent="0" marL="0">
              <a:buNone/>
            </a:pPr>
            <a:r>
              <a:rPr lang="en-US" sz="1200" dirty="0">
                <a:solidFill>
                  <a:schemeClr val="accent3"/>
                </a:solidFill>
              </a:rPr>
              <a:t>Rungs 1 and 2 are the literature. </a:t>
            </a:r>
            <a:pPr indent="0" marL="0">
              <a:buNone/>
            </a:pPr>
            <a:r>
              <a:rPr lang="en-US" sz="1200" b="1" dirty="0">
                <a:solidFill>
                  <a:schemeClr val="accent1"/>
                </a:solidFill>
              </a:rPr>
              <a:t>Rung 3 is this dissertation: </a:t>
            </a:r>
            <a:pPr indent="0" marL="0">
              <a:buNone/>
            </a:pPr>
            <a:r>
              <a:rPr lang="en-US" sz="1200" dirty="0">
                <a:solidFill>
                  <a:schemeClr val="tx1"/>
                </a:solidFill>
              </a:rPr>
              <a:t>the only one that orders depositors by a trait, and reverses when the public line is too optimistic or too pessimistic.</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model in one picture</a:t>
            </a:r>
            <a:endParaRPr lang="en-US" sz="2400" dirty="0"/>
          </a:p>
        </p:txBody>
      </p:sp>
      <p:pic>
        <p:nvPicPr>
          <p:cNvPr id="3" name="odd" descr="Model overview: depositors on a social network with a bank; each run draws fundamentals and signals, a shock hits, then depositors observe neighbours and news, form beliefs, and decide whether to withdraw, tick by tick.">    </p:cNvPr>
          <p:cNvPicPr>
            <a:picLocks noChangeAspect="1"/>
          </p:cNvPicPr>
          <p:nvPr/>
        </p:nvPicPr>
        <p:blipFill>
          <a:blip r:embed="rId1"/>
          <a:stretch>
            <a:fillRect/>
          </a:stretch>
        </p:blipFill>
        <p:spPr>
          <a:xfrm>
            <a:off x="457200" y="1051560"/>
            <a:ext cx="3467633" cy="3520440"/>
          </a:xfrm>
          <a:prstGeom prst="rect">
            <a:avLst/>
          </a:prstGeom>
        </p:spPr>
      </p:pic>
      <p:sp>
        <p:nvSpPr>
          <p:cNvPr id="4" name="stat-depositors on a smal"/>
          <p:cNvSpPr/>
          <p:nvPr/>
        </p:nvSpPr>
        <p:spPr>
          <a:xfrm>
            <a:off x="4244873" y="1051560"/>
            <a:ext cx="2152383" cy="960120"/>
          </a:xfrm>
          <a:prstGeom prst="roundRect">
            <a:avLst>
              <a:gd name="adj" fmla="val 7619"/>
            </a:avLst>
          </a:prstGeom>
          <a:solidFill>
            <a:schemeClr val="bg2"/>
          </a:solidFill>
          <a:ln w="12700">
            <a:solidFill>
              <a:schemeClr val="bg2"/>
            </a:solidFill>
            <a:prstDash val="solid"/>
          </a:ln>
        </p:spPr>
      </p:sp>
      <p:sp>
        <p:nvSpPr>
          <p:cNvPr id="5" name="stat-big"/>
          <p:cNvSpPr txBox="1"/>
          <p:nvPr/>
        </p:nvSpPr>
        <p:spPr>
          <a:xfrm>
            <a:off x="4382033" y="1124712"/>
            <a:ext cx="1878063"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1,000</a:t>
            </a:r>
            <a:endParaRPr lang="en-US" sz="2600" dirty="0"/>
          </a:p>
        </p:txBody>
      </p:sp>
      <p:sp>
        <p:nvSpPr>
          <p:cNvPr id="6" name="stat-label"/>
          <p:cNvSpPr txBox="1"/>
          <p:nvPr/>
        </p:nvSpPr>
        <p:spPr>
          <a:xfrm>
            <a:off x="4382033" y="1600200"/>
            <a:ext cx="1878063" cy="356616"/>
          </a:xfrm>
          <a:prstGeom prst="rect">
            <a:avLst/>
          </a:prstGeom>
          <a:noFill/>
          <a:ln/>
        </p:spPr>
        <p:txBody>
          <a:bodyPr wrap="square" lIns="0" tIns="0" rIns="0" bIns="0" rtlCol="0" anchor="t"/>
          <a:lstStyle/>
          <a:p>
            <a:pPr indent="0" marL="0">
              <a:buNone/>
            </a:pPr>
            <a:r>
              <a:rPr lang="en-US" sz="1100" dirty="0">
                <a:solidFill>
                  <a:schemeClr val="accent3"/>
                </a:solidFill>
              </a:rPr>
              <a:t>depositors on a small-world network, one bank</a:t>
            </a:r>
            <a:endParaRPr lang="en-US" sz="1100" dirty="0"/>
          </a:p>
        </p:txBody>
      </p:sp>
      <p:sp>
        <p:nvSpPr>
          <p:cNvPr id="7" name="stat-cap on any one depos"/>
          <p:cNvSpPr/>
          <p:nvPr/>
        </p:nvSpPr>
        <p:spPr>
          <a:xfrm>
            <a:off x="6534417" y="1051560"/>
            <a:ext cx="2152383" cy="960120"/>
          </a:xfrm>
          <a:prstGeom prst="roundRect">
            <a:avLst>
              <a:gd name="adj" fmla="val 7619"/>
            </a:avLst>
          </a:prstGeom>
          <a:solidFill>
            <a:schemeClr val="bg2"/>
          </a:solidFill>
          <a:ln w="12700">
            <a:solidFill>
              <a:schemeClr val="bg2"/>
            </a:solidFill>
            <a:prstDash val="solid"/>
          </a:ln>
        </p:spPr>
      </p:sp>
      <p:sp>
        <p:nvSpPr>
          <p:cNvPr id="8" name="stat-big"/>
          <p:cNvSpPr txBox="1"/>
          <p:nvPr/>
        </p:nvSpPr>
        <p:spPr>
          <a:xfrm>
            <a:off x="6671577" y="1124712"/>
            <a:ext cx="1878063"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1%</a:t>
            </a:r>
            <a:endParaRPr lang="en-US" sz="2600" dirty="0"/>
          </a:p>
        </p:txBody>
      </p:sp>
      <p:sp>
        <p:nvSpPr>
          <p:cNvPr id="9" name="stat-label"/>
          <p:cNvSpPr txBox="1"/>
          <p:nvPr/>
        </p:nvSpPr>
        <p:spPr>
          <a:xfrm>
            <a:off x="6671577" y="1600200"/>
            <a:ext cx="1878063" cy="356616"/>
          </a:xfrm>
          <a:prstGeom prst="rect">
            <a:avLst/>
          </a:prstGeom>
          <a:noFill/>
          <a:ln/>
        </p:spPr>
        <p:txBody>
          <a:bodyPr wrap="square" lIns="0" tIns="0" rIns="0" bIns="0" rtlCol="0" anchor="t"/>
          <a:lstStyle/>
          <a:p>
            <a:pPr indent="0" marL="0">
              <a:buNone/>
            </a:pPr>
            <a:r>
              <a:rPr lang="en-US" sz="1100" dirty="0">
                <a:solidFill>
                  <a:schemeClr val="accent3"/>
                </a:solidFill>
              </a:rPr>
              <a:t>cap on any one deposit; sizes log-normal (σ 2.5) below it</a:t>
            </a:r>
            <a:endParaRPr lang="en-US" sz="1100" dirty="0"/>
          </a:p>
        </p:txBody>
      </p:sp>
      <p:sp>
        <p:nvSpPr>
          <p:cNvPr id="10" name="stat-risk aversion; parti"/>
          <p:cNvSpPr/>
          <p:nvPr/>
        </p:nvSpPr>
        <p:spPr>
          <a:xfrm>
            <a:off x="4244873" y="2148840"/>
            <a:ext cx="2152383" cy="960120"/>
          </a:xfrm>
          <a:prstGeom prst="roundRect">
            <a:avLst>
              <a:gd name="adj" fmla="val 7619"/>
            </a:avLst>
          </a:prstGeom>
          <a:solidFill>
            <a:schemeClr val="bg2"/>
          </a:solidFill>
          <a:ln w="12700">
            <a:solidFill>
              <a:schemeClr val="bg2"/>
            </a:solidFill>
            <a:prstDash val="solid"/>
          </a:ln>
        </p:spPr>
      </p:sp>
      <p:sp>
        <p:nvSpPr>
          <p:cNvPr id="11" name="stat-big"/>
          <p:cNvSpPr txBox="1"/>
          <p:nvPr/>
        </p:nvSpPr>
        <p:spPr>
          <a:xfrm>
            <a:off x="4382033" y="2221992"/>
            <a:ext cx="1878063"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CARA 0.1</a:t>
            </a:r>
            <a:endParaRPr lang="en-US" sz="2200" dirty="0"/>
          </a:p>
        </p:txBody>
      </p:sp>
      <p:sp>
        <p:nvSpPr>
          <p:cNvPr id="12" name="stat-label"/>
          <p:cNvSpPr txBox="1"/>
          <p:nvPr/>
        </p:nvSpPr>
        <p:spPr>
          <a:xfrm>
            <a:off x="4382033" y="2697480"/>
            <a:ext cx="1878063" cy="356616"/>
          </a:xfrm>
          <a:prstGeom prst="rect">
            <a:avLst/>
          </a:prstGeom>
          <a:noFill/>
          <a:ln/>
        </p:spPr>
        <p:txBody>
          <a:bodyPr wrap="square" lIns="0" tIns="0" rIns="0" bIns="0" rtlCol="0" anchor="t"/>
          <a:lstStyle/>
          <a:p>
            <a:pPr indent="0" marL="0">
              <a:buNone/>
            </a:pPr>
            <a:r>
              <a:rPr lang="en-US" sz="1100" dirty="0">
                <a:solidFill>
                  <a:schemeClr val="accent3"/>
                </a:solidFill>
              </a:rPr>
              <a:t>risk aversion; partial withdrawals allowed</a:t>
            </a:r>
            <a:endParaRPr lang="en-US" sz="1100" dirty="0"/>
          </a:p>
        </p:txBody>
      </p:sp>
      <p:sp>
        <p:nvSpPr>
          <p:cNvPr id="13" name="stat-runs per cell: 25 in"/>
          <p:cNvSpPr/>
          <p:nvPr/>
        </p:nvSpPr>
        <p:spPr>
          <a:xfrm>
            <a:off x="6534417" y="2148840"/>
            <a:ext cx="2152383" cy="960120"/>
          </a:xfrm>
          <a:prstGeom prst="roundRect">
            <a:avLst>
              <a:gd name="adj" fmla="val 7619"/>
            </a:avLst>
          </a:prstGeom>
          <a:solidFill>
            <a:schemeClr val="bg2"/>
          </a:solidFill>
          <a:ln w="12700">
            <a:solidFill>
              <a:schemeClr val="bg2"/>
            </a:solidFill>
            <a:prstDash val="solid"/>
          </a:ln>
        </p:spPr>
      </p:sp>
      <p:sp>
        <p:nvSpPr>
          <p:cNvPr id="14" name="stat-big"/>
          <p:cNvSpPr txBox="1"/>
          <p:nvPr/>
        </p:nvSpPr>
        <p:spPr>
          <a:xfrm>
            <a:off x="6671577" y="2221992"/>
            <a:ext cx="1878063"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250</a:t>
            </a:r>
            <a:endParaRPr lang="en-US" sz="2600" dirty="0"/>
          </a:p>
        </p:txBody>
      </p:sp>
      <p:sp>
        <p:nvSpPr>
          <p:cNvPr id="15" name="stat-label"/>
          <p:cNvSpPr txBox="1"/>
          <p:nvPr/>
        </p:nvSpPr>
        <p:spPr>
          <a:xfrm>
            <a:off x="6671577" y="2697480"/>
            <a:ext cx="1878063" cy="356616"/>
          </a:xfrm>
          <a:prstGeom prst="rect">
            <a:avLst/>
          </a:prstGeom>
          <a:noFill/>
          <a:ln/>
        </p:spPr>
        <p:txBody>
          <a:bodyPr wrap="square" lIns="0" tIns="0" rIns="0" bIns="0" rtlCol="0" anchor="t"/>
          <a:lstStyle/>
          <a:p>
            <a:pPr indent="0" marL="0">
              <a:buNone/>
            </a:pPr>
            <a:r>
              <a:rPr lang="en-US" sz="1100" dirty="0">
                <a:solidFill>
                  <a:schemeClr val="accent3"/>
                </a:solidFill>
              </a:rPr>
              <a:t>runs per cell: 25 initialisations × 10 draws</a:t>
            </a:r>
            <a:endParaRPr lang="en-US" sz="1100" dirty="0"/>
          </a:p>
        </p:txBody>
      </p:sp>
      <p:sp>
        <p:nvSpPr>
          <p:cNvPr id="16" name="bullets"/>
          <p:cNvSpPr txBox="1"/>
          <p:nvPr/>
        </p:nvSpPr>
        <p:spPr>
          <a:xfrm>
            <a:off x="4244873" y="3200400"/>
            <a:ext cx="4441927" cy="1371600"/>
          </a:xfrm>
          <a:prstGeom prst="rect">
            <a:avLst/>
          </a:prstGeom>
          <a:noFill/>
          <a:ln/>
        </p:spPr>
        <p:txBody>
          <a:bodyPr wrap="square" lIns="0" tIns="0" rIns="0" bIns="0" rtlCol="0" anchor="t"/>
          <a:lstStyle/>
          <a:p>
            <a:pPr marL="177800" indent="-177800">
              <a:spcAft>
                <a:spcPts val="400"/>
              </a:spcAft>
              <a:buSzPct val="100000"/>
              <a:buChar char="•"/>
            </a:pPr>
            <a:r>
              <a:rPr lang="en-US" sz="1150" dirty="0">
                <a:solidFill>
                  <a:schemeClr val="tx1"/>
                </a:solidFill>
              </a:rPr>
              <a:t>One bank that sells its long asset at a discount when cash runs short (a fire-sale bank)</a:t>
            </a:r>
            <a:endParaRPr lang="en-US" sz="1150" dirty="0"/>
          </a:p>
          <a:p>
            <a:pPr marL="177800" indent="-177800">
              <a:spcAft>
                <a:spcPts val="400"/>
              </a:spcAft>
              <a:buSzPct val="100000"/>
              <a:buChar char="•"/>
            </a:pPr>
            <a:r>
              <a:rPr lang="en-US" sz="1150" dirty="0">
                <a:solidFill>
                  <a:schemeClr val="tx1"/>
                </a:solidFill>
              </a:rPr>
              <a:t>Each tick a depositor sees neighbours’ withdrawals and the public news, blends them with a private signal, and withdraws if that pays</a:t>
            </a:r>
            <a:endParaRPr lang="en-US" sz="1150" dirty="0"/>
          </a:p>
          <a:p>
            <a:pPr marL="177800" indent="-177800">
              <a:spcAft>
                <a:spcPts val="400"/>
              </a:spcAft>
              <a:buSzPct val="100000"/>
              <a:buChar char="•"/>
            </a:pPr>
            <a:r>
              <a:rPr lang="en-US" sz="1150" dirty="0">
                <a:solidFill>
                  <a:schemeClr val="tx1"/>
                </a:solidFill>
              </a:rPr>
              <a:t>A public signal can be absent, accurate, or outdated</a:t>
            </a:r>
            <a:endParaRPr lang="en-US" sz="1150" dirty="0"/>
          </a:p>
          <a:p>
            <a:pPr marL="177800" indent="-177800">
              <a:spcAft>
                <a:spcPts val="400"/>
              </a:spcAft>
              <a:buSzPct val="100000"/>
              <a:buChar char="•"/>
            </a:pPr>
            <a:r>
              <a:rPr lang="en-US" sz="1150" dirty="0">
                <a:solidFill>
                  <a:schemeClr val="tx1"/>
                </a:solidFill>
              </a:rPr>
              <a:t>Outcomes: D = individualists’ minus collectivists’ withdrawal share (those not hit by the shock); P(fail) = share of runs that fail</a:t>
            </a:r>
            <a:endParaRPr lang="en-US" sz="115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Individualists and collectivists: who listens to whom</a:t>
            </a:r>
            <a:endParaRPr lang="en-US" sz="2400" dirty="0"/>
          </a:p>
        </p:txBody>
      </p:sp>
      <p:sp>
        <p:nvSpPr>
          <p:cNvPr id="3" name="type-Individualists"/>
          <p:cNvSpPr/>
          <p:nvPr/>
        </p:nvSpPr>
        <p:spPr>
          <a:xfrm>
            <a:off x="457200" y="1051560"/>
            <a:ext cx="4023360" cy="2377440"/>
          </a:xfrm>
          <a:prstGeom prst="roundRect">
            <a:avLst>
              <a:gd name="adj" fmla="val 3077"/>
            </a:avLst>
          </a:prstGeom>
          <a:solidFill>
            <a:schemeClr val="bg2"/>
          </a:solidFill>
          <a:ln w="12700">
            <a:solidFill>
              <a:schemeClr val="bg2"/>
            </a:solidFill>
            <a:prstDash val="solid"/>
          </a:ln>
        </p:spPr>
      </p:sp>
      <p:sp>
        <p:nvSpPr>
          <p:cNvPr id="4" name="type-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rgbClr val="EB6834"/>
                </a:solidFill>
              </a:rPr>
              <a:t>Individualists</a:t>
            </a:r>
            <a:endParaRPr lang="en-US" sz="1800" dirty="0"/>
          </a:p>
        </p:txBody>
      </p:sp>
      <p:sp>
        <p:nvSpPr>
          <p:cNvPr id="5" name="bullets"/>
          <p:cNvSpPr txBox="1"/>
          <p:nvPr/>
        </p:nvSpPr>
        <p:spPr>
          <a:xfrm>
            <a:off x="64008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Trust their own information about the bank</a:t>
            </a:r>
            <a:endParaRPr lang="en-US" sz="1300" dirty="0"/>
          </a:p>
          <a:p>
            <a:pPr marL="177800" indent="-177800">
              <a:spcAft>
                <a:spcPts val="500"/>
              </a:spcAft>
              <a:buSzPct val="100000"/>
              <a:buChar char="•"/>
            </a:pPr>
            <a:r>
              <a:rPr lang="en-US" sz="1300" dirty="0">
                <a:solidFill>
                  <a:schemeClr val="tx1"/>
                </a:solidFill>
              </a:rPr>
              <a:t>Put little weight on what neighbours do or on public news</a:t>
            </a:r>
            <a:endParaRPr lang="en-US" sz="1300" dirty="0"/>
          </a:p>
          <a:p>
            <a:pPr marL="177800" indent="-177800">
              <a:spcAft>
                <a:spcPts val="500"/>
              </a:spcAft>
              <a:buSzPct val="100000"/>
              <a:buChar char="•"/>
            </a:pPr>
            <a:r>
              <a:rPr lang="en-US" sz="1300" dirty="0">
                <a:solidFill>
                  <a:schemeClr val="tx1"/>
                </a:solidFill>
              </a:rPr>
              <a:t>Weight on the social side: λ = 0.1 to 0.3</a:t>
            </a:r>
            <a:endParaRPr lang="en-US" sz="1300" dirty="0"/>
          </a:p>
          <a:p>
            <a:pPr marL="177800" indent="-177800">
              <a:spcAft>
                <a:spcPts val="500"/>
              </a:spcAft>
              <a:buSzPct val="100000"/>
              <a:buChar char="•"/>
            </a:pPr>
            <a:r>
              <a:rPr lang="en-US" sz="1300" dirty="0">
                <a:solidFill>
                  <a:schemeClr val="tx1"/>
                </a:solidFill>
              </a:rPr>
              <a:t>Act on what they see themselves</a:t>
            </a:r>
            <a:endParaRPr lang="en-US" sz="1300" dirty="0"/>
          </a:p>
        </p:txBody>
      </p:sp>
      <p:sp>
        <p:nvSpPr>
          <p:cNvPr id="6" name="type-Collectivists"/>
          <p:cNvSpPr/>
          <p:nvPr/>
        </p:nvSpPr>
        <p:spPr>
          <a:xfrm>
            <a:off x="4663440" y="1051560"/>
            <a:ext cx="4023360" cy="2377440"/>
          </a:xfrm>
          <a:prstGeom prst="roundRect">
            <a:avLst>
              <a:gd name="adj" fmla="val 3077"/>
            </a:avLst>
          </a:prstGeom>
          <a:solidFill>
            <a:schemeClr val="bg2"/>
          </a:solidFill>
          <a:ln w="12700">
            <a:solidFill>
              <a:schemeClr val="bg2"/>
            </a:solidFill>
            <a:prstDash val="solid"/>
          </a:ln>
        </p:spPr>
      </p:sp>
      <p:sp>
        <p:nvSpPr>
          <p:cNvPr id="7" name="type-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rgbClr val="2A78D6"/>
                </a:solidFill>
              </a:rPr>
              <a:t>Collectivists</a:t>
            </a:r>
            <a:endParaRPr lang="en-US" sz="1800" dirty="0"/>
          </a:p>
        </p:txBody>
      </p:sp>
      <p:sp>
        <p:nvSpPr>
          <p:cNvPr id="8" name="bullets"/>
          <p:cNvSpPr txBox="1"/>
          <p:nvPr/>
        </p:nvSpPr>
        <p:spPr>
          <a:xfrm>
            <a:off x="484632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Watch what neighbours do and what the public news says</a:t>
            </a:r>
            <a:endParaRPr lang="en-US" sz="1300" dirty="0"/>
          </a:p>
          <a:p>
            <a:pPr marL="177800" indent="-177800">
              <a:spcAft>
                <a:spcPts val="500"/>
              </a:spcAft>
              <a:buSzPct val="100000"/>
              <a:buChar char="•"/>
            </a:pPr>
            <a:r>
              <a:rPr lang="en-US" sz="1300" dirty="0">
                <a:solidFill>
                  <a:schemeClr val="tx1"/>
                </a:solidFill>
              </a:rPr>
              <a:t>Put little weight on their own information</a:t>
            </a:r>
            <a:endParaRPr lang="en-US" sz="1300" dirty="0"/>
          </a:p>
          <a:p>
            <a:pPr marL="177800" indent="-177800">
              <a:spcAft>
                <a:spcPts val="500"/>
              </a:spcAft>
              <a:buSzPct val="100000"/>
              <a:buChar char="•"/>
            </a:pPr>
            <a:r>
              <a:rPr lang="en-US" sz="1300" dirty="0">
                <a:solidFill>
                  <a:schemeClr val="tx1"/>
                </a:solidFill>
              </a:rPr>
              <a:t>Weight on the social side: λ = 0.5 to 0.9</a:t>
            </a:r>
            <a:endParaRPr lang="en-US" sz="1300" dirty="0"/>
          </a:p>
          <a:p>
            <a:pPr marL="177800" indent="-177800">
              <a:spcAft>
                <a:spcPts val="500"/>
              </a:spcAft>
              <a:buSzPct val="100000"/>
              <a:buChar char="•"/>
            </a:pPr>
            <a:r>
              <a:rPr lang="en-US" sz="1300" dirty="0">
                <a:solidFill>
                  <a:schemeClr val="tx1"/>
                </a:solidFill>
              </a:rPr>
              <a:t>Move when others move</a:t>
            </a:r>
            <a:endParaRPr lang="en-US" sz="1300" dirty="0"/>
          </a:p>
        </p:txBody>
      </p:sp>
      <p:sp>
        <p:nvSpPr>
          <p:cNvPr id="9" name="pairs-head"/>
          <p:cNvSpPr txBox="1"/>
          <p:nvPr/>
        </p:nvSpPr>
        <p:spPr>
          <a:xfrm>
            <a:off x="457200" y="3611880"/>
            <a:ext cx="4572000" cy="274320"/>
          </a:xfrm>
          <a:prstGeom prst="rect">
            <a:avLst/>
          </a:prstGeom>
          <a:noFill/>
          <a:ln/>
        </p:spPr>
        <p:txBody>
          <a:bodyPr wrap="square" lIns="0" tIns="0" rIns="0" bIns="0" rtlCol="0" anchor="ctr"/>
          <a:lstStyle/>
          <a:p>
            <a:pPr indent="0" marL="0">
              <a:buNone/>
            </a:pPr>
            <a:r>
              <a:rPr lang="en-US" sz="1100" b="1" dirty="0">
                <a:solidFill>
                  <a:schemeClr val="accent3"/>
                </a:solidFill>
              </a:rPr>
              <a:t>Three pairs (λ individualist, λ collectivist) in the figures</a:t>
            </a:r>
            <a:endParaRPr lang="en-US" sz="1100" dirty="0"/>
          </a:p>
        </p:txBody>
      </p:sp>
      <p:sp>
        <p:nvSpPr>
          <p:cNvPr id="10" name="chip"/>
          <p:cNvSpPr/>
          <p:nvPr/>
        </p:nvSpPr>
        <p:spPr>
          <a:xfrm>
            <a:off x="457200" y="3931920"/>
            <a:ext cx="914400" cy="329184"/>
          </a:xfrm>
          <a:prstGeom prst="roundRect">
            <a:avLst>
              <a:gd name="adj" fmla="val 16667"/>
            </a:avLst>
          </a:prstGeom>
          <a:solidFill>
            <a:schemeClr val="tx2"/>
          </a:solidFill>
          <a:ln w="12700">
            <a:solidFill>
              <a:schemeClr val="tx2"/>
            </a:solidFill>
            <a:prstDash val="solid"/>
          </a:ln>
        </p:spPr>
      </p:sp>
      <p:sp>
        <p:nvSpPr>
          <p:cNvPr id="11" name="chip-label"/>
          <p:cNvSpPr txBox="1"/>
          <p:nvPr/>
        </p:nvSpPr>
        <p:spPr>
          <a:xfrm>
            <a:off x="457200" y="393192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(0.1, 0.9)</a:t>
            </a:r>
            <a:endParaRPr lang="en-US" sz="1100" dirty="0"/>
          </a:p>
        </p:txBody>
      </p:sp>
      <p:sp>
        <p:nvSpPr>
          <p:cNvPr id="12" name="pair-label"/>
          <p:cNvSpPr txBox="1"/>
          <p:nvPr/>
        </p:nvSpPr>
        <p:spPr>
          <a:xfrm>
            <a:off x="14173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wide gap</a:t>
            </a:r>
            <a:endParaRPr lang="en-US" sz="1100" dirty="0"/>
          </a:p>
        </p:txBody>
      </p:sp>
      <p:sp>
        <p:nvSpPr>
          <p:cNvPr id="13" name="chip"/>
          <p:cNvSpPr/>
          <p:nvPr/>
        </p:nvSpPr>
        <p:spPr>
          <a:xfrm>
            <a:off x="2057400" y="3931920"/>
            <a:ext cx="914400" cy="329184"/>
          </a:xfrm>
          <a:prstGeom prst="roundRect">
            <a:avLst>
              <a:gd name="adj" fmla="val 16667"/>
            </a:avLst>
          </a:prstGeom>
          <a:solidFill>
            <a:schemeClr val="accent3"/>
          </a:solidFill>
          <a:ln w="12700">
            <a:solidFill>
              <a:schemeClr val="accent3"/>
            </a:solidFill>
            <a:prstDash val="solid"/>
          </a:ln>
        </p:spPr>
      </p:sp>
      <p:sp>
        <p:nvSpPr>
          <p:cNvPr id="14" name="chip-label"/>
          <p:cNvSpPr txBox="1"/>
          <p:nvPr/>
        </p:nvSpPr>
        <p:spPr>
          <a:xfrm>
            <a:off x="2057400" y="393192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(0.2, 0.8)</a:t>
            </a:r>
            <a:endParaRPr lang="en-US" sz="1100" dirty="0"/>
          </a:p>
        </p:txBody>
      </p:sp>
      <p:sp>
        <p:nvSpPr>
          <p:cNvPr id="15" name="pair-label"/>
          <p:cNvSpPr txBox="1"/>
          <p:nvPr/>
        </p:nvSpPr>
        <p:spPr>
          <a:xfrm>
            <a:off x="30175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medium</a:t>
            </a:r>
            <a:endParaRPr lang="en-US" sz="1100" dirty="0"/>
          </a:p>
        </p:txBody>
      </p:sp>
      <p:sp>
        <p:nvSpPr>
          <p:cNvPr id="16" name="chip"/>
          <p:cNvSpPr/>
          <p:nvPr/>
        </p:nvSpPr>
        <p:spPr>
          <a:xfrm>
            <a:off x="3657600" y="3931920"/>
            <a:ext cx="914400" cy="329184"/>
          </a:xfrm>
          <a:prstGeom prst="roundRect">
            <a:avLst>
              <a:gd name="adj" fmla="val 16667"/>
            </a:avLst>
          </a:prstGeom>
          <a:solidFill>
            <a:schemeClr val="accent4"/>
          </a:solidFill>
          <a:ln w="12700">
            <a:solidFill>
              <a:schemeClr val="accent4"/>
            </a:solidFill>
            <a:prstDash val="solid"/>
          </a:ln>
        </p:spPr>
      </p:sp>
      <p:sp>
        <p:nvSpPr>
          <p:cNvPr id="17" name="chip-label"/>
          <p:cNvSpPr txBox="1"/>
          <p:nvPr/>
        </p:nvSpPr>
        <p:spPr>
          <a:xfrm>
            <a:off x="3657600" y="3931920"/>
            <a:ext cx="914400"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ambria" pitchFamily="34" charset="0"/>
                <a:ea typeface="Cambria" pitchFamily="34" charset="-122"/>
                <a:cs typeface="Cambria" pitchFamily="34" charset="-120"/>
              </a:rPr>
              <a:t>(0.3, 0.5)</a:t>
            </a:r>
            <a:endParaRPr lang="en-US" sz="1100" dirty="0"/>
          </a:p>
        </p:txBody>
      </p:sp>
      <p:sp>
        <p:nvSpPr>
          <p:cNvPr id="18" name="pair-label"/>
          <p:cNvSpPr txBox="1"/>
          <p:nvPr/>
        </p:nvSpPr>
        <p:spPr>
          <a:xfrm>
            <a:off x="46177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narrow</a:t>
            </a:r>
            <a:endParaRPr lang="en-US" sz="1100" dirty="0"/>
          </a:p>
        </p:txBody>
      </p:sp>
      <p:sp>
        <p:nvSpPr>
          <p:cNvPr id="19" name="mu-note"/>
          <p:cNvSpPr txBox="1"/>
          <p:nvPr/>
        </p:nvSpPr>
        <p:spPr>
          <a:xfrm>
            <a:off x="5303520" y="3611880"/>
            <a:ext cx="3383280" cy="822960"/>
          </a:xfrm>
          <a:prstGeom prst="rect">
            <a:avLst/>
          </a:prstGeom>
          <a:noFill/>
          <a:ln/>
        </p:spPr>
        <p:txBody>
          <a:bodyPr wrap="square" lIns="0" tIns="0" rIns="0" bIns="0" rtlCol="0" anchor="t"/>
          <a:lstStyle/>
          <a:p>
            <a:pPr indent="0" marL="0">
              <a:buNone/>
            </a:pPr>
            <a:r>
              <a:rPr lang="en-US" sz="1100" dirty="0">
                <a:solidFill>
                  <a:schemeClr val="accent3"/>
                </a:solidFill>
              </a:rPr>
              <a:t>The share of individualists μ is set by a cultural warm-up on the network. </a:t>
            </a:r>
            <a:pPr indent="0" marL="0">
              <a:buNone/>
            </a:pPr>
            <a:r>
              <a:rPr lang="en-US" sz="1100" b="1" dirty="0">
                <a:solidFill>
                  <a:srgbClr val="EB6834"/>
                </a:solidFill>
              </a:rPr>
              <a:t>Orange = individualists</a:t>
            </a:r>
            <a:pPr indent="0" marL="0">
              <a:buNone/>
            </a:pPr>
            <a:r>
              <a:rPr lang="en-US" sz="1100" dirty="0">
                <a:solidFill>
                  <a:schemeClr val="accent3"/>
                </a:solidFill>
              </a:rPr>
              <a:t>, </a:t>
            </a:r>
            <a:pPr indent="0" marL="0">
              <a:buNone/>
            </a:pPr>
            <a:r>
              <a:rPr lang="en-US" sz="1100" b="1" dirty="0">
                <a:solidFill>
                  <a:srgbClr val="2A78D6"/>
                </a:solidFill>
              </a:rPr>
              <a:t>blue = collectivists</a:t>
            </a:r>
            <a:pPr indent="0" marL="0">
              <a:buNone/>
            </a:pPr>
            <a:r>
              <a:rPr lang="en-US" sz="1100" dirty="0">
                <a:solidFill>
                  <a:schemeClr val="accent3"/>
                </a:solidFill>
              </a:rPr>
              <a:t> throughout.</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Collectivists herd</a:t>
            </a:r>
            <a:endParaRPr lang="en-US" sz="2400" dirty="0"/>
          </a:p>
        </p:txBody>
      </p:sp>
      <p:pic>
        <p:nvPicPr>
          <p:cNvPr id="3" name="e07" descr="Chance of withdrawing by share of neighbours who have withdrawn: collectivists jump to near 1 once 20 to 35 percent of neighbours are out; individualists level off near 0.25 to 0.30.">    </p:cNvPr>
          <p:cNvPicPr>
            <a:picLocks noChangeAspect="1"/>
          </p:cNvPicPr>
          <p:nvPr/>
        </p:nvPicPr>
        <p:blipFill>
          <a:blip r:embed="rId1"/>
          <a:stretch>
            <a:fillRect/>
          </a:stretch>
        </p:blipFill>
        <p:spPr>
          <a:xfrm>
            <a:off x="457200" y="1051560"/>
            <a:ext cx="5164897"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of withdrawing, given the share of a depositor’s neighbours who have already withdrawn. λ pairs pooled; reference bank.</a:t>
            </a:r>
            <a:endParaRPr lang="en-US" sz="1000" dirty="0"/>
          </a:p>
        </p:txBody>
      </p:sp>
      <p:sp>
        <p:nvSpPr>
          <p:cNvPr id="5" name="stat-collectivists, once "/>
          <p:cNvSpPr/>
          <p:nvPr/>
        </p:nvSpPr>
        <p:spPr>
          <a:xfrm>
            <a:off x="6217920" y="1051560"/>
            <a:ext cx="2468880" cy="1005840"/>
          </a:xfrm>
          <a:prstGeom prst="roundRect">
            <a:avLst>
              <a:gd name="adj" fmla="val 7273"/>
            </a:avLst>
          </a:prstGeom>
          <a:solidFill>
            <a:schemeClr val="bg2"/>
          </a:solidFill>
          <a:ln w="12700">
            <a:solidFill>
              <a:schemeClr val="bg2"/>
            </a:solidFill>
            <a:prstDash val="solid"/>
          </a:ln>
        </p:spPr>
      </p:sp>
      <p:sp>
        <p:nvSpPr>
          <p:cNvPr id="6" name="stat-big"/>
          <p:cNvSpPr txBox="1"/>
          <p:nvPr/>
        </p:nvSpPr>
        <p:spPr>
          <a:xfrm>
            <a:off x="6355080" y="1124712"/>
            <a:ext cx="2194560" cy="457200"/>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0.15 to 0.93</a:t>
            </a:r>
            <a:endParaRPr lang="en-US" sz="2200" dirty="0"/>
          </a:p>
        </p:txBody>
      </p:sp>
      <p:sp>
        <p:nvSpPr>
          <p:cNvPr id="7" name="stat-label"/>
          <p:cNvSpPr txBox="1"/>
          <p:nvPr/>
        </p:nvSpPr>
        <p:spPr>
          <a:xfrm>
            <a:off x="6355080" y="1600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collectivists, once 20–35% of their neighbours are out</a:t>
            </a:r>
            <a:endParaRPr lang="en-US" sz="1100" dirty="0"/>
          </a:p>
        </p:txBody>
      </p:sp>
      <p:sp>
        <p:nvSpPr>
          <p:cNvPr id="8" name="stat-where individualists"/>
          <p:cNvSpPr/>
          <p:nvPr/>
        </p:nvSpPr>
        <p:spPr>
          <a:xfrm>
            <a:off x="6217920" y="2194560"/>
            <a:ext cx="2468880" cy="1005840"/>
          </a:xfrm>
          <a:prstGeom prst="roundRect">
            <a:avLst>
              <a:gd name="adj" fmla="val 7273"/>
            </a:avLst>
          </a:prstGeom>
          <a:solidFill>
            <a:schemeClr val="bg2"/>
          </a:solidFill>
          <a:ln w="12700">
            <a:solidFill>
              <a:schemeClr val="bg2"/>
            </a:solidFill>
            <a:prstDash val="solid"/>
          </a:ln>
        </p:spPr>
      </p:sp>
      <p:sp>
        <p:nvSpPr>
          <p:cNvPr id="9" name="stat-big"/>
          <p:cNvSpPr txBox="1"/>
          <p:nvPr/>
        </p:nvSpPr>
        <p:spPr>
          <a:xfrm>
            <a:off x="6355080" y="2267712"/>
            <a:ext cx="2194560" cy="457200"/>
          </a:xfrm>
          <a:prstGeom prst="rect">
            <a:avLst/>
          </a:prstGeom>
          <a:noFill/>
          <a:ln/>
        </p:spPr>
        <p:txBody>
          <a:bodyPr wrap="square" lIns="0" tIns="0" rIns="0" bIns="0" rtlCol="0" anchor="ctr"/>
          <a:lstStyle/>
          <a:p>
            <a:pPr indent="0" marL="0">
              <a:buNone/>
            </a:pPr>
            <a:r>
              <a:rPr lang="en-US" sz="2200" b="1" dirty="0">
                <a:solidFill>
                  <a:srgbClr val="EB6834"/>
                </a:solidFill>
                <a:latin typeface="Cambria" pitchFamily="34" charset="0"/>
                <a:ea typeface="Cambria" pitchFamily="34" charset="-122"/>
                <a:cs typeface="Cambria" pitchFamily="34" charset="-120"/>
              </a:rPr>
              <a:t>0.25 to 0.30</a:t>
            </a:r>
            <a:endParaRPr lang="en-US" sz="2200" dirty="0"/>
          </a:p>
        </p:txBody>
      </p:sp>
      <p:sp>
        <p:nvSpPr>
          <p:cNvPr id="10" name="stat-label"/>
          <p:cNvSpPr txBox="1"/>
          <p:nvPr/>
        </p:nvSpPr>
        <p:spPr>
          <a:xfrm>
            <a:off x="6355080" y="2743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where individualists level off, whatever their neighbours do</a:t>
            </a:r>
            <a:endParaRPr lang="en-US" sz="1100" dirty="0"/>
          </a:p>
        </p:txBody>
      </p:sp>
      <p:sp>
        <p:nvSpPr>
          <p:cNvPr id="11" name="stat-difference in slopes"/>
          <p:cNvSpPr/>
          <p:nvPr/>
        </p:nvSpPr>
        <p:spPr>
          <a:xfrm>
            <a:off x="6217920" y="3337560"/>
            <a:ext cx="2468880" cy="1097280"/>
          </a:xfrm>
          <a:prstGeom prst="roundRect">
            <a:avLst>
              <a:gd name="adj" fmla="val 6667"/>
            </a:avLst>
          </a:prstGeom>
          <a:solidFill>
            <a:schemeClr val="bg2"/>
          </a:solidFill>
          <a:ln w="12700">
            <a:solidFill>
              <a:schemeClr val="bg2"/>
            </a:solidFill>
            <a:prstDash val="solid"/>
          </a:ln>
        </p:spPr>
      </p:sp>
      <p:sp>
        <p:nvSpPr>
          <p:cNvPr id="12" name="stat-big"/>
          <p:cNvSpPr txBox="1"/>
          <p:nvPr/>
        </p:nvSpPr>
        <p:spPr>
          <a:xfrm>
            <a:off x="6355080" y="3410712"/>
            <a:ext cx="2194560"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+0.58</a:t>
            </a:r>
            <a:endParaRPr lang="en-US" sz="2600" dirty="0"/>
          </a:p>
        </p:txBody>
      </p:sp>
      <p:sp>
        <p:nvSpPr>
          <p:cNvPr id="13" name="stat-label"/>
          <p:cNvSpPr txBox="1"/>
          <p:nvPr/>
        </p:nvSpPr>
        <p:spPr>
          <a:xfrm>
            <a:off x="6355080" y="3886200"/>
            <a:ext cx="2194560" cy="493776"/>
          </a:xfrm>
          <a:prstGeom prst="rect">
            <a:avLst/>
          </a:prstGeom>
          <a:noFill/>
          <a:ln/>
        </p:spPr>
        <p:txBody>
          <a:bodyPr wrap="square" lIns="0" tIns="0" rIns="0" bIns="0" rtlCol="0" anchor="t"/>
          <a:lstStyle/>
          <a:p>
            <a:pPr indent="0" marL="0">
              <a:buNone/>
            </a:pPr>
            <a:r>
              <a:rPr lang="en-US" sz="1100" dirty="0">
                <a:solidFill>
                  <a:schemeClr val="accent3"/>
                </a:solidFill>
              </a:rPr>
              <a:t>difference in slopes (collectivists 0.80, individualists 0.22), t = 16.7</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More individualists, fewer failures</a:t>
            </a:r>
            <a:endParaRPr lang="en-US" sz="2400" dirty="0"/>
          </a:p>
        </p:txBody>
      </p:sp>
      <p:pic>
        <p:nvPicPr>
          <p:cNvPr id="3" name="e05" descr="Chance the bank fails by share of individualists: falls from about 0.67 with no individualists to about 0.08 with all individualists for the large difference pair; monotone for every pair.">    </p:cNvPr>
          <p:cNvPicPr>
            <a:picLocks noChangeAspect="1"/>
          </p:cNvPicPr>
          <p:nvPr/>
        </p:nvPicPr>
        <p:blipFill>
          <a:blip r:embed="rId1"/>
          <a:stretch>
            <a:fillRect/>
          </a:stretch>
        </p:blipFill>
        <p:spPr>
          <a:xfrm>
            <a:off x="457200" y="1051560"/>
            <a:ext cx="4941052"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the bank fails, by share of individualists μ, one line per λ pair. Includes the pure populations (μ 0 and 1).</a:t>
            </a:r>
            <a:endParaRPr lang="en-US" sz="1000" dirty="0"/>
          </a:p>
        </p:txBody>
      </p:sp>
      <p:sp>
        <p:nvSpPr>
          <p:cNvPr id="5" name="stat-P(fail) from no indi"/>
          <p:cNvSpPr/>
          <p:nvPr/>
        </p:nvSpPr>
        <p:spPr>
          <a:xfrm>
            <a:off x="6217920" y="1051560"/>
            <a:ext cx="2468880" cy="1005840"/>
          </a:xfrm>
          <a:prstGeom prst="roundRect">
            <a:avLst>
              <a:gd name="adj" fmla="val 7273"/>
            </a:avLst>
          </a:prstGeom>
          <a:solidFill>
            <a:schemeClr val="bg2"/>
          </a:solidFill>
          <a:ln w="12700">
            <a:solidFill>
              <a:schemeClr val="bg2"/>
            </a:solidFill>
            <a:prstDash val="solid"/>
          </a:ln>
        </p:spPr>
      </p:sp>
      <p:sp>
        <p:nvSpPr>
          <p:cNvPr id="6" name="stat-big"/>
          <p:cNvSpPr txBox="1"/>
          <p:nvPr/>
        </p:nvSpPr>
        <p:spPr>
          <a:xfrm>
            <a:off x="6355080" y="1124712"/>
            <a:ext cx="2194560"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0.67 to 0.08</a:t>
            </a:r>
            <a:endParaRPr lang="en-US" sz="2200" dirty="0"/>
          </a:p>
        </p:txBody>
      </p:sp>
      <p:sp>
        <p:nvSpPr>
          <p:cNvPr id="7" name="stat-label"/>
          <p:cNvSpPr txBox="1"/>
          <p:nvPr/>
        </p:nvSpPr>
        <p:spPr>
          <a:xfrm>
            <a:off x="6355080" y="1600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P(fail) from no individualists to all, wide λ gap</a:t>
            </a:r>
            <a:endParaRPr lang="en-US" sz="1100" dirty="0"/>
          </a:p>
        </p:txBody>
      </p:sp>
      <p:sp>
        <p:nvSpPr>
          <p:cNvPr id="8" name="stat-the same, narrow λ g"/>
          <p:cNvSpPr/>
          <p:nvPr/>
        </p:nvSpPr>
        <p:spPr>
          <a:xfrm>
            <a:off x="6217920" y="2194560"/>
            <a:ext cx="2468880" cy="1005840"/>
          </a:xfrm>
          <a:prstGeom prst="roundRect">
            <a:avLst>
              <a:gd name="adj" fmla="val 7273"/>
            </a:avLst>
          </a:prstGeom>
          <a:solidFill>
            <a:schemeClr val="bg2"/>
          </a:solidFill>
          <a:ln w="12700">
            <a:solidFill>
              <a:schemeClr val="bg2"/>
            </a:solidFill>
            <a:prstDash val="solid"/>
          </a:ln>
        </p:spPr>
      </p:sp>
      <p:sp>
        <p:nvSpPr>
          <p:cNvPr id="9" name="stat-big"/>
          <p:cNvSpPr txBox="1"/>
          <p:nvPr/>
        </p:nvSpPr>
        <p:spPr>
          <a:xfrm>
            <a:off x="6355080" y="2267712"/>
            <a:ext cx="2194560"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0.25 to 0.09</a:t>
            </a:r>
            <a:endParaRPr lang="en-US" sz="2200" dirty="0"/>
          </a:p>
        </p:txBody>
      </p:sp>
      <p:sp>
        <p:nvSpPr>
          <p:cNvPr id="10" name="stat-label"/>
          <p:cNvSpPr txBox="1"/>
          <p:nvPr/>
        </p:nvSpPr>
        <p:spPr>
          <a:xfrm>
            <a:off x="6355080" y="2743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the same, narrow λ gap: it matters most when collectivists dominate</a:t>
            </a:r>
            <a:endParaRPr lang="en-US" sz="1100" dirty="0"/>
          </a:p>
        </p:txBody>
      </p:sp>
      <p:sp>
        <p:nvSpPr>
          <p:cNvPr id="11" name="card-Monotone"/>
          <p:cNvSpPr/>
          <p:nvPr/>
        </p:nvSpPr>
        <p:spPr>
          <a:xfrm>
            <a:off x="6217920" y="3337560"/>
            <a:ext cx="2468880" cy="1097280"/>
          </a:xfrm>
          <a:prstGeom prst="roundRect">
            <a:avLst>
              <a:gd name="adj" fmla="val 6667"/>
            </a:avLst>
          </a:prstGeom>
          <a:solidFill>
            <a:schemeClr val="bg2"/>
          </a:solidFill>
          <a:ln w="12700">
            <a:solidFill>
              <a:schemeClr val="bg2"/>
            </a:solidFill>
            <a:prstDash val="solid"/>
          </a:ln>
        </p:spPr>
      </p:sp>
      <p:sp>
        <p:nvSpPr>
          <p:cNvPr id="12" name="card-head"/>
          <p:cNvSpPr txBox="1"/>
          <p:nvPr/>
        </p:nvSpPr>
        <p:spPr>
          <a:xfrm>
            <a:off x="6355080" y="3429000"/>
            <a:ext cx="2194560" cy="292608"/>
          </a:xfrm>
          <a:prstGeom prst="rect">
            <a:avLst/>
          </a:prstGeom>
          <a:noFill/>
          <a:ln/>
        </p:spPr>
        <p:txBody>
          <a:bodyPr wrap="square" lIns="0" tIns="0" rIns="0" bIns="0" rtlCol="0" anchor="ctr"/>
          <a:lstStyle/>
          <a:p>
            <a:pPr indent="0" marL="0">
              <a:buNone/>
            </a:pPr>
            <a:r>
              <a:rPr lang="en-US" sz="1300" b="1" dirty="0">
                <a:solidFill>
                  <a:schemeClr val="tx2"/>
                </a:solidFill>
              </a:rPr>
              <a:t>Monotone</a:t>
            </a:r>
            <a:endParaRPr lang="en-US" sz="1300" dirty="0"/>
          </a:p>
        </p:txBody>
      </p:sp>
      <p:sp>
        <p:nvSpPr>
          <p:cNvPr id="13" name="card-body"/>
          <p:cNvSpPr txBox="1"/>
          <p:nvPr/>
        </p:nvSpPr>
        <p:spPr>
          <a:xfrm>
            <a:off x="6355080" y="3749040"/>
            <a:ext cx="2194560" cy="594360"/>
          </a:xfrm>
          <a:prstGeom prst="rect">
            <a:avLst/>
          </a:prstGeom>
          <a:noFill/>
          <a:ln/>
        </p:spPr>
        <p:txBody>
          <a:bodyPr wrap="square" lIns="0" tIns="0" rIns="0" bIns="0" rtlCol="0" anchor="t"/>
          <a:lstStyle/>
          <a:p>
            <a:pPr indent="0" marL="0">
              <a:buNone/>
            </a:pPr>
            <a:r>
              <a:rPr lang="en-US" sz="1150" dirty="0">
                <a:solidFill>
                  <a:schemeClr val="tx1"/>
                </a:solidFill>
              </a:rPr>
              <a:t>No interior peak at any mix. The lines converge once individualists are 75% or more.</a:t>
            </a:r>
            <a:endParaRPr lang="en-US" sz="115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Outdated news cuts both ways</a:t>
            </a:r>
            <a:endParaRPr lang="en-US" sz="2400" dirty="0"/>
          </a:p>
        </p:txBody>
      </p:sp>
      <p:pic>
        <p:nvPicPr>
          <p:cNvPr id="3" name="e08" descr="Chance the bank fails by kind of public news: outdated pessimistic news raises it to about 0.48, accurate news barely changes it from no news (0.29 vs 0.31), outdated optimistic news lowers it to 0.16.">    </p:cNvPr>
          <p:cNvPicPr>
            <a:picLocks noChangeAspect="1"/>
          </p:cNvPicPr>
          <p:nvPr/>
        </p:nvPicPr>
        <p:blipFill>
          <a:blip r:embed="rId1"/>
          <a:stretch>
            <a:fillRect/>
          </a:stretch>
        </p:blipFill>
        <p:spPr>
          <a:xfrm>
            <a:off x="457200" y="1051560"/>
            <a:ext cx="5486400" cy="2607605"/>
          </a:xfrm>
          <a:prstGeom prst="rect">
            <a:avLst/>
          </a:prstGeom>
        </p:spPr>
      </p:pic>
      <p:sp>
        <p:nvSpPr>
          <p:cNvPr id="4" name="caption"/>
          <p:cNvSpPr txBox="1"/>
          <p:nvPr/>
        </p:nvSpPr>
        <p:spPr>
          <a:xfrm>
            <a:off x="457200" y="3704885"/>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the bank fails, by the kind of public news, dot and CI per λ pair. All mixes μ. Numbers at right: wide λ gap.</a:t>
            </a:r>
            <a:endParaRPr lang="en-US" sz="1000" dirty="0"/>
          </a:p>
        </p:txBody>
      </p:sp>
      <p:sp>
        <p:nvSpPr>
          <p:cNvPr id="5" name="stat-outdated, pessimisti"/>
          <p:cNvSpPr/>
          <p:nvPr/>
        </p:nvSpPr>
        <p:spPr>
          <a:xfrm>
            <a:off x="6217920" y="1051560"/>
            <a:ext cx="2468880" cy="777240"/>
          </a:xfrm>
          <a:prstGeom prst="roundRect">
            <a:avLst>
              <a:gd name="adj" fmla="val 9412"/>
            </a:avLst>
          </a:prstGeom>
          <a:solidFill>
            <a:schemeClr val="bg2"/>
          </a:solidFill>
          <a:ln w="12700">
            <a:solidFill>
              <a:schemeClr val="bg2"/>
            </a:solidFill>
            <a:prstDash val="solid"/>
          </a:ln>
        </p:spPr>
      </p:sp>
      <p:sp>
        <p:nvSpPr>
          <p:cNvPr id="6" name="stat-big"/>
          <p:cNvSpPr txBox="1"/>
          <p:nvPr/>
        </p:nvSpPr>
        <p:spPr>
          <a:xfrm>
            <a:off x="6355080" y="1124712"/>
            <a:ext cx="2194560" cy="365760"/>
          </a:xfrm>
          <a:prstGeom prst="rect">
            <a:avLst/>
          </a:prstGeom>
          <a:noFill/>
          <a:ln/>
        </p:spPr>
        <p:txBody>
          <a:bodyPr wrap="square" lIns="0" tIns="0" rIns="0" bIns="0" rtlCol="0" anchor="ctr"/>
          <a:lstStyle/>
          <a:p>
            <a:pPr indent="0" marL="0">
              <a:buNone/>
            </a:pPr>
            <a:r>
              <a:rPr lang="en-US" sz="2200" b="1" dirty="0">
                <a:solidFill>
                  <a:schemeClr val="accent2"/>
                </a:solidFill>
                <a:latin typeface="Cambria" pitchFamily="34" charset="0"/>
                <a:ea typeface="Cambria" pitchFamily="34" charset="-122"/>
                <a:cs typeface="Cambria" pitchFamily="34" charset="-120"/>
              </a:rPr>
              <a:t>0.48</a:t>
            </a:r>
            <a:endParaRPr lang="en-US" sz="2200" dirty="0"/>
          </a:p>
        </p:txBody>
      </p:sp>
      <p:sp>
        <p:nvSpPr>
          <p:cNvPr id="7" name="stat-label"/>
          <p:cNvSpPr txBox="1"/>
          <p:nvPr/>
        </p:nvSpPr>
        <p:spPr>
          <a:xfrm>
            <a:off x="6355080" y="1508760"/>
            <a:ext cx="2194560" cy="265176"/>
          </a:xfrm>
          <a:prstGeom prst="rect">
            <a:avLst/>
          </a:prstGeom>
          <a:noFill/>
          <a:ln/>
        </p:spPr>
        <p:txBody>
          <a:bodyPr wrap="square" lIns="0" tIns="0" rIns="0" bIns="0" rtlCol="0" anchor="t"/>
          <a:lstStyle/>
          <a:p>
            <a:pPr indent="0" marL="0">
              <a:buNone/>
            </a:pPr>
            <a:r>
              <a:rPr lang="en-US" sz="1100" dirty="0">
                <a:solidFill>
                  <a:schemeClr val="accent3"/>
                </a:solidFill>
              </a:rPr>
              <a:t>outdated, pessimistic news</a:t>
            </a:r>
            <a:endParaRPr lang="en-US" sz="1100" dirty="0"/>
          </a:p>
        </p:txBody>
      </p:sp>
      <p:sp>
        <p:nvSpPr>
          <p:cNvPr id="8" name="stat-no public news"/>
          <p:cNvSpPr/>
          <p:nvPr/>
        </p:nvSpPr>
        <p:spPr>
          <a:xfrm>
            <a:off x="6217920" y="1938528"/>
            <a:ext cx="2468880" cy="777240"/>
          </a:xfrm>
          <a:prstGeom prst="roundRect">
            <a:avLst>
              <a:gd name="adj" fmla="val 9412"/>
            </a:avLst>
          </a:prstGeom>
          <a:solidFill>
            <a:schemeClr val="bg2"/>
          </a:solidFill>
          <a:ln w="12700">
            <a:solidFill>
              <a:schemeClr val="bg2"/>
            </a:solidFill>
            <a:prstDash val="solid"/>
          </a:ln>
        </p:spPr>
      </p:sp>
      <p:sp>
        <p:nvSpPr>
          <p:cNvPr id="9" name="stat-big"/>
          <p:cNvSpPr txBox="1"/>
          <p:nvPr/>
        </p:nvSpPr>
        <p:spPr>
          <a:xfrm>
            <a:off x="6355080" y="2011680"/>
            <a:ext cx="2194560" cy="36576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0.31</a:t>
            </a:r>
            <a:endParaRPr lang="en-US" sz="2200" dirty="0"/>
          </a:p>
        </p:txBody>
      </p:sp>
      <p:sp>
        <p:nvSpPr>
          <p:cNvPr id="10" name="stat-label"/>
          <p:cNvSpPr txBox="1"/>
          <p:nvPr/>
        </p:nvSpPr>
        <p:spPr>
          <a:xfrm>
            <a:off x="6355080" y="2395728"/>
            <a:ext cx="2194560" cy="265176"/>
          </a:xfrm>
          <a:prstGeom prst="rect">
            <a:avLst/>
          </a:prstGeom>
          <a:noFill/>
          <a:ln/>
        </p:spPr>
        <p:txBody>
          <a:bodyPr wrap="square" lIns="0" tIns="0" rIns="0" bIns="0" rtlCol="0" anchor="t"/>
          <a:lstStyle/>
          <a:p>
            <a:pPr indent="0" marL="0">
              <a:buNone/>
            </a:pPr>
            <a:r>
              <a:rPr lang="en-US" sz="1100" dirty="0">
                <a:solidFill>
                  <a:schemeClr val="accent3"/>
                </a:solidFill>
              </a:rPr>
              <a:t>no public news</a:t>
            </a:r>
            <a:endParaRPr lang="en-US" sz="1100" dirty="0"/>
          </a:p>
        </p:txBody>
      </p:sp>
      <p:sp>
        <p:nvSpPr>
          <p:cNvPr id="11" name="stat-accurate news"/>
          <p:cNvSpPr/>
          <p:nvPr/>
        </p:nvSpPr>
        <p:spPr>
          <a:xfrm>
            <a:off x="6217920" y="2825496"/>
            <a:ext cx="2468880" cy="777240"/>
          </a:xfrm>
          <a:prstGeom prst="roundRect">
            <a:avLst>
              <a:gd name="adj" fmla="val 9412"/>
            </a:avLst>
          </a:prstGeom>
          <a:solidFill>
            <a:schemeClr val="bg2"/>
          </a:solidFill>
          <a:ln w="12700">
            <a:solidFill>
              <a:schemeClr val="bg2"/>
            </a:solidFill>
            <a:prstDash val="solid"/>
          </a:ln>
        </p:spPr>
      </p:sp>
      <p:sp>
        <p:nvSpPr>
          <p:cNvPr id="12" name="stat-big"/>
          <p:cNvSpPr txBox="1"/>
          <p:nvPr/>
        </p:nvSpPr>
        <p:spPr>
          <a:xfrm>
            <a:off x="6355080" y="2898648"/>
            <a:ext cx="2194560" cy="36576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0.29</a:t>
            </a:r>
            <a:endParaRPr lang="en-US" sz="2200" dirty="0"/>
          </a:p>
        </p:txBody>
      </p:sp>
      <p:sp>
        <p:nvSpPr>
          <p:cNvPr id="13" name="stat-label"/>
          <p:cNvSpPr txBox="1"/>
          <p:nvPr/>
        </p:nvSpPr>
        <p:spPr>
          <a:xfrm>
            <a:off x="6355080" y="3282696"/>
            <a:ext cx="2194560" cy="265176"/>
          </a:xfrm>
          <a:prstGeom prst="rect">
            <a:avLst/>
          </a:prstGeom>
          <a:noFill/>
          <a:ln/>
        </p:spPr>
        <p:txBody>
          <a:bodyPr wrap="square" lIns="0" tIns="0" rIns="0" bIns="0" rtlCol="0" anchor="t"/>
          <a:lstStyle/>
          <a:p>
            <a:pPr indent="0" marL="0">
              <a:buNone/>
            </a:pPr>
            <a:r>
              <a:rPr lang="en-US" sz="1100" dirty="0">
                <a:solidFill>
                  <a:schemeClr val="accent3"/>
                </a:solidFill>
              </a:rPr>
              <a:t>accurate news</a:t>
            </a:r>
            <a:endParaRPr lang="en-US" sz="1100" dirty="0"/>
          </a:p>
        </p:txBody>
      </p:sp>
      <p:sp>
        <p:nvSpPr>
          <p:cNvPr id="14" name="stat-outdated, optimistic"/>
          <p:cNvSpPr/>
          <p:nvPr/>
        </p:nvSpPr>
        <p:spPr>
          <a:xfrm>
            <a:off x="6217920" y="3712464"/>
            <a:ext cx="2468880" cy="777240"/>
          </a:xfrm>
          <a:prstGeom prst="roundRect">
            <a:avLst>
              <a:gd name="adj" fmla="val 9412"/>
            </a:avLst>
          </a:prstGeom>
          <a:solidFill>
            <a:schemeClr val="bg2"/>
          </a:solidFill>
          <a:ln w="12700">
            <a:solidFill>
              <a:schemeClr val="bg2"/>
            </a:solidFill>
            <a:prstDash val="solid"/>
          </a:ln>
        </p:spPr>
      </p:sp>
      <p:sp>
        <p:nvSpPr>
          <p:cNvPr id="15" name="stat-big"/>
          <p:cNvSpPr txBox="1"/>
          <p:nvPr/>
        </p:nvSpPr>
        <p:spPr>
          <a:xfrm>
            <a:off x="6355080" y="3785616"/>
            <a:ext cx="2194560" cy="365760"/>
          </a:xfrm>
          <a:prstGeom prst="rect">
            <a:avLst/>
          </a:prstGeom>
          <a:noFill/>
          <a:ln/>
        </p:spPr>
        <p:txBody>
          <a:bodyPr wrap="square" lIns="0" tIns="0" rIns="0" bIns="0" rtlCol="0" anchor="ctr"/>
          <a:lstStyle/>
          <a:p>
            <a:pPr indent="0" marL="0">
              <a:buNone/>
            </a:pPr>
            <a:r>
              <a:rPr lang="en-US" sz="2200" b="1" dirty="0">
                <a:solidFill>
                  <a:schemeClr val="accent5"/>
                </a:solidFill>
                <a:latin typeface="Cambria" pitchFamily="34" charset="0"/>
                <a:ea typeface="Cambria" pitchFamily="34" charset="-122"/>
                <a:cs typeface="Cambria" pitchFamily="34" charset="-120"/>
              </a:rPr>
              <a:t>0.16</a:t>
            </a:r>
            <a:endParaRPr lang="en-US" sz="2200" dirty="0"/>
          </a:p>
        </p:txBody>
      </p:sp>
      <p:sp>
        <p:nvSpPr>
          <p:cNvPr id="16" name="stat-label"/>
          <p:cNvSpPr txBox="1"/>
          <p:nvPr/>
        </p:nvSpPr>
        <p:spPr>
          <a:xfrm>
            <a:off x="6355080" y="4169664"/>
            <a:ext cx="2194560" cy="265176"/>
          </a:xfrm>
          <a:prstGeom prst="rect">
            <a:avLst/>
          </a:prstGeom>
          <a:noFill/>
          <a:ln/>
        </p:spPr>
        <p:txBody>
          <a:bodyPr wrap="square" lIns="0" tIns="0" rIns="0" bIns="0" rtlCol="0" anchor="t"/>
          <a:lstStyle/>
          <a:p>
            <a:pPr indent="0" marL="0">
              <a:buNone/>
            </a:pPr>
            <a:r>
              <a:rPr lang="en-US" sz="1100" dirty="0">
                <a:solidFill>
                  <a:schemeClr val="accent3"/>
                </a:solidFill>
              </a:rPr>
              <a:t>outdated, optimistic news</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Capping the largest deposits</a:t>
            </a:r>
            <a:endParaRPr lang="en-US" sz="2400" dirty="0"/>
          </a:p>
        </p:txBody>
      </p:sp>
      <p:pic>
        <p:nvPicPr>
          <p:cNvPr id="3" name="e10" descr="Chance the bank fails by share of individualists for three deposit-size distributions: uncapped large deposits fail most often; capped at 1 percent matches the bank with similar-sized deposits at every share.">    </p:cNvPr>
          <p:cNvPicPr>
            <a:picLocks noChangeAspect="1"/>
          </p:cNvPicPr>
          <p:nvPr/>
        </p:nvPicPr>
        <p:blipFill>
          <a:blip r:embed="rId1"/>
          <a:stretch>
            <a:fillRect/>
          </a:stretch>
        </p:blipFill>
        <p:spPr>
          <a:xfrm>
            <a:off x="457200" y="1051560"/>
            <a:ext cx="4941052"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the bank fails by share of individualists, for three deposit-size distributions. λ pairs pooled.</a:t>
            </a:r>
            <a:endParaRPr lang="en-US" sz="1000" dirty="0"/>
          </a:p>
        </p:txBody>
      </p:sp>
      <p:sp>
        <p:nvSpPr>
          <p:cNvPr id="5" name="stat-uncapped: a few very"/>
          <p:cNvSpPr/>
          <p:nvPr/>
        </p:nvSpPr>
        <p:spPr>
          <a:xfrm>
            <a:off x="6217920" y="1051560"/>
            <a:ext cx="2468880" cy="1005840"/>
          </a:xfrm>
          <a:prstGeom prst="roundRect">
            <a:avLst>
              <a:gd name="adj" fmla="val 7273"/>
            </a:avLst>
          </a:prstGeom>
          <a:solidFill>
            <a:schemeClr val="bg2"/>
          </a:solidFill>
          <a:ln w="12700">
            <a:solidFill>
              <a:schemeClr val="bg2"/>
            </a:solidFill>
            <a:prstDash val="solid"/>
          </a:ln>
        </p:spPr>
      </p:sp>
      <p:sp>
        <p:nvSpPr>
          <p:cNvPr id="6" name="stat-big"/>
          <p:cNvSpPr txBox="1"/>
          <p:nvPr/>
        </p:nvSpPr>
        <p:spPr>
          <a:xfrm>
            <a:off x="6355080" y="1124712"/>
            <a:ext cx="2194560" cy="457200"/>
          </a:xfrm>
          <a:prstGeom prst="rect">
            <a:avLst/>
          </a:prstGeom>
          <a:noFill/>
          <a:ln/>
        </p:spPr>
        <p:txBody>
          <a:bodyPr wrap="square" lIns="0" tIns="0" rIns="0" bIns="0" rtlCol="0" anchor="ctr"/>
          <a:lstStyle/>
          <a:p>
            <a:pPr indent="0" marL="0">
              <a:buNone/>
            </a:pPr>
            <a:r>
              <a:rPr lang="en-US" sz="2200" b="1" dirty="0">
                <a:solidFill>
                  <a:schemeClr val="accent2"/>
                </a:solidFill>
                <a:latin typeface="Cambria" pitchFamily="34" charset="0"/>
                <a:ea typeface="Cambria" pitchFamily="34" charset="-122"/>
                <a:cs typeface="Cambria" pitchFamily="34" charset="-120"/>
              </a:rPr>
              <a:t>0.61 to 0.11</a:t>
            </a:r>
            <a:endParaRPr lang="en-US" sz="2200" dirty="0"/>
          </a:p>
        </p:txBody>
      </p:sp>
      <p:sp>
        <p:nvSpPr>
          <p:cNvPr id="7" name="stat-label"/>
          <p:cNvSpPr txBox="1"/>
          <p:nvPr/>
        </p:nvSpPr>
        <p:spPr>
          <a:xfrm>
            <a:off x="6355080" y="1600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uncapped: a few very large deposits (σ 2.5)</a:t>
            </a:r>
            <a:endParaRPr lang="en-US" sz="1100" dirty="0"/>
          </a:p>
        </p:txBody>
      </p:sp>
      <p:sp>
        <p:nvSpPr>
          <p:cNvPr id="8" name="stat-capped: no deposit a"/>
          <p:cNvSpPr/>
          <p:nvPr/>
        </p:nvSpPr>
        <p:spPr>
          <a:xfrm>
            <a:off x="6217920" y="2194560"/>
            <a:ext cx="2468880" cy="1005840"/>
          </a:xfrm>
          <a:prstGeom prst="roundRect">
            <a:avLst>
              <a:gd name="adj" fmla="val 7273"/>
            </a:avLst>
          </a:prstGeom>
          <a:solidFill>
            <a:schemeClr val="bg2"/>
          </a:solidFill>
          <a:ln w="12700">
            <a:solidFill>
              <a:schemeClr val="bg2"/>
            </a:solidFill>
            <a:prstDash val="solid"/>
          </a:ln>
        </p:spPr>
      </p:sp>
      <p:sp>
        <p:nvSpPr>
          <p:cNvPr id="9" name="stat-big"/>
          <p:cNvSpPr txBox="1"/>
          <p:nvPr/>
        </p:nvSpPr>
        <p:spPr>
          <a:xfrm>
            <a:off x="6355080" y="2267712"/>
            <a:ext cx="2194560"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0.51 to 0.08</a:t>
            </a:r>
            <a:endParaRPr lang="en-US" sz="2200" dirty="0"/>
          </a:p>
        </p:txBody>
      </p:sp>
      <p:sp>
        <p:nvSpPr>
          <p:cNvPr id="10" name="stat-label"/>
          <p:cNvSpPr txBox="1"/>
          <p:nvPr/>
        </p:nvSpPr>
        <p:spPr>
          <a:xfrm>
            <a:off x="6355080" y="2743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capped: no deposit above 1% of the total (the reference bank)</a:t>
            </a:r>
            <a:endParaRPr lang="en-US" sz="1100" dirty="0"/>
          </a:p>
        </p:txBody>
      </p:sp>
      <p:sp>
        <p:nvSpPr>
          <p:cNvPr id="11" name="stat-similar sizes (σ 1)."/>
          <p:cNvSpPr/>
          <p:nvPr/>
        </p:nvSpPr>
        <p:spPr>
          <a:xfrm>
            <a:off x="6217920" y="3337560"/>
            <a:ext cx="2468880" cy="1097280"/>
          </a:xfrm>
          <a:prstGeom prst="roundRect">
            <a:avLst>
              <a:gd name="adj" fmla="val 6667"/>
            </a:avLst>
          </a:prstGeom>
          <a:solidFill>
            <a:schemeClr val="bg2"/>
          </a:solidFill>
          <a:ln w="12700">
            <a:solidFill>
              <a:schemeClr val="bg2"/>
            </a:solidFill>
            <a:prstDash val="solid"/>
          </a:ln>
        </p:spPr>
      </p:sp>
      <p:sp>
        <p:nvSpPr>
          <p:cNvPr id="12" name="stat-big"/>
          <p:cNvSpPr txBox="1"/>
          <p:nvPr/>
        </p:nvSpPr>
        <p:spPr>
          <a:xfrm>
            <a:off x="6355080" y="3410712"/>
            <a:ext cx="2194560" cy="457200"/>
          </a:xfrm>
          <a:prstGeom prst="rect">
            <a:avLst/>
          </a:prstGeom>
          <a:noFill/>
          <a:ln/>
        </p:spPr>
        <p:txBody>
          <a:bodyPr wrap="square" lIns="0" tIns="0" rIns="0" bIns="0" rtlCol="0" anchor="ctr"/>
          <a:lstStyle/>
          <a:p>
            <a:pPr indent="0" marL="0">
              <a:buNone/>
            </a:pPr>
            <a:r>
              <a:rPr lang="en-US" sz="2200" b="1" dirty="0">
                <a:solidFill>
                  <a:schemeClr val="accent3"/>
                </a:solidFill>
                <a:latin typeface="Cambria" pitchFamily="34" charset="0"/>
                <a:ea typeface="Cambria" pitchFamily="34" charset="-122"/>
                <a:cs typeface="Cambria" pitchFamily="34" charset="-120"/>
              </a:rPr>
              <a:t>0.50 to 0.08</a:t>
            </a:r>
            <a:endParaRPr lang="en-US" sz="2200" dirty="0"/>
          </a:p>
        </p:txBody>
      </p:sp>
      <p:sp>
        <p:nvSpPr>
          <p:cNvPr id="13" name="stat-label"/>
          <p:cNvSpPr txBox="1"/>
          <p:nvPr/>
        </p:nvSpPr>
        <p:spPr>
          <a:xfrm>
            <a:off x="6355080" y="3886200"/>
            <a:ext cx="2194560" cy="493776"/>
          </a:xfrm>
          <a:prstGeom prst="rect">
            <a:avLst/>
          </a:prstGeom>
          <a:noFill/>
          <a:ln/>
        </p:spPr>
        <p:txBody>
          <a:bodyPr wrap="square" lIns="0" tIns="0" rIns="0" bIns="0" rtlCol="0" anchor="t"/>
          <a:lstStyle/>
          <a:p>
            <a:pPr indent="0" marL="0">
              <a:buNone/>
            </a:pPr>
            <a:r>
              <a:rPr lang="en-US" sz="1100" dirty="0">
                <a:solidFill>
                  <a:schemeClr val="accent3"/>
                </a:solidFill>
              </a:rPr>
              <a:t>similar sizes (σ 1). The μ gradient is the same in all three.</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Does the model hold up?</a:t>
            </a:r>
            <a:endParaRPr lang="en-US" sz="2400" dirty="0"/>
          </a:p>
        </p:txBody>
      </p:sp>
      <p:pic>
        <p:nvPicPr>
          <p:cNvPr id="3" name="e01" descr="Individualists' run rate minus collectivists', relative to no news, against how far public news is from the truth: rises from negative when news is pessimistic to positive when optimistic, more steeply for the wide lambda gap.">    </p:cNvPr>
          <p:cNvPicPr>
            <a:picLocks noChangeAspect="1"/>
          </p:cNvPicPr>
          <p:nvPr/>
        </p:nvPicPr>
        <p:blipFill>
          <a:blip r:embed="rId1"/>
          <a:stretch>
            <a:fillRect/>
          </a:stretch>
        </p:blipFill>
        <p:spPr>
          <a:xfrm>
            <a:off x="457200" y="1051560"/>
            <a:ext cx="5145146"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D relative to no news, against how far the public news sits from the truth. Shaded: where Chapter 1 predicts the sign.</a:t>
            </a:r>
            <a:endParaRPr lang="en-US" sz="1000" dirty="0"/>
          </a:p>
        </p:txBody>
      </p:sp>
      <p:sp>
        <p:nvSpPr>
          <p:cNvPr id="5" name="tests"/>
          <p:cNvSpPr/>
          <p:nvPr/>
        </p:nvSpPr>
        <p:spPr>
          <a:xfrm>
            <a:off x="6217920" y="1051560"/>
            <a:ext cx="2468880" cy="2103120"/>
          </a:xfrm>
          <a:prstGeom prst="roundRect">
            <a:avLst>
              <a:gd name="adj" fmla="val 3478"/>
            </a:avLst>
          </a:prstGeom>
          <a:solidFill>
            <a:schemeClr val="bg2"/>
          </a:solidFill>
          <a:ln w="12700">
            <a:solidFill>
              <a:schemeClr val="bg2"/>
            </a:solidFill>
            <a:prstDash val="solid"/>
          </a:ln>
        </p:spPr>
      </p:sp>
      <p:sp>
        <p:nvSpPr>
          <p:cNvPr id="6" name="tests-text"/>
          <p:cNvSpPr txBox="1"/>
          <p:nvPr/>
        </p:nvSpPr>
        <p:spPr>
          <a:xfrm>
            <a:off x="6355080" y="1143000"/>
            <a:ext cx="2194560" cy="1920240"/>
          </a:xfrm>
          <a:prstGeom prst="rect">
            <a:avLst/>
          </a:prstGeom>
          <a:noFill/>
          <a:ln/>
        </p:spPr>
        <p:txBody>
          <a:bodyPr wrap="square" lIns="0" tIns="0" rIns="0" bIns="0" rtlCol="0" anchor="t"/>
          <a:lstStyle/>
          <a:p>
            <a:pPr indent="0" marL="0">
              <a:spcAft>
                <a:spcPts val="600"/>
              </a:spcAft>
              <a:buNone/>
            </a:pPr>
            <a:r>
              <a:rPr lang="en-US" sz="1300" b="1" dirty="0">
                <a:solidFill>
                  <a:schemeClr val="tx2"/>
                </a:solidFill>
              </a:rPr>
              <a:t>Pre-registered tests</a:t>
            </a:r>
            <a:endParaRPr lang="en-US" sz="1050" dirty="0"/>
          </a:p>
          <a:p>
            <a:pPr indent="0" marL="0">
              <a:spcAft>
                <a:spcPts val="300"/>
              </a:spcAft>
              <a:buNone/>
            </a:pPr>
            <a:r>
              <a:rPr lang="en-US" sz="1050" dirty="0">
                <a:solidFill>
                  <a:schemeClr val="tx1"/>
                </a:solidFill>
              </a:rPr>
              <a:t>G1′  optimistic news: individualists run more   +0.033</a:t>
            </a:r>
            <a:endParaRPr lang="en-US" sz="1050" dirty="0"/>
          </a:p>
          <a:p>
            <a:pPr indent="0" marL="0">
              <a:spcAft>
                <a:spcPts val="300"/>
              </a:spcAft>
              <a:buNone/>
            </a:pPr>
            <a:r>
              <a:rPr lang="en-US" sz="1050" dirty="0">
                <a:solidFill>
                  <a:schemeClr val="tx1"/>
                </a:solidFill>
              </a:rPr>
              <a:t>G4′  pessimistic news: collectivists run more   −0.031</a:t>
            </a:r>
            <a:endParaRPr lang="en-US" sz="1050" dirty="0"/>
          </a:p>
          <a:p>
            <a:pPr indent="0" marL="0">
              <a:spcAft>
                <a:spcPts val="300"/>
              </a:spcAft>
              <a:buNone/>
            </a:pPr>
            <a:r>
              <a:rPr lang="en-US" sz="1050" dirty="0">
                <a:solidFill>
                  <a:schemeClr val="tx1"/>
                </a:solidFill>
              </a:rPr>
              <a:t>G2a′  the effect grows with the λ gap   +0.093</a:t>
            </a:r>
            <a:endParaRPr lang="en-US" sz="1050" dirty="0"/>
          </a:p>
          <a:p>
            <a:pPr indent="0" marL="0">
              <a:buNone/>
            </a:pPr>
            <a:r>
              <a:rPr lang="en-US" sz="1050" dirty="0">
                <a:solidFill>
                  <a:schemeClr val="accent2"/>
                </a:solidFill>
              </a:rPr>
              <a:t>G3  sorting with no news: counts against (one pair wrong-signed)</a:t>
            </a:r>
            <a:endParaRPr lang="en-US" sz="1050" dirty="0"/>
          </a:p>
        </p:txBody>
      </p:sp>
      <p:sp>
        <p:nvSpPr>
          <p:cNvPr id="7" name="stat-confirmatory tests s"/>
          <p:cNvSpPr/>
          <p:nvPr/>
        </p:nvSpPr>
        <p:spPr>
          <a:xfrm>
            <a:off x="6217920" y="3291840"/>
            <a:ext cx="2468880" cy="1143000"/>
          </a:xfrm>
          <a:prstGeom prst="roundRect">
            <a:avLst>
              <a:gd name="adj" fmla="val 6400"/>
            </a:avLst>
          </a:prstGeom>
          <a:solidFill>
            <a:schemeClr val="bg2"/>
          </a:solidFill>
          <a:ln w="12700">
            <a:solidFill>
              <a:schemeClr val="bg2"/>
            </a:solidFill>
            <a:prstDash val="solid"/>
          </a:ln>
        </p:spPr>
      </p:sp>
      <p:sp>
        <p:nvSpPr>
          <p:cNvPr id="8" name="stat-big"/>
          <p:cNvSpPr txBox="1"/>
          <p:nvPr/>
        </p:nvSpPr>
        <p:spPr>
          <a:xfrm>
            <a:off x="6355080" y="3364992"/>
            <a:ext cx="2194560"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3 of 4</a:t>
            </a:r>
            <a:endParaRPr lang="en-US" sz="2600" dirty="0"/>
          </a:p>
        </p:txBody>
      </p:sp>
      <p:sp>
        <p:nvSpPr>
          <p:cNvPr id="9" name="stat-label"/>
          <p:cNvSpPr txBox="1"/>
          <p:nvPr/>
        </p:nvSpPr>
        <p:spPr>
          <a:xfrm>
            <a:off x="6355080" y="3840480"/>
            <a:ext cx="2194560" cy="539496"/>
          </a:xfrm>
          <a:prstGeom prst="rect">
            <a:avLst/>
          </a:prstGeom>
          <a:noFill/>
          <a:ln/>
        </p:spPr>
        <p:txBody>
          <a:bodyPr wrap="square" lIns="0" tIns="0" rIns="0" bIns="0" rtlCol="0" anchor="t"/>
          <a:lstStyle/>
          <a:p>
            <a:pPr indent="0" marL="0">
              <a:buNone/>
            </a:pPr>
            <a:r>
              <a:rPr lang="en-US" sz="1100" dirty="0">
                <a:solidFill>
                  <a:schemeClr val="accent3"/>
                </a:solidFill>
              </a:rPr>
              <a:t>confirmatory tests support the theory, on all three versions of the bank</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Takeaways and next steps</a:t>
            </a:r>
            <a:endParaRPr lang="en-US" sz="2400" dirty="0"/>
          </a:p>
        </p:txBody>
      </p:sp>
      <p:sp>
        <p:nvSpPr>
          <p:cNvPr id="3" name="take-0"/>
          <p:cNvSpPr/>
          <p:nvPr/>
        </p:nvSpPr>
        <p:spPr>
          <a:xfrm>
            <a:off x="457200" y="1051560"/>
            <a:ext cx="5760720" cy="512064"/>
          </a:xfrm>
          <a:prstGeom prst="roundRect">
            <a:avLst>
              <a:gd name="adj" fmla="val 14286"/>
            </a:avLst>
          </a:prstGeom>
          <a:solidFill>
            <a:schemeClr val="bg2"/>
          </a:solidFill>
          <a:ln w="12700">
            <a:solidFill>
              <a:schemeClr val="bg2"/>
            </a:solidFill>
            <a:prstDash val="solid"/>
          </a:ln>
        </p:spPr>
      </p:sp>
      <p:sp>
        <p:nvSpPr>
          <p:cNvPr id="4" name="chip"/>
          <p:cNvSpPr/>
          <p:nvPr/>
        </p:nvSpPr>
        <p:spPr>
          <a:xfrm>
            <a:off x="548640" y="1143000"/>
            <a:ext cx="329184" cy="329184"/>
          </a:xfrm>
          <a:prstGeom prst="roundRect">
            <a:avLst>
              <a:gd name="adj" fmla="val 16667"/>
            </a:avLst>
          </a:prstGeom>
          <a:solidFill>
            <a:schemeClr val="accent1"/>
          </a:solidFill>
          <a:ln w="12700">
            <a:solidFill>
              <a:schemeClr val="accent1"/>
            </a:solidFill>
            <a:prstDash val="solid"/>
          </a:ln>
        </p:spPr>
      </p:sp>
      <p:sp>
        <p:nvSpPr>
          <p:cNvPr id="5" name="chip-label"/>
          <p:cNvSpPr txBox="1"/>
          <p:nvPr/>
        </p:nvSpPr>
        <p:spPr>
          <a:xfrm>
            <a:off x="548640" y="114300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1</a:t>
            </a:r>
            <a:endParaRPr lang="en-US" sz="1100" dirty="0"/>
          </a:p>
        </p:txBody>
      </p:sp>
      <p:sp>
        <p:nvSpPr>
          <p:cNvPr id="6" name="take-head"/>
          <p:cNvSpPr txBox="1"/>
          <p:nvPr/>
        </p:nvSpPr>
        <p:spPr>
          <a:xfrm>
            <a:off x="987552" y="1088136"/>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Sorting follows the news</a:t>
            </a:r>
            <a:endParaRPr lang="en-US" sz="1100" dirty="0"/>
          </a:p>
        </p:txBody>
      </p:sp>
      <p:sp>
        <p:nvSpPr>
          <p:cNvPr id="7" name="take-body"/>
          <p:cNvSpPr txBox="1"/>
          <p:nvPr/>
        </p:nvSpPr>
        <p:spPr>
          <a:xfrm>
            <a:off x="2651760" y="1088136"/>
            <a:ext cx="3474720" cy="438912"/>
          </a:xfrm>
          <a:prstGeom prst="rect">
            <a:avLst/>
          </a:prstGeom>
          <a:noFill/>
          <a:ln/>
        </p:spPr>
        <p:txBody>
          <a:bodyPr wrap="square" lIns="0" tIns="0" rIns="0" bIns="0" rtlCol="0" anchor="ctr"/>
          <a:lstStyle/>
          <a:p>
            <a:pPr indent="0" marL="0">
              <a:buNone/>
            </a:pPr>
            <a:r>
              <a:rPr lang="en-US" sz="1000" dirty="0">
                <a:solidFill>
                  <a:schemeClr val="tx1"/>
                </a:solidFill>
              </a:rPr>
              <a:t>Optimistic public news makes individualists run relatively more; pessimistic news, collectivists. 3 of 4 pre-registered tests pass, in all three bank versions.</a:t>
            </a:r>
            <a:endParaRPr lang="en-US" sz="1000" dirty="0"/>
          </a:p>
        </p:txBody>
      </p:sp>
      <p:sp>
        <p:nvSpPr>
          <p:cNvPr id="8" name="take-1"/>
          <p:cNvSpPr/>
          <p:nvPr/>
        </p:nvSpPr>
        <p:spPr>
          <a:xfrm>
            <a:off x="457200" y="1636776"/>
            <a:ext cx="5760720" cy="512064"/>
          </a:xfrm>
          <a:prstGeom prst="roundRect">
            <a:avLst>
              <a:gd name="adj" fmla="val 14286"/>
            </a:avLst>
          </a:prstGeom>
          <a:solidFill>
            <a:schemeClr val="bg2"/>
          </a:solidFill>
          <a:ln w="12700">
            <a:solidFill>
              <a:schemeClr val="bg2"/>
            </a:solidFill>
            <a:prstDash val="solid"/>
          </a:ln>
        </p:spPr>
      </p:sp>
      <p:sp>
        <p:nvSpPr>
          <p:cNvPr id="9" name="chip"/>
          <p:cNvSpPr/>
          <p:nvPr/>
        </p:nvSpPr>
        <p:spPr>
          <a:xfrm>
            <a:off x="548640" y="1728216"/>
            <a:ext cx="329184" cy="329184"/>
          </a:xfrm>
          <a:prstGeom prst="roundRect">
            <a:avLst>
              <a:gd name="adj" fmla="val 16667"/>
            </a:avLst>
          </a:prstGeom>
          <a:solidFill>
            <a:schemeClr val="accent1"/>
          </a:solidFill>
          <a:ln w="12700">
            <a:solidFill>
              <a:schemeClr val="accent1"/>
            </a:solidFill>
            <a:prstDash val="solid"/>
          </a:ln>
        </p:spPr>
      </p:sp>
      <p:sp>
        <p:nvSpPr>
          <p:cNvPr id="10" name="chip-label"/>
          <p:cNvSpPr txBox="1"/>
          <p:nvPr/>
        </p:nvSpPr>
        <p:spPr>
          <a:xfrm>
            <a:off x="548640" y="1728216"/>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2</a:t>
            </a:r>
            <a:endParaRPr lang="en-US" sz="1100" dirty="0"/>
          </a:p>
        </p:txBody>
      </p:sp>
      <p:sp>
        <p:nvSpPr>
          <p:cNvPr id="11" name="take-head"/>
          <p:cNvSpPr txBox="1"/>
          <p:nvPr/>
        </p:nvSpPr>
        <p:spPr>
          <a:xfrm>
            <a:off x="987552" y="1673352"/>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Collectivists herd</a:t>
            </a:r>
            <a:endParaRPr lang="en-US" sz="1100" dirty="0"/>
          </a:p>
        </p:txBody>
      </p:sp>
      <p:sp>
        <p:nvSpPr>
          <p:cNvPr id="12" name="take-body"/>
          <p:cNvSpPr txBox="1"/>
          <p:nvPr/>
        </p:nvSpPr>
        <p:spPr>
          <a:xfrm>
            <a:off x="2651760" y="1673352"/>
            <a:ext cx="3474720" cy="438912"/>
          </a:xfrm>
          <a:prstGeom prst="rect">
            <a:avLst/>
          </a:prstGeom>
          <a:noFill/>
          <a:ln/>
        </p:spPr>
        <p:txBody>
          <a:bodyPr wrap="square" lIns="0" tIns="0" rIns="0" bIns="0" rtlCol="0" anchor="ctr"/>
          <a:lstStyle/>
          <a:p>
            <a:pPr indent="0" marL="0">
              <a:buNone/>
            </a:pPr>
            <a:r>
              <a:rPr lang="en-US" sz="1000" dirty="0">
                <a:solidFill>
                  <a:schemeClr val="tx1"/>
                </a:solidFill>
              </a:rPr>
              <a:t>Their chance of withdrawing jumps from 0.15 to 0.93 once 20–35% of neighbours are out; individualists level off near 0.3.</a:t>
            </a:r>
            <a:endParaRPr lang="en-US" sz="1000" dirty="0"/>
          </a:p>
        </p:txBody>
      </p:sp>
      <p:sp>
        <p:nvSpPr>
          <p:cNvPr id="13" name="take-2"/>
          <p:cNvSpPr/>
          <p:nvPr/>
        </p:nvSpPr>
        <p:spPr>
          <a:xfrm>
            <a:off x="457200" y="2221992"/>
            <a:ext cx="5760720" cy="512064"/>
          </a:xfrm>
          <a:prstGeom prst="roundRect">
            <a:avLst>
              <a:gd name="adj" fmla="val 14286"/>
            </a:avLst>
          </a:prstGeom>
          <a:solidFill>
            <a:schemeClr val="bg2"/>
          </a:solidFill>
          <a:ln w="12700">
            <a:solidFill>
              <a:schemeClr val="bg2"/>
            </a:solidFill>
            <a:prstDash val="solid"/>
          </a:ln>
        </p:spPr>
      </p:sp>
      <p:sp>
        <p:nvSpPr>
          <p:cNvPr id="14" name="chip"/>
          <p:cNvSpPr/>
          <p:nvPr/>
        </p:nvSpPr>
        <p:spPr>
          <a:xfrm>
            <a:off x="548640" y="2313432"/>
            <a:ext cx="329184" cy="329184"/>
          </a:xfrm>
          <a:prstGeom prst="roundRect">
            <a:avLst>
              <a:gd name="adj" fmla="val 16667"/>
            </a:avLst>
          </a:prstGeom>
          <a:solidFill>
            <a:schemeClr val="accent1"/>
          </a:solidFill>
          <a:ln w="12700">
            <a:solidFill>
              <a:schemeClr val="accent1"/>
            </a:solidFill>
            <a:prstDash val="solid"/>
          </a:ln>
        </p:spPr>
      </p:sp>
      <p:sp>
        <p:nvSpPr>
          <p:cNvPr id="15" name="chip-label"/>
          <p:cNvSpPr txBox="1"/>
          <p:nvPr/>
        </p:nvSpPr>
        <p:spPr>
          <a:xfrm>
            <a:off x="548640" y="2313432"/>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3</a:t>
            </a:r>
            <a:endParaRPr lang="en-US" sz="1100" dirty="0"/>
          </a:p>
        </p:txBody>
      </p:sp>
      <p:sp>
        <p:nvSpPr>
          <p:cNvPr id="16" name="take-head"/>
          <p:cNvSpPr txBox="1"/>
          <p:nvPr/>
        </p:nvSpPr>
        <p:spPr>
          <a:xfrm>
            <a:off x="987552" y="2258568"/>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More individualists, fewer failures</a:t>
            </a:r>
            <a:endParaRPr lang="en-US" sz="1100" dirty="0"/>
          </a:p>
        </p:txBody>
      </p:sp>
      <p:sp>
        <p:nvSpPr>
          <p:cNvPr id="17" name="take-body"/>
          <p:cNvSpPr txBox="1"/>
          <p:nvPr/>
        </p:nvSpPr>
        <p:spPr>
          <a:xfrm>
            <a:off x="2651760" y="2258568"/>
            <a:ext cx="3474720" cy="438912"/>
          </a:xfrm>
          <a:prstGeom prst="rect">
            <a:avLst/>
          </a:prstGeom>
          <a:noFill/>
          <a:ln/>
        </p:spPr>
        <p:txBody>
          <a:bodyPr wrap="square" lIns="0" tIns="0" rIns="0" bIns="0" rtlCol="0" anchor="ctr"/>
          <a:lstStyle/>
          <a:p>
            <a:pPr indent="0" marL="0">
              <a:buNone/>
            </a:pPr>
            <a:r>
              <a:rPr lang="en-US" sz="1000" dirty="0">
                <a:solidFill>
                  <a:schemeClr val="tx1"/>
                </a:solidFill>
              </a:rPr>
              <a:t>P(fail) falls from 0.67 to 0.08 as the individualist share goes from 0 to 1. Monotone; no interior peak.</a:t>
            </a:r>
            <a:endParaRPr lang="en-US" sz="1000" dirty="0"/>
          </a:p>
        </p:txBody>
      </p:sp>
      <p:sp>
        <p:nvSpPr>
          <p:cNvPr id="18" name="take-3"/>
          <p:cNvSpPr/>
          <p:nvPr/>
        </p:nvSpPr>
        <p:spPr>
          <a:xfrm>
            <a:off x="457200" y="2807208"/>
            <a:ext cx="5760720" cy="512064"/>
          </a:xfrm>
          <a:prstGeom prst="roundRect">
            <a:avLst>
              <a:gd name="adj" fmla="val 14286"/>
            </a:avLst>
          </a:prstGeom>
          <a:solidFill>
            <a:schemeClr val="bg2"/>
          </a:solidFill>
          <a:ln w="12700">
            <a:solidFill>
              <a:schemeClr val="bg2"/>
            </a:solidFill>
            <a:prstDash val="solid"/>
          </a:ln>
        </p:spPr>
      </p:sp>
      <p:sp>
        <p:nvSpPr>
          <p:cNvPr id="19" name="chip"/>
          <p:cNvSpPr/>
          <p:nvPr/>
        </p:nvSpPr>
        <p:spPr>
          <a:xfrm>
            <a:off x="548640" y="2898648"/>
            <a:ext cx="329184" cy="329184"/>
          </a:xfrm>
          <a:prstGeom prst="roundRect">
            <a:avLst>
              <a:gd name="adj" fmla="val 16667"/>
            </a:avLst>
          </a:prstGeom>
          <a:solidFill>
            <a:schemeClr val="accent1"/>
          </a:solidFill>
          <a:ln w="12700">
            <a:solidFill>
              <a:schemeClr val="accent1"/>
            </a:solidFill>
            <a:prstDash val="solid"/>
          </a:ln>
        </p:spPr>
      </p:sp>
      <p:sp>
        <p:nvSpPr>
          <p:cNvPr id="20" name="chip-label"/>
          <p:cNvSpPr txBox="1"/>
          <p:nvPr/>
        </p:nvSpPr>
        <p:spPr>
          <a:xfrm>
            <a:off x="548640" y="2898648"/>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4</a:t>
            </a:r>
            <a:endParaRPr lang="en-US" sz="1100" dirty="0"/>
          </a:p>
        </p:txBody>
      </p:sp>
      <p:sp>
        <p:nvSpPr>
          <p:cNvPr id="21" name="take-head"/>
          <p:cNvSpPr txBox="1"/>
          <p:nvPr/>
        </p:nvSpPr>
        <p:spPr>
          <a:xfrm>
            <a:off x="987552" y="2843784"/>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Stale news cuts both ways</a:t>
            </a:r>
            <a:endParaRPr lang="en-US" sz="1100" dirty="0"/>
          </a:p>
        </p:txBody>
      </p:sp>
      <p:sp>
        <p:nvSpPr>
          <p:cNvPr id="22" name="take-body"/>
          <p:cNvSpPr txBox="1"/>
          <p:nvPr/>
        </p:nvSpPr>
        <p:spPr>
          <a:xfrm>
            <a:off x="2651760" y="2843784"/>
            <a:ext cx="3474720" cy="438912"/>
          </a:xfrm>
          <a:prstGeom prst="rect">
            <a:avLst/>
          </a:prstGeom>
          <a:noFill/>
          <a:ln/>
        </p:spPr>
        <p:txBody>
          <a:bodyPr wrap="square" lIns="0" tIns="0" rIns="0" bIns="0" rtlCol="0" anchor="ctr"/>
          <a:lstStyle/>
          <a:p>
            <a:pPr indent="0" marL="0">
              <a:buNone/>
            </a:pPr>
            <a:r>
              <a:rPr lang="en-US" sz="1000" dirty="0">
                <a:solidFill>
                  <a:schemeClr val="tx1"/>
                </a:solidFill>
              </a:rPr>
              <a:t>A stale optimistic signal halves failure, a stale pessimistic one raises it by half. Accurate news barely moves it.</a:t>
            </a:r>
            <a:endParaRPr lang="en-US" sz="1000" dirty="0"/>
          </a:p>
        </p:txBody>
      </p:sp>
      <p:sp>
        <p:nvSpPr>
          <p:cNvPr id="23" name="take-4"/>
          <p:cNvSpPr/>
          <p:nvPr/>
        </p:nvSpPr>
        <p:spPr>
          <a:xfrm>
            <a:off x="457200" y="3392424"/>
            <a:ext cx="5760720" cy="512064"/>
          </a:xfrm>
          <a:prstGeom prst="roundRect">
            <a:avLst>
              <a:gd name="adj" fmla="val 14286"/>
            </a:avLst>
          </a:prstGeom>
          <a:solidFill>
            <a:schemeClr val="bg2"/>
          </a:solidFill>
          <a:ln w="12700">
            <a:solidFill>
              <a:schemeClr val="bg2"/>
            </a:solidFill>
            <a:prstDash val="solid"/>
          </a:ln>
        </p:spPr>
      </p:sp>
      <p:sp>
        <p:nvSpPr>
          <p:cNvPr id="24" name="chip"/>
          <p:cNvSpPr/>
          <p:nvPr/>
        </p:nvSpPr>
        <p:spPr>
          <a:xfrm>
            <a:off x="548640" y="3483864"/>
            <a:ext cx="329184" cy="329184"/>
          </a:xfrm>
          <a:prstGeom prst="roundRect">
            <a:avLst>
              <a:gd name="adj" fmla="val 16667"/>
            </a:avLst>
          </a:prstGeom>
          <a:solidFill>
            <a:schemeClr val="accent1"/>
          </a:solidFill>
          <a:ln w="12700">
            <a:solidFill>
              <a:schemeClr val="accent1"/>
            </a:solidFill>
            <a:prstDash val="solid"/>
          </a:ln>
        </p:spPr>
      </p:sp>
      <p:sp>
        <p:nvSpPr>
          <p:cNvPr id="25" name="chip-label"/>
          <p:cNvSpPr txBox="1"/>
          <p:nvPr/>
        </p:nvSpPr>
        <p:spPr>
          <a:xfrm>
            <a:off x="548640" y="3483864"/>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5</a:t>
            </a:r>
            <a:endParaRPr lang="en-US" sz="1100" dirty="0"/>
          </a:p>
        </p:txBody>
      </p:sp>
      <p:sp>
        <p:nvSpPr>
          <p:cNvPr id="26" name="take-head"/>
          <p:cNvSpPr txBox="1"/>
          <p:nvPr/>
        </p:nvSpPr>
        <p:spPr>
          <a:xfrm>
            <a:off x="987552" y="3429000"/>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Capping the largest deposits</a:t>
            </a:r>
            <a:endParaRPr lang="en-US" sz="1100" dirty="0"/>
          </a:p>
        </p:txBody>
      </p:sp>
      <p:sp>
        <p:nvSpPr>
          <p:cNvPr id="27" name="take-body"/>
          <p:cNvSpPr txBox="1"/>
          <p:nvPr/>
        </p:nvSpPr>
        <p:spPr>
          <a:xfrm>
            <a:off x="2651760" y="3429000"/>
            <a:ext cx="3474720" cy="438912"/>
          </a:xfrm>
          <a:prstGeom prst="rect">
            <a:avLst/>
          </a:prstGeom>
          <a:noFill/>
          <a:ln/>
        </p:spPr>
        <p:txBody>
          <a:bodyPr wrap="square" lIns="0" tIns="0" rIns="0" bIns="0" rtlCol="0" anchor="ctr"/>
          <a:lstStyle/>
          <a:p>
            <a:pPr indent="0" marL="0">
              <a:buNone/>
            </a:pPr>
            <a:r>
              <a:rPr lang="en-US" sz="1000" dirty="0">
                <a:solidFill>
                  <a:schemeClr val="tx1"/>
                </a:solidFill>
              </a:rPr>
              <a:t>A 1% cap brings failure down to the no-concentration bank’s level; the culture gradient is unchanged.</a:t>
            </a:r>
            <a:endParaRPr lang="en-US" sz="1000" dirty="0"/>
          </a:p>
        </p:txBody>
      </p:sp>
      <p:sp>
        <p:nvSpPr>
          <p:cNvPr id="28" name="take-5"/>
          <p:cNvSpPr/>
          <p:nvPr/>
        </p:nvSpPr>
        <p:spPr>
          <a:xfrm>
            <a:off x="457200" y="3977640"/>
            <a:ext cx="5760720" cy="512064"/>
          </a:xfrm>
          <a:prstGeom prst="roundRect">
            <a:avLst>
              <a:gd name="adj" fmla="val 14286"/>
            </a:avLst>
          </a:prstGeom>
          <a:solidFill>
            <a:schemeClr val="accent4"/>
          </a:solidFill>
          <a:ln w="12700">
            <a:solidFill>
              <a:schemeClr val="accent4"/>
            </a:solidFill>
            <a:prstDash val="solid"/>
          </a:ln>
        </p:spPr>
      </p:sp>
      <p:sp>
        <p:nvSpPr>
          <p:cNvPr id="29" name="chip"/>
          <p:cNvSpPr/>
          <p:nvPr/>
        </p:nvSpPr>
        <p:spPr>
          <a:xfrm>
            <a:off x="548640" y="4069080"/>
            <a:ext cx="329184" cy="329184"/>
          </a:xfrm>
          <a:prstGeom prst="roundRect">
            <a:avLst>
              <a:gd name="adj" fmla="val 16667"/>
            </a:avLst>
          </a:prstGeom>
          <a:solidFill>
            <a:schemeClr val="accent2"/>
          </a:solidFill>
          <a:ln w="12700">
            <a:solidFill>
              <a:schemeClr val="accent2"/>
            </a:solidFill>
            <a:prstDash val="solid"/>
          </a:ln>
        </p:spPr>
      </p:sp>
      <p:sp>
        <p:nvSpPr>
          <p:cNvPr id="30" name="chip-label"/>
          <p:cNvSpPr txBox="1"/>
          <p:nvPr/>
        </p:nvSpPr>
        <p:spPr>
          <a:xfrm>
            <a:off x="548640" y="406908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6</a:t>
            </a:r>
            <a:endParaRPr lang="en-US" sz="1100" dirty="0"/>
          </a:p>
        </p:txBody>
      </p:sp>
      <p:sp>
        <p:nvSpPr>
          <p:cNvPr id="31" name="take-head"/>
          <p:cNvSpPr txBox="1"/>
          <p:nvPr/>
        </p:nvSpPr>
        <p:spPr>
          <a:xfrm>
            <a:off x="987552" y="4014216"/>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Not yet matched</a:t>
            </a:r>
            <a:endParaRPr lang="en-US" sz="1100" dirty="0"/>
          </a:p>
        </p:txBody>
      </p:sp>
      <p:sp>
        <p:nvSpPr>
          <p:cNvPr id="32" name="take-body"/>
          <p:cNvSpPr txBox="1"/>
          <p:nvPr/>
        </p:nvSpPr>
        <p:spPr>
          <a:xfrm>
            <a:off x="2651760" y="4014216"/>
            <a:ext cx="3474720" cy="438912"/>
          </a:xfrm>
          <a:prstGeom prst="rect">
            <a:avLst/>
          </a:prstGeom>
          <a:noFill/>
          <a:ln/>
        </p:spPr>
        <p:txBody>
          <a:bodyPr wrap="square" lIns="0" tIns="0" rIns="0" bIns="0" rtlCol="0" anchor="ctr"/>
          <a:lstStyle/>
          <a:p>
            <a:pPr indent="0" marL="0">
              <a:buNone/>
            </a:pPr>
            <a:r>
              <a:rPr lang="en-US" sz="1000" dirty="0">
                <a:solidFill>
                  <a:schemeClr val="tx1"/>
                </a:solidFill>
              </a:rPr>
              <a:t>How Celsius’s largest depositors exit: one-shot share 0.35 there, 0.93 or more in the model.</a:t>
            </a:r>
            <a:endParaRPr lang="en-US" sz="1000" dirty="0"/>
          </a:p>
        </p:txBody>
      </p:sp>
      <p:sp>
        <p:nvSpPr>
          <p:cNvPr id="33" name="next"/>
          <p:cNvSpPr/>
          <p:nvPr/>
        </p:nvSpPr>
        <p:spPr>
          <a:xfrm>
            <a:off x="6400800" y="1051560"/>
            <a:ext cx="2286000" cy="3438144"/>
          </a:xfrm>
          <a:prstGeom prst="roundRect">
            <a:avLst>
              <a:gd name="adj" fmla="val 3200"/>
            </a:avLst>
          </a:prstGeom>
          <a:solidFill>
            <a:schemeClr val="bg2"/>
          </a:solidFill>
          <a:ln w="12700">
            <a:solidFill>
              <a:schemeClr val="bg2"/>
            </a:solidFill>
            <a:prstDash val="solid"/>
          </a:ln>
        </p:spPr>
      </p:sp>
      <p:sp>
        <p:nvSpPr>
          <p:cNvPr id="34" name="next-head"/>
          <p:cNvSpPr txBox="1"/>
          <p:nvPr/>
        </p:nvSpPr>
        <p:spPr>
          <a:xfrm>
            <a:off x="6537960" y="1143000"/>
            <a:ext cx="2011680" cy="320040"/>
          </a:xfrm>
          <a:prstGeom prst="rect">
            <a:avLst/>
          </a:prstGeom>
          <a:noFill/>
          <a:ln/>
        </p:spPr>
        <p:txBody>
          <a:bodyPr wrap="square" lIns="0" tIns="0" rIns="0" bIns="0" rtlCol="0" anchor="ctr"/>
          <a:lstStyle/>
          <a:p>
            <a:pPr indent="0" marL="0">
              <a:buNone/>
            </a:pPr>
            <a:r>
              <a:rPr lang="en-US" sz="1300" b="1" dirty="0">
                <a:solidFill>
                  <a:schemeClr val="tx2"/>
                </a:solidFill>
              </a:rPr>
              <a:t>Next steps</a:t>
            </a:r>
            <a:endParaRPr lang="en-US" sz="1300" dirty="0"/>
          </a:p>
        </p:txBody>
      </p:sp>
      <p:sp>
        <p:nvSpPr>
          <p:cNvPr id="35" name="bullets"/>
          <p:cNvSpPr txBox="1"/>
          <p:nvPr/>
        </p:nvSpPr>
        <p:spPr>
          <a:xfrm>
            <a:off x="6537960" y="1508760"/>
            <a:ext cx="2011680" cy="2926080"/>
          </a:xfrm>
          <a:prstGeom prst="rect">
            <a:avLst/>
          </a:prstGeom>
          <a:noFill/>
          <a:ln/>
        </p:spPr>
        <p:txBody>
          <a:bodyPr wrap="square" lIns="0" tIns="0" rIns="0" bIns="0" rtlCol="0" anchor="t"/>
          <a:lstStyle/>
          <a:p>
            <a:pPr marL="177800" indent="-177800">
              <a:spcAft>
                <a:spcPts val="700"/>
              </a:spcAft>
              <a:buSzPct val="100000"/>
              <a:buChar char="•"/>
            </a:pPr>
            <a:r>
              <a:rPr lang="en-US" sz="1100" dirty="0">
                <a:solidFill>
                  <a:schemeClr val="tx1"/>
                </a:solidFill>
              </a:rPr>
              <a:t>Super-individuals, to match how the largest depositors exit (Chapter 2 docking)</a:t>
            </a:r>
            <a:endParaRPr lang="en-US" sz="1100" dirty="0"/>
          </a:p>
          <a:p>
            <a:pPr marL="177800" indent="-177800">
              <a:spcAft>
                <a:spcPts val="700"/>
              </a:spcAft>
              <a:buSzPct val="100000"/>
              <a:buChar char="•"/>
            </a:pPr>
            <a:r>
              <a:rPr lang="en-US" sz="1100" dirty="0">
                <a:solidFill>
                  <a:schemeClr val="tx1"/>
                </a:solidFill>
              </a:rPr>
              <a:t>Deposit insurance and the reserve ratio on the fire-sale bank</a:t>
            </a:r>
            <a:endParaRPr lang="en-US" sz="1100" dirty="0"/>
          </a:p>
          <a:p>
            <a:pPr marL="177800" indent="-177800">
              <a:spcAft>
                <a:spcPts val="700"/>
              </a:spcAft>
              <a:buSzPct val="100000"/>
              <a:buChar char="•"/>
            </a:pPr>
            <a:r>
              <a:rPr lang="en-US" sz="1100" dirty="0">
                <a:solidFill>
                  <a:schemeClr val="tx1"/>
                </a:solidFill>
              </a:rPr>
              <a:t>Network topology and learning</a:t>
            </a:r>
            <a:endParaRPr lang="en-US" sz="1100" dirty="0"/>
          </a:p>
          <a:p>
            <a:pPr marL="177800" indent="-177800">
              <a:spcAft>
                <a:spcPts val="700"/>
              </a:spcAft>
              <a:buSzPct val="100000"/>
              <a:buChar char="•"/>
            </a:pPr>
            <a:r>
              <a:rPr lang="en-US" sz="1100" dirty="0">
                <a:solidFill>
                  <a:schemeClr val="tx1"/>
                </a:solidFill>
              </a:rPr>
              <a:t>Full sweep: stale public signal plus no-signal baseline, CARA 0.1, σ reported</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lIns="0" tIns="0" rIns="0" bIns="0" rtlCol="0" anchor="ctr"/>
          <a:lstStyle/>
          <a:p>
            <a:pPr algn="l" indent="0" marL="0">
              <a:buNone/>
            </a:pPr>
            <a:r>
              <a:rPr lang="en-US" sz="3200" b="1" dirty="0">
                <a:solidFill>
                  <a:schemeClr val="bg1"/>
                </a:solidFill>
              </a:rPr>
              <a:t>Backup</a:t>
            </a:r>
            <a:endParaRPr lang="en-US" sz="3200" dirty="0"/>
          </a:p>
        </p:txBody>
      </p:sp>
      <p:sp>
        <p:nvSpPr>
          <p:cNvPr id="3" name="Text 0"/>
          <p:cNvSpPr/>
          <p:nvPr>
            <p:ph idx="101" type="body" hasCustomPrompt="1"/>
          </p:nvPr>
        </p:nvSpPr>
        <p:spPr>
          <a:xfrm>
            <a:off x="548640" y="2971800"/>
            <a:ext cx="8046720" cy="731520"/>
          </a:xfrm>
          <a:prstGeom prst="rect">
            <a:avLst/>
          </a:prstGeom>
          <a:noFill/>
          <a:ln/>
        </p:spPr>
        <p:txBody>
          <a:bodyPr wrap="square" lIns="0" tIns="0" rIns="0" bIns="0" rtlCol="0" anchor="t"/>
          <a:lstStyle/>
          <a:p>
            <a:pPr indent="0" marL="0">
              <a:buNone/>
            </a:pPr>
            <a:r>
              <a:rPr lang="en-US" sz="1600" dirty="0">
                <a:solidFill>
                  <a:schemeClr val="accent4"/>
                </a:solidFill>
              </a:rPr>
              <a:t>Technical versions of the exhibits, the pre-registered tests, channels, and the Celsius docking gap.</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Who withdraws, by type and mix</a:t>
            </a:r>
            <a:endParaRPr lang="en-US" sz="2400" dirty="0"/>
          </a:p>
        </p:txBody>
      </p:sp>
      <p:pic>
        <p:nvPicPr>
          <p:cNvPr id="3" name="e06" descr="Share who withdraw by individualist share, three panels by lambda pair: collectivists above individualists at every mixed share for the two wide gaps.">    </p:cNvPr>
          <p:cNvPicPr>
            <a:picLocks noChangeAspect="1"/>
          </p:cNvPicPr>
          <p:nvPr/>
        </p:nvPicPr>
        <p:blipFill>
          <a:blip r:embed="rId1"/>
          <a:stretch>
            <a:fillRect/>
          </a:stretch>
        </p:blipFill>
        <p:spPr>
          <a:xfrm>
            <a:off x="512064" y="1051560"/>
            <a:ext cx="8119872"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Share who withdraw by individualist share μ, one panel per λ pair; orange individualists, blue collectivists, with CIs.</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pre-registered tests, three versions of the bank</a:t>
            </a:r>
            <a:endParaRPr lang="en-US" sz="2400" dirty="0"/>
          </a:p>
        </p:txBody>
      </p:sp>
      <p:pic>
        <p:nvPicPr>
          <p:cNvPr id="3" name="e03" descr="Forest plot of five tests (G1', G4', G2a', G3, G3c) across three bank versions with pooled estimates and per-pair markers.">    </p:cNvPr>
          <p:cNvPicPr>
            <a:picLocks noChangeAspect="1"/>
          </p:cNvPicPr>
          <p:nvPr/>
        </p:nvPicPr>
        <p:blipFill>
          <a:blip r:embed="rId1"/>
          <a:stretch>
            <a:fillRect/>
          </a:stretch>
        </p:blipFill>
        <p:spPr>
          <a:xfrm>
            <a:off x="882533" y="1051560"/>
            <a:ext cx="7378934"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G1′, G4′, G2a′, G3 and G3c (post hoc). Rows: risk-neutral all-or-nothing, CARA partial, capped reference bank. Filled dot: pooled; hollow: each λ pair. Shaded: Chapter 1’s predicted sign.</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Which channel carries culture</a:t>
            </a:r>
            <a:endParaRPr lang="en-US" sz="2400" dirty="0"/>
          </a:p>
        </p:txBody>
      </p:sp>
      <p:pic>
        <p:nvPicPr>
          <p:cNvPr id="3" name="e09" descr="Who runs in failed runs with optimistic news when lambda applies only to the neighbour blend, only to the news blend, or both: positive, negative, small positive.">    </p:cNvPr>
          <p:cNvPicPr>
            <a:picLocks noChangeAspect="1"/>
          </p:cNvPicPr>
          <p:nvPr/>
        </p:nvPicPr>
        <p:blipFill>
          <a:blip r:embed="rId1"/>
          <a:stretch>
            <a:fillRect/>
          </a:stretch>
        </p:blipFill>
        <p:spPr>
          <a:xfrm>
            <a:off x="1547348" y="1051560"/>
            <a:ext cx="6049305"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D in failed runs with optimistic news, when λ weights only the neighbour blend, only the news blend, or both (the model). θ-blend only +0.14; head-count only −0.07; both +0.02.</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Matching Celsius: how large depositors exit</a:t>
            </a:r>
            <a:endParaRPr lang="en-US" sz="2400" dirty="0"/>
          </a:p>
        </p:txBody>
      </p:sp>
      <p:pic>
        <p:nvPicPr>
          <p:cNvPr id="3" name="e04" descr="Share of exits that withdraw everything at once by depositor size: Celsius falls from about 0.86 to 0.35 for the largest; the model stays at 0.93 to 1.">    </p:cNvPr>
          <p:cNvPicPr>
            <a:picLocks noChangeAspect="1"/>
          </p:cNvPicPr>
          <p:nvPr/>
        </p:nvPicPr>
        <p:blipFill>
          <a:blip r:embed="rId1"/>
          <a:stretch>
            <a:fillRect/>
          </a:stretch>
        </p:blipFill>
        <p:spPr>
          <a:xfrm>
            <a:off x="1882292" y="1051560"/>
            <a:ext cx="5379415"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Share of exits that withdraw everything at once, by depositor size. Black: Celsius (band for D1–D5); greys: the model, uncapped and capped.</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Earlier specification (vault bank): failure by mix</a:t>
            </a:r>
            <a:endParaRPr lang="en-US" sz="2400" dirty="0"/>
          </a:p>
        </p:txBody>
      </p:sp>
      <p:pic>
        <p:nvPicPr>
          <p:cNvPr id="3" name="fig1" descr="Earlier vault-bank specification: probability of a run falls with the share of individualists for all three signal-weighting gaps.">    </p:cNvPr>
          <p:cNvPicPr>
            <a:picLocks noChangeAspect="1"/>
          </p:cNvPicPr>
          <p:nvPr/>
        </p:nvPicPr>
        <p:blipFill>
          <a:blip r:embed="rId1"/>
          <a:stretch>
            <a:fillRect/>
          </a:stretch>
        </p:blipFill>
        <p:spPr>
          <a:xfrm>
            <a:off x="1999016" y="1051560"/>
            <a:ext cx="5145969"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Vault bank, earlier specification (chapter Figure 1): probability of a run by share of individualists, three λ gaps. Also monotone.</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Bank Run Talk">
  <a:themeElements>
    <a:clrScheme name="Bank Run Talk">
      <a:dk1>
        <a:srgbClr val="1F2937"/>
      </a:dk1>
      <a:lt1>
        <a:srgbClr val="FFFFFF"/>
      </a:lt1>
      <a:dk2>
        <a:srgbClr val="16213E"/>
      </a:dk2>
      <a:lt2>
        <a:srgbClr val="EEF2F9"/>
      </a:lt2>
      <a:accent1>
        <a:srgbClr val="3B6BB5"/>
      </a:accent1>
      <a:accent2>
        <a:srgbClr val="C9502E"/>
      </a:accent2>
      <a:accent3>
        <a:srgbClr val="6B7280"/>
      </a:accent3>
      <a:accent4>
        <a:srgbClr val="D9E3F3"/>
      </a:accent4>
      <a:accent5>
        <a:srgbClr val="2E7D5B"/>
      </a:accent5>
      <a:accent6>
        <a:srgbClr val="E08A2E"/>
      </a:accent6>
      <a:hlink>
        <a:srgbClr val="3B6BB5"/>
      </a:hlink>
      <a:folHlink>
        <a:srgbClr val="6B7280"/>
      </a:folHlink>
    </a:clrScheme>
    <a:fontScheme name="Bank Run Tal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bank run model for the twentieth century</dc:title>
  <dc:subject>PptxGenJS Presentation</dc:subject>
  <dc:creator>Walter Stover</dc:creator>
  <cp:lastModifiedBy>Walter Stover</cp:lastModifiedBy>
  <cp:revision>1</cp:revision>
  <dcterms:created xsi:type="dcterms:W3CDTF">2026-10-26T03:31:01Z</dcterms:created>
  <dcterms:modified xsi:type="dcterms:W3CDTF">2026-10-26T03:31:01Z</dcterms:modified>
</cp:coreProperties>
</file>