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49ee837-bfee-fd69-b4cc-5daac7405823}">
          <p14:sldIdLst>
            <p14:sldId id="256"/>
            <p14:sldId id="257"/>
            <p14:sldId id="258"/>
            <p14:sldId id="259"/>
            <p14:sldId id="260"/>
            <p14:sldId id="261"/>
            <p14:sldId id="262"/>
            <p14:sldId id="263"/>
            <p14:sldId id="264"/>
          </p14:sldIdLst>
        </p14:section>
        <p14:section name="The model" id="{f54b7945-b27d-90d7-54c4-776168f161eb}">
          <p14:sldIdLst>
            <p14:sldId id="265"/>
            <p14:sldId id="266"/>
          </p14:sldIdLst>
        </p14:section>
        <p14:section name="Results" id="{28d41edb-9045-168b-84c7-c226ea5a5d30}">
          <p14:sldIdLst>
            <p14:sldId id="267"/>
            <p14:sldId id="268"/>
            <p14:sldId id="269"/>
            <p14:sldId id="270"/>
          </p14:sldIdLst>
        </p14:section>
        <p14:section name="Validation" id="{b31626ba-d5d1-1804-bd31-09af4f60edad}">
          <p14:sldIdLst>
            <p14:sldId id="271"/>
          </p14:sldIdLst>
        </p14:section>
        <p14:section name="Close" id="{eb02f48d-9578-4977-2b96-19f9b95b1548}">
          <p14:sldIdLst>
            <p14:sldId id="272"/>
          </p14:sldIdLst>
        </p14:section>
        <p14:section name="Backup" id="{cb5a5549-3c60-3396-0be1-811bd6396036}">
          <p14:sldIdLst>
            <p14:sldId id="273"/>
            <p14:sldId id="274"/>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title is the chapter title; change for the seminar if you like. ~0.5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third question is latent in the canonical theory because those models have one signal. It becomes askable once a public signal is added, which the global-games literature did in the early 2000s. It is exactly the question a panic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If asked how the theory answers the third question: the public-signal global games answer it with the Bayesian precision ratio, the weight on y is tau_y over tau_x plus tau_y, the same for everyone and vanishing as private information sharpens; so any sorting between depositors is noise and official communication stops mattering just when depositors pay most attention. (Slide dropped for this audience.) The cases: in each one the public line and private evidence are in open disagreement, the weights do not vanish, and the interesting fact is who moved on which. Chapter 3's stale public signal is the general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Where the three chapters sit on the through-line. Then the ladder as the recap, then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Why Chapter 3 is a simulation. Chapter 1 relaxed the Bayesian precision answer and kept the rest of Goldstein-Pauzner so the threshold equilibrium survives. The ABM varies the signal, location and interpretation together, plus the incentive side, which no closed-form model could carry; that is what lets the channel decomposition (lambda on the neighbour blend vs the news blend) be measured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ladder: variation in the signal (Goldstein-Pauzner: same signal technology, different draws, which selects the equilibrium), variation in location (who hears it, from whom, when: Kelly-O Grada, Iyer-Puri, Cookson et al.), variation in interpretation (the same two signals, different dispositional weights; culture is the stable source). Rung 1 orders depositors by luck, rung 2 by position, rung 3 by who they are, and only rung 3 predicts that the order flips with the sign of the public error. Nearest cousins to acknowledge if asked: Izmalkov-Yildiz 2010 (heterogeneous priors), He-Manela 2016 (information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 = 1,000 depositors on a small-world network; one bank that sells assets at a discount when cash runs short (fire-sale bank). Each tick a depositor sees neighbours' withdrawals and the public news, blends them with a private signal, and withdraws if that pays. Reference bank: deposits log-normal (sigma 2.5), each capped at 1% of the total; CARA 0.1; partial withdrawals allowed. The diagram is the technical ODD overview: walk the right-hand column (warm-up, world, shock, tick loop) and skip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types withdraw less as mu rises; collectivists above individualists at every mixed mu for the two wide gaps; nearly identical at (0.3, 0.5). Technical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r1k pooled: G1' +0.033, G4' -0.031, G2a' +0.093, all Holm-significant; G2b ordering holds. G3 +0.0034 pooled but (0.3, 0.5) wrong-signed in every bank -&gt; counts against. G3c (post hoc, channel-isolated) +0.019, right-signed in every pair. 3 of 4 confirmatory tests support, in all three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Theta-blend only: +0.14 (Ch 1's sign). Head-count only: -0.07 (opposite). Both: +0.02. The two channels pull in opposite directions; Ch 1's sign survives, damped by herding.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Celsius falls from ~0.86 (D1–D5 band 0.82–0.90) to 0.35 (top 0.1%); the ABM stays at 0.93–1.00. The model does not yet reproduce how large depositors exit. Next: super-individuals.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Vault bank, earlier specification (chapter Fig 1). For questions about Ch 1's P6. This figure is also monotone decreasing: P6 (non-monotonic fragility) was predicted in Ch 1 and found in neither bank; the P6b placebo hump was null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 bank run model for the twentieth century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 bank run model for the twentieth century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Who runs, and how a run spreads: an agent-based test of the theory</a:t>
            </a:r>
            <a:endParaRPr lang="en-US" sz="1800" dirty="0"/>
          </a:p>
          <a:p>
            <a:pPr indent="0" marL="0">
              <a:buNone/>
            </a:pPr>
            <a:r>
              <a:rPr lang="en-US" sz="1400" dirty="0">
                <a:solidFill>
                  <a:schemeClr val="accent3"/>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With two signals, a third question appears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Which signal does a depositor act on, and in what proportion?</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Latent in the canonical models. </a:t>
            </a:r>
            <a:pPr indent="0" marL="0">
              <a:spcAft>
                <a:spcPts val="900"/>
              </a:spcAft>
              <a:buNone/>
            </a:pPr>
            <a:r>
              <a:rPr lang="en-US" sz="1400" dirty="0">
                <a:solidFill>
                  <a:schemeClr val="tx1"/>
                </a:solidFill>
              </a:rPr>
              <a:t>Diamond–Dybvig has no signal; Morris–Shin and Goldstein–Pauzner have one. The question cannot arise.</a:t>
            </a:r>
            <a:endParaRPr lang="en-US" sz="1400" dirty="0"/>
          </a:p>
          <a:p>
            <a:pPr marL="177800" indent="-177800">
              <a:spcAft>
                <a:spcPts val="900"/>
              </a:spcAft>
              <a:buSzPct val="100000"/>
              <a:buChar char="•"/>
            </a:pPr>
            <a:r>
              <a:rPr lang="en-US" sz="1400" b="1" dirty="0">
                <a:solidFill>
                  <a:schemeClr val="tx1"/>
                </a:solidFill>
              </a:rPr>
              <a:t>Askable once a public signal is added. </a:t>
            </a:r>
            <a:pPr indent="0" marL="0">
              <a:spcAft>
                <a:spcPts val="900"/>
              </a:spcAft>
              <a:buNone/>
            </a:pPr>
            <a:r>
              <a:rPr lang="en-US" sz="1400" dirty="0">
                <a:solidFill>
                  <a:schemeClr val="tx1"/>
                </a:solidFill>
              </a:rPr>
              <a:t>Morris–Shin (2002), Hellwig (2002), Angeletos–Werning (2006) put a public signal next to the private one.</a:t>
            </a:r>
            <a:endParaRPr lang="en-US" sz="1400" dirty="0"/>
          </a:p>
          <a:p>
            <a:pPr marL="177800" indent="-177800">
              <a:spcAft>
                <a:spcPts val="900"/>
              </a:spcAft>
              <a:buSzPct val="100000"/>
              <a:buChar char="•"/>
            </a:pPr>
            <a:r>
              <a:rPr lang="en-US" sz="1400" b="1" dirty="0">
                <a:solidFill>
                  <a:schemeClr val="tx1"/>
                </a:solidFill>
              </a:rPr>
              <a:t>The question a panic poses. </a:t>
            </a:r>
            <a:pPr indent="0" marL="0">
              <a:spcAft>
                <a:spcPts val="900"/>
              </a:spcAft>
              <a:buNone/>
            </a:pPr>
            <a:r>
              <a:rPr lang="en-US" sz="1400" dirty="0">
                <a:solidFill>
                  <a:schemeClr val="tx1"/>
                </a:solidFill>
              </a:rPr>
              <a:t>A depositor in a run holds two things that disagree: what they see and what they are told.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What panics look like</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Panics are open disagreements between the public line and private evidence, and depositors split on which to trust.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Celsius, 2022. </a:t>
            </a:r>
            <a:pPr indent="0" marL="0">
              <a:spcAft>
                <a:spcPts val="900"/>
              </a:spcAft>
              <a:buNone/>
            </a:pPr>
            <a:r>
              <a:rPr lang="en-US" sz="1400" dirty="0">
                <a:solidFill>
                  <a:schemeClr val="tx1"/>
                </a:solidFill>
              </a:rPr>
              <a:t>Official posts insisting the platform was sound, while CEL fell and withdrawals accelerated.</a:t>
            </a:r>
            <a:endParaRPr lang="en-US" sz="1400" dirty="0"/>
          </a:p>
          <a:p>
            <a:pPr marL="177800" indent="-177800">
              <a:spcAft>
                <a:spcPts val="900"/>
              </a:spcAft>
              <a:buSzPct val="100000"/>
              <a:buChar char="•"/>
            </a:pPr>
            <a:r>
              <a:rPr lang="en-US" sz="1400" b="1" dirty="0">
                <a:solidFill>
                  <a:schemeClr val="tx1"/>
                </a:solidFill>
              </a:rPr>
              <a:t>Silicon Valley Bank, 2023. </a:t>
            </a:r>
            <a:pPr indent="0" marL="0">
              <a:spcAft>
                <a:spcPts val="900"/>
              </a:spcAft>
              <a:buNone/>
            </a:pPr>
            <a:r>
              <a:rPr lang="en-US" sz="1400" dirty="0">
                <a:solidFill>
                  <a:schemeClr val="tx1"/>
                </a:solidFill>
              </a:rPr>
              <a:t>A call asking clients to stay calm, against a Twitter feed saying the opposite.</a:t>
            </a:r>
            <a:endParaRPr lang="en-US" sz="1400" dirty="0"/>
          </a:p>
          <a:p>
            <a:pPr marL="177800" indent="-177800">
              <a:spcAft>
                <a:spcPts val="900"/>
              </a:spcAft>
              <a:buSzPct val="100000"/>
              <a:buChar char="•"/>
            </a:pPr>
            <a:r>
              <a:rPr lang="en-US" sz="1400" b="1" dirty="0">
                <a:solidFill>
                  <a:schemeClr val="tx1"/>
                </a:solidFill>
              </a:rPr>
              <a:t>Northern Rock, 2007. </a:t>
            </a:r>
            <a:pPr indent="0" marL="0">
              <a:spcAft>
                <a:spcPts val="900"/>
              </a:spcAft>
              <a:buNone/>
            </a:pPr>
            <a:r>
              <a:rPr lang="en-US" sz="1400" dirty="0">
                <a:solidFill>
                  <a:schemeClr val="tx1"/>
                </a:solidFill>
              </a:rPr>
              <a:t>A Bank of England support announcement, against queues outside the branches.</a:t>
            </a:r>
            <a:endParaRPr lang="en-US" sz="1400" dirty="0"/>
          </a:p>
        </p:txBody>
      </p:sp>
      <p:sp>
        <p:nvSpPr>
          <p:cNvPr id="5" name="step-foot"/>
          <p:cNvSpPr txBox="1"/>
          <p:nvPr/>
        </p:nvSpPr>
        <p:spPr>
          <a:xfrm>
            <a:off x="457200" y="4251960"/>
            <a:ext cx="8229600" cy="320040"/>
          </a:xfrm>
          <a:prstGeom prst="rect">
            <a:avLst/>
          </a:prstGeom>
          <a:noFill/>
          <a:ln/>
        </p:spPr>
        <p:txBody>
          <a:bodyPr wrap="square" lIns="0" tIns="0" rIns="0" bIns="0" rtlCol="0" anchor="ctr"/>
          <a:lstStyle/>
          <a:p>
            <a:pPr indent="0" marL="0">
              <a:buNone/>
            </a:pPr>
            <a:r>
              <a:rPr lang="en-US" sz="1100" i="1" dirty="0">
                <a:solidFill>
                  <a:schemeClr val="accent3"/>
                </a:solidFill>
              </a:rPr>
              <a:t>In each case the interesting fact is who moved on which signal.</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What this dissertation does with it</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The weight is the depositor’s psychological characteristic; culture is the population-level source.</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Chapter 1 formalises it. </a:t>
            </a:r>
            <a:pPr indent="0" marL="0">
              <a:spcAft>
                <a:spcPts val="900"/>
              </a:spcAft>
              <a:buNone/>
            </a:pPr>
            <a:r>
              <a:rPr lang="en-US" sz="1400" dirty="0">
                <a:solidFill>
                  <a:schemeClr val="tx1"/>
                </a:solidFill>
              </a:rPr>
              <a:t>A stale public signal and heterogeneous dispositional weights inside Goldstein–Pauzner. Prediction: which type runs reverses with the sign of the public error.</a:t>
            </a:r>
            <a:endParaRPr lang="en-US" sz="1400" dirty="0"/>
          </a:p>
          <a:p>
            <a:pPr marL="177800" indent="-177800">
              <a:spcAft>
                <a:spcPts val="900"/>
              </a:spcAft>
              <a:buSzPct val="100000"/>
              <a:buChar char="•"/>
            </a:pPr>
            <a:r>
              <a:rPr lang="en-US" sz="1400" b="1" dirty="0">
                <a:solidFill>
                  <a:schemeClr val="tx1"/>
                </a:solidFill>
              </a:rPr>
              <a:t>Chapter 2 observes it once. </a:t>
            </a:r>
            <a:pPr indent="0" marL="0">
              <a:spcAft>
                <a:spcPts val="900"/>
              </a:spcAft>
              <a:buNone/>
            </a:pPr>
            <a:r>
              <a:rPr lang="en-US" sz="1400" dirty="0">
                <a:solidFill>
                  <a:schemeClr val="tx1"/>
                </a:solidFill>
              </a:rPr>
              <a:t>Celsius: individualism predicts direction and timing within platform and within ancestral origin, and which public signals depositors act on.</a:t>
            </a:r>
            <a:endParaRPr lang="en-US" sz="1400" dirty="0"/>
          </a:p>
          <a:p>
            <a:pPr marL="177800" indent="-177800">
              <a:spcAft>
                <a:spcPts val="900"/>
              </a:spcAft>
              <a:buSzPct val="100000"/>
              <a:buChar char="•"/>
            </a:pPr>
            <a:r>
              <a:rPr lang="en-US" sz="1400" b="1" dirty="0">
                <a:solidFill>
                  <a:schemeClr val="tx1"/>
                </a:solidFill>
              </a:rPr>
              <a:t>Chapter 3 varies it. </a:t>
            </a:r>
            <a:pPr indent="0" marL="0">
              <a:spcAft>
                <a:spcPts val="900"/>
              </a:spcAft>
              <a:buNone/>
            </a:pPr>
            <a:r>
              <a:rPr lang="en-US" sz="1400" dirty="0">
                <a:solidFill>
                  <a:schemeClr val="tx1"/>
                </a:solidFill>
              </a:rPr>
              <a:t>The mix of types, the gap between them, the staleness of the news, and the bank’s contract, in a population of interacting depositors.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Why the third chapter is a simulation</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Chapter 1 relaxed one assumption. The agent-based model relaxes the rest at once, and lets the three rungs interact.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Chapter 1 relaxed one thing. </a:t>
            </a:r>
            <a:pPr indent="0" marL="0">
              <a:spcAft>
                <a:spcPts val="900"/>
              </a:spcAft>
              <a:buNone/>
            </a:pPr>
            <a:r>
              <a:rPr lang="en-US" sz="1400" dirty="0">
                <a:solidFill>
                  <a:schemeClr val="tx1"/>
                </a:solidFill>
              </a:rPr>
              <a:t>The precision ratio became a stable, heterogeneous weight on a stale public signal. Everything else stayed: a continuum of depositors, one simultaneous move, no network.</a:t>
            </a:r>
            <a:endParaRPr lang="en-US" sz="1400" dirty="0"/>
          </a:p>
          <a:p>
            <a:pPr marL="177800" indent="-177800">
              <a:spcAft>
                <a:spcPts val="900"/>
              </a:spcAft>
              <a:buSzPct val="100000"/>
              <a:buChar char="•"/>
            </a:pPr>
            <a:r>
              <a:rPr lang="en-US" sz="1400" b="1" dirty="0">
                <a:solidFill>
                  <a:schemeClr val="tx1"/>
                </a:solidFill>
              </a:rPr>
              <a:t>The model relaxes the rest at once. </a:t>
            </a:r>
            <a:pPr indent="0" marL="0">
              <a:spcAft>
                <a:spcPts val="900"/>
              </a:spcAft>
              <a:buNone/>
            </a:pPr>
            <a:r>
              <a:rPr lang="en-US" sz="1400" dirty="0">
                <a:solidFill>
                  <a:schemeClr val="tx1"/>
                </a:solidFill>
              </a:rPr>
              <a:t>The signal (a private draw per depositor), location (a network, neighbours’ withdrawals arriving tick by tick, public news absent, accurate or stale), interpretation (λ, formed in a cultural warm-up), plus deposit sizes, risk preferences and the contract.</a:t>
            </a:r>
            <a:endParaRPr lang="en-US" sz="1400" dirty="0"/>
          </a:p>
          <a:p>
            <a:pPr marL="177800" indent="-177800">
              <a:spcAft>
                <a:spcPts val="900"/>
              </a:spcAft>
              <a:buSzPct val="100000"/>
              <a:buChar char="•"/>
            </a:pPr>
            <a:r>
              <a:rPr lang="en-US" sz="1400" b="1" dirty="0">
                <a:solidFill>
                  <a:schemeClr val="tx1"/>
                </a:solidFill>
              </a:rPr>
              <a:t>An analytical model cannot carry all of that. </a:t>
            </a:r>
            <a:pPr indent="0" marL="0">
              <a:spcAft>
                <a:spcPts val="900"/>
              </a:spcAft>
              <a:buNone/>
            </a:pPr>
            <a:r>
              <a:rPr lang="en-US" sz="1400" dirty="0">
                <a:solidFill>
                  <a:schemeClr val="tx1"/>
                </a:solidFill>
              </a:rPr>
              <a:t>Each addition breaks the threshold-equilibrium machinery; together they are beyond closed form. The simulation is what lets the rungs be varied and measured separately.</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ladder: signal, location, interpretation</a:t>
            </a:r>
            <a:endParaRPr lang="en-US" sz="2400" dirty="0"/>
          </a:p>
        </p:txBody>
      </p:sp>
      <p:pic>
        <p:nvPicPr>
          <p:cNvPr id="3" name="ladder" descr="Three panels. Signal: one bank fundamental sends a noisy private signal to each depositor, who line up from run to stay. Location: a network in which the signal has reached some depositors from a first hearer and not others. Interpretation: the same private and public signals reach an individualist, who leans on the private signal, and a collectivist, who leans on the public one; culture sets the weight.">    </p:cNvPr>
          <p:cNvPicPr>
            <a:picLocks noChangeAspect="1"/>
          </p:cNvPicPr>
          <p:nvPr/>
        </p:nvPicPr>
        <p:blipFill>
          <a:blip r:embed="rId1"/>
          <a:stretch>
            <a:fillRect/>
          </a:stretch>
        </p:blipFill>
        <p:spPr>
          <a:xfrm>
            <a:off x="653339" y="1097280"/>
            <a:ext cx="7837322" cy="2743200"/>
          </a:xfrm>
          <a:prstGeom prst="rect">
            <a:avLst/>
          </a:prstGeom>
        </p:spPr>
      </p:pic>
      <p:sp>
        <p:nvSpPr>
          <p:cNvPr id="4" name="ladder-note"/>
          <p:cNvSpPr/>
          <p:nvPr/>
        </p:nvSpPr>
        <p:spPr>
          <a:xfrm>
            <a:off x="457200" y="3977640"/>
            <a:ext cx="8229600" cy="566928"/>
          </a:xfrm>
          <a:prstGeom prst="roundRect">
            <a:avLst>
              <a:gd name="adj" fmla="val 12903"/>
            </a:avLst>
          </a:prstGeom>
          <a:solidFill>
            <a:schemeClr val="accent4"/>
          </a:solidFill>
          <a:ln w="12700">
            <a:solidFill>
              <a:schemeClr val="accent4"/>
            </a:solidFill>
            <a:prstDash val="solid"/>
          </a:ln>
        </p:spPr>
      </p:sp>
      <p:sp>
        <p:nvSpPr>
          <p:cNvPr id="5" name="ladder-text"/>
          <p:cNvSpPr txBox="1"/>
          <p:nvPr/>
        </p:nvSpPr>
        <p:spPr>
          <a:xfrm>
            <a:off x="594360" y="4005072"/>
            <a:ext cx="7955280" cy="512064"/>
          </a:xfrm>
          <a:prstGeom prst="rect">
            <a:avLst/>
          </a:prstGeom>
          <a:noFill/>
          <a:ln/>
        </p:spPr>
        <p:txBody>
          <a:bodyPr wrap="square" lIns="0" tIns="0" rIns="0" bIns="0" rtlCol="0" anchor="ctr"/>
          <a:lstStyle/>
          <a:p>
            <a:pPr indent="0" marL="0">
              <a:buNone/>
            </a:pPr>
            <a:r>
              <a:rPr lang="en-US" sz="1200" dirty="0">
                <a:solidFill>
                  <a:schemeClr val="accent3"/>
                </a:solidFill>
              </a:rPr>
              <a:t>Rungs 1 and 2 are the literature. </a:t>
            </a:r>
            <a:pPr indent="0" marL="0">
              <a:buNone/>
            </a:pPr>
            <a:r>
              <a:rPr lang="en-US" sz="1200" b="1" dirty="0">
                <a:solidFill>
                  <a:schemeClr val="accent1"/>
                </a:solidFill>
              </a:rPr>
              <a:t>Rung 3 is this dissertation: </a:t>
            </a:r>
            <a:pPr indent="0" marL="0">
              <a:buNone/>
            </a:pPr>
            <a:r>
              <a:rPr lang="en-US" sz="1200" dirty="0">
                <a:solidFill>
                  <a:schemeClr val="tx1"/>
                </a:solidFill>
              </a:rPr>
              <a:t>the only one that orders depositors by a trait, and reverses when the public line is too optimistic or too pessimistic.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depositors on a social network with a bank; each run draws fundamentals and signals, a shock hits, then depositors observe neighbours and news, form beliefs, and decide whether to withdraw, tick by tick.">    </p:cNvPr>
          <p:cNvPicPr>
            <a:picLocks noChangeAspect="1"/>
          </p:cNvPicPr>
          <p:nvPr/>
        </p:nvPicPr>
        <p:blipFill>
          <a:blip r:embed="rId1"/>
          <a:stretch>
            <a:fillRect/>
          </a:stretch>
        </p:blipFill>
        <p:spPr>
          <a:xfrm>
            <a:off x="457200" y="1051560"/>
            <a:ext cx="3467633" cy="3520440"/>
          </a:xfrm>
          <a:prstGeom prst="rect">
            <a:avLst/>
          </a:prstGeom>
        </p:spPr>
      </p:pic>
      <p:sp>
        <p:nvSpPr>
          <p:cNvPr id="4" name="stat-depositors on a smal"/>
          <p:cNvSpPr/>
          <p:nvPr/>
        </p:nvSpPr>
        <p:spPr>
          <a:xfrm>
            <a:off x="4244873" y="1051560"/>
            <a:ext cx="2152383" cy="960120"/>
          </a:xfrm>
          <a:prstGeom prst="roundRect">
            <a:avLst>
              <a:gd name="adj" fmla="val 7619"/>
            </a:avLst>
          </a:prstGeom>
          <a:solidFill>
            <a:schemeClr val="bg2"/>
          </a:solidFill>
          <a:ln w="12700">
            <a:solidFill>
              <a:schemeClr val="bg2"/>
            </a:solidFill>
            <a:prstDash val="solid"/>
          </a:ln>
        </p:spPr>
      </p:sp>
      <p:sp>
        <p:nvSpPr>
          <p:cNvPr id="5" name="stat-big"/>
          <p:cNvSpPr txBox="1"/>
          <p:nvPr/>
        </p:nvSpPr>
        <p:spPr>
          <a:xfrm>
            <a:off x="4382033"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1,000</a:t>
            </a:r>
            <a:endParaRPr lang="en-US" sz="2600" dirty="0"/>
          </a:p>
        </p:txBody>
      </p:sp>
      <p:sp>
        <p:nvSpPr>
          <p:cNvPr id="6" name="stat-label"/>
          <p:cNvSpPr txBox="1"/>
          <p:nvPr/>
        </p:nvSpPr>
        <p:spPr>
          <a:xfrm>
            <a:off x="4382033"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depositors on a small-world network, one bank</a:t>
            </a:r>
            <a:endParaRPr lang="en-US" sz="1100" dirty="0"/>
          </a:p>
        </p:txBody>
      </p:sp>
      <p:sp>
        <p:nvSpPr>
          <p:cNvPr id="7" name="stat-cap on any one depos"/>
          <p:cNvSpPr/>
          <p:nvPr/>
        </p:nvSpPr>
        <p:spPr>
          <a:xfrm>
            <a:off x="6534417" y="1051560"/>
            <a:ext cx="2152383" cy="960120"/>
          </a:xfrm>
          <a:prstGeom prst="roundRect">
            <a:avLst>
              <a:gd name="adj" fmla="val 7619"/>
            </a:avLst>
          </a:prstGeom>
          <a:solidFill>
            <a:schemeClr val="bg2"/>
          </a:solidFill>
          <a:ln w="12700">
            <a:solidFill>
              <a:schemeClr val="bg2"/>
            </a:solidFill>
            <a:prstDash val="solid"/>
          </a:ln>
        </p:spPr>
      </p:sp>
      <p:sp>
        <p:nvSpPr>
          <p:cNvPr id="8" name="stat-big"/>
          <p:cNvSpPr txBox="1"/>
          <p:nvPr/>
        </p:nvSpPr>
        <p:spPr>
          <a:xfrm>
            <a:off x="6671577"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9" name="stat-label"/>
          <p:cNvSpPr txBox="1"/>
          <p:nvPr/>
        </p:nvSpPr>
        <p:spPr>
          <a:xfrm>
            <a:off x="6671577"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cap on any one deposit; sizes log-normal (σ 2.5) below it</a:t>
            </a:r>
            <a:endParaRPr lang="en-US" sz="1100" dirty="0"/>
          </a:p>
        </p:txBody>
      </p:sp>
      <p:sp>
        <p:nvSpPr>
          <p:cNvPr id="10" name="stat-risk aversion; parti"/>
          <p:cNvSpPr/>
          <p:nvPr/>
        </p:nvSpPr>
        <p:spPr>
          <a:xfrm>
            <a:off x="4244873" y="2148840"/>
            <a:ext cx="2152383" cy="960120"/>
          </a:xfrm>
          <a:prstGeom prst="roundRect">
            <a:avLst>
              <a:gd name="adj" fmla="val 7619"/>
            </a:avLst>
          </a:prstGeom>
          <a:solidFill>
            <a:schemeClr val="bg2"/>
          </a:solidFill>
          <a:ln w="12700">
            <a:solidFill>
              <a:schemeClr val="bg2"/>
            </a:solidFill>
            <a:prstDash val="solid"/>
          </a:ln>
        </p:spPr>
      </p:sp>
      <p:sp>
        <p:nvSpPr>
          <p:cNvPr id="11" name="stat-big"/>
          <p:cNvSpPr txBox="1"/>
          <p:nvPr/>
        </p:nvSpPr>
        <p:spPr>
          <a:xfrm>
            <a:off x="4382033" y="2221992"/>
            <a:ext cx="1878063"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CARA 0.1</a:t>
            </a:r>
            <a:endParaRPr lang="en-US" sz="2200" dirty="0"/>
          </a:p>
        </p:txBody>
      </p:sp>
      <p:sp>
        <p:nvSpPr>
          <p:cNvPr id="12" name="stat-label"/>
          <p:cNvSpPr txBox="1"/>
          <p:nvPr/>
        </p:nvSpPr>
        <p:spPr>
          <a:xfrm>
            <a:off x="4382033"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risk aversion; partial withdrawals allowed</a:t>
            </a:r>
            <a:endParaRPr lang="en-US" sz="1100" dirty="0"/>
          </a:p>
        </p:txBody>
      </p:sp>
      <p:sp>
        <p:nvSpPr>
          <p:cNvPr id="13" name="stat-runs per cell: 25 in"/>
          <p:cNvSpPr/>
          <p:nvPr/>
        </p:nvSpPr>
        <p:spPr>
          <a:xfrm>
            <a:off x="6534417" y="2148840"/>
            <a:ext cx="2152383" cy="960120"/>
          </a:xfrm>
          <a:prstGeom prst="roundRect">
            <a:avLst>
              <a:gd name="adj" fmla="val 7619"/>
            </a:avLst>
          </a:prstGeom>
          <a:solidFill>
            <a:schemeClr val="bg2"/>
          </a:solidFill>
          <a:ln w="12700">
            <a:solidFill>
              <a:schemeClr val="bg2"/>
            </a:solidFill>
            <a:prstDash val="solid"/>
          </a:ln>
        </p:spPr>
      </p:sp>
      <p:sp>
        <p:nvSpPr>
          <p:cNvPr id="14" name="stat-big"/>
          <p:cNvSpPr txBox="1"/>
          <p:nvPr/>
        </p:nvSpPr>
        <p:spPr>
          <a:xfrm>
            <a:off x="6671577" y="222199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250</a:t>
            </a:r>
            <a:endParaRPr lang="en-US" sz="2600" dirty="0"/>
          </a:p>
        </p:txBody>
      </p:sp>
      <p:sp>
        <p:nvSpPr>
          <p:cNvPr id="15" name="stat-label"/>
          <p:cNvSpPr txBox="1"/>
          <p:nvPr/>
        </p:nvSpPr>
        <p:spPr>
          <a:xfrm>
            <a:off x="6671577"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runs per cell: 25 initialisations × 10 draws</a:t>
            </a:r>
            <a:endParaRPr lang="en-US" sz="1100" dirty="0"/>
          </a:p>
        </p:txBody>
      </p:sp>
      <p:sp>
        <p:nvSpPr>
          <p:cNvPr id="16" name="bullets"/>
          <p:cNvSpPr txBox="1"/>
          <p:nvPr/>
        </p:nvSpPr>
        <p:spPr>
          <a:xfrm>
            <a:off x="4244873" y="3200400"/>
            <a:ext cx="4441927" cy="13716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One bank that sells its long asset at a discount when cash runs short (a fire-sale bank)</a:t>
            </a:r>
            <a:endParaRPr lang="en-US" sz="1150" dirty="0"/>
          </a:p>
          <a:p>
            <a:pPr marL="177800" indent="-177800">
              <a:spcAft>
                <a:spcPts val="400"/>
              </a:spcAft>
              <a:buSzPct val="100000"/>
              <a:buChar char="•"/>
            </a:pPr>
            <a:r>
              <a:rPr lang="en-US" sz="1150" dirty="0">
                <a:solidFill>
                  <a:schemeClr val="tx1"/>
                </a:solidFill>
              </a:rPr>
              <a:t>Each tick a depositor sees neighbours’ withdrawals and the public news, blends them with a private signal, and withdraws if that pays</a:t>
            </a:r>
            <a:endParaRPr lang="en-US" sz="1150" dirty="0"/>
          </a:p>
          <a:p>
            <a:pPr marL="177800" indent="-177800">
              <a:spcAft>
                <a:spcPts val="400"/>
              </a:spcAft>
              <a:buSzPct val="100000"/>
              <a:buChar char="•"/>
            </a:pPr>
            <a:r>
              <a:rPr lang="en-US" sz="1150" dirty="0">
                <a:solidFill>
                  <a:schemeClr val="tx1"/>
                </a:solidFill>
              </a:rPr>
              <a:t>A public signal can be absent, accurate, or outdated</a:t>
            </a:r>
            <a:endParaRPr lang="en-US" sz="1150" dirty="0"/>
          </a:p>
          <a:p>
            <a:pPr marL="177800" indent="-177800">
              <a:spcAft>
                <a:spcPts val="400"/>
              </a:spcAft>
              <a:buSzPct val="100000"/>
              <a:buChar char="•"/>
            </a:pPr>
            <a:r>
              <a:rPr lang="en-US" sz="1150" dirty="0">
                <a:solidFill>
                  <a:schemeClr val="tx1"/>
                </a:solidFill>
              </a:rPr>
              <a:t>Outcomes: D = individualists’ minus collectivists’ withdrawal share (those not hit by the shock); P(fail) = share of runs that fail</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Chapter 1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 (Chapter 2 docking)</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l" indent="0" marL="0">
              <a:buNone/>
            </a:pPr>
            <a:r>
              <a:rPr lang="en-US" sz="3200" b="1" dirty="0">
                <a:solidFill>
                  <a:schemeClr val="bg1"/>
                </a:solidFill>
              </a:rPr>
              <a:t>Backup</a:t>
            </a: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indent="0" marL="0">
              <a:buNone/>
            </a:pPr>
            <a:r>
              <a:rPr lang="en-US" sz="1600" dirty="0">
                <a:solidFill>
                  <a:schemeClr val="accent4"/>
                </a:solidFill>
              </a:rPr>
              <a:t>Technical versions of the exhibits, the pre-registered tests, channels, and the Celsius docking gap.</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withdraws, by type and mix</a:t>
            </a:r>
            <a:endParaRPr lang="en-US" sz="2400" dirty="0"/>
          </a:p>
        </p:txBody>
      </p:sp>
      <p:pic>
        <p:nvPicPr>
          <p:cNvPr id="3" name="e06" descr="Share who withdraw by individualist share, three panels by lambda pair: collectivists above individualists at every mixed share for the two wide gaps.">    </p:cNvPr>
          <p:cNvPicPr>
            <a:picLocks noChangeAspect="1"/>
          </p:cNvPicPr>
          <p:nvPr/>
        </p:nvPicPr>
        <p:blipFill>
          <a:blip r:embed="rId1"/>
          <a:stretch>
            <a:fillRect/>
          </a:stretch>
        </p:blipFill>
        <p:spPr>
          <a:xfrm>
            <a:off x="512064" y="1051560"/>
            <a:ext cx="8119872"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who withdraw by individualist share μ, one panel per λ pair; orange individualists, blue collectivists, with CIs.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pre-registered tests, three versions of the bank</a:t>
            </a:r>
            <a:endParaRPr lang="en-US" sz="2400" dirty="0"/>
          </a:p>
        </p:txBody>
      </p:sp>
      <p:pic>
        <p:nvPicPr>
          <p:cNvPr id="3" name="e03" descr="Forest plot of five tests (G1', G4', G2a', G3, G3c) across three bank versions with pooled estimates and per-pair markers.">    </p:cNvPr>
          <p:cNvPicPr>
            <a:picLocks noChangeAspect="1"/>
          </p:cNvPicPr>
          <p:nvPr/>
        </p:nvPicPr>
        <p:blipFill>
          <a:blip r:embed="rId1"/>
          <a:stretch>
            <a:fillRect/>
          </a:stretch>
        </p:blipFill>
        <p:spPr>
          <a:xfrm>
            <a:off x="882533" y="1051560"/>
            <a:ext cx="7378934"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G1′, G4′, G2a′, G3 and G3c (post hoc). Rows: risk-neutral all-or-nothing, CARA partial, capped reference bank. Filled dot: pooled; hollow: each λ pair. Shaded: Chapter 1’s predicted sign.</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Which channel carries culture</a:t>
            </a:r>
            <a:endParaRPr lang="en-US" sz="2400" dirty="0"/>
          </a:p>
        </p:txBody>
      </p:sp>
      <p:pic>
        <p:nvPicPr>
          <p:cNvPr id="3" name="e09" descr="Who runs in failed runs with optimistic news when lambda applies only to the neighbour blend, only to the news blend, or both: positive, negative, small positive.">    </p:cNvPr>
          <p:cNvPicPr>
            <a:picLocks noChangeAspect="1"/>
          </p:cNvPicPr>
          <p:nvPr/>
        </p:nvPicPr>
        <p:blipFill>
          <a:blip r:embed="rId1"/>
          <a:stretch>
            <a:fillRect/>
          </a:stretch>
        </p:blipFill>
        <p:spPr>
          <a:xfrm>
            <a:off x="1547348" y="1051560"/>
            <a:ext cx="604930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D in failed runs with optimistic news, when λ weights only the neighbour blend, only the news blend, or both (the model). θ-blend only +0.14; head-count only −0.07; both +0.02.</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Matching Celsius: how large depositors exit</a:t>
            </a:r>
            <a:endParaRPr lang="en-US" sz="2400" dirty="0"/>
          </a:p>
        </p:txBody>
      </p:sp>
      <p:pic>
        <p:nvPicPr>
          <p:cNvPr id="3" name="e04" descr="Share of exits that withdraw everything at once by depositor size: Celsius falls from about 0.86 to 0.35 for the largest; the model stays at 0.93 to 1.">    </p:cNvPr>
          <p:cNvPicPr>
            <a:picLocks noChangeAspect="1"/>
          </p:cNvPicPr>
          <p:nvPr/>
        </p:nvPicPr>
        <p:blipFill>
          <a:blip r:embed="rId1"/>
          <a:stretch>
            <a:fillRect/>
          </a:stretch>
        </p:blipFill>
        <p:spPr>
          <a:xfrm>
            <a:off x="1882292" y="1051560"/>
            <a:ext cx="537941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of exits that withdraw everything at once, by depositor size. Black: Celsius (band for D1–D5); greys: the model, uncapped and capped.</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Earlier specification (vault bank): failure by mix</a:t>
            </a:r>
            <a:endParaRPr lang="en-US" sz="2400" dirty="0"/>
          </a:p>
        </p:txBody>
      </p:sp>
      <p:pic>
        <p:nvPicPr>
          <p:cNvPr id="3" name="fig1" descr="Earlier vault-bank specification: probability of a run falls with the share of individualists for all three signal-weighting gaps.">    </p:cNvPr>
          <p:cNvPicPr>
            <a:picLocks noChangeAspect="1"/>
          </p:cNvPicPr>
          <p:nvPr/>
        </p:nvPicPr>
        <p:blipFill>
          <a:blip r:embed="rId1"/>
          <a:stretch>
            <a:fillRect/>
          </a:stretch>
        </p:blipFill>
        <p:spPr>
          <a:xfrm>
            <a:off x="1999016" y="1051560"/>
            <a:ext cx="5145969"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Vault bank, earlier specification (chapter Figure 1): probability of a run by share of individualists, three λ gaps. Also monotone.</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bank run model for the twentieth century</dc:title>
  <dc:subject>PptxGenJS Presentation</dc:subject>
  <dc:creator>Walter Stover</dc:creator>
  <cp:lastModifiedBy>Walter Stover</cp:lastModifiedBy>
  <cp:revision>1</cp:revision>
  <dcterms:created xsi:type="dcterms:W3CDTF">2026-10-26T03:35:03Z</dcterms:created>
  <dcterms:modified xsi:type="dcterms:W3CDTF">2026-10-26T03:35:03Z</dcterms:modified>
</cp:coreProperties>
</file>