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d600e3b-1275-a80f-2c4f-ee723e1245b3}">
          <p14:sldIdLst>
            <p14:sldId id="256"/>
            <p14:sldId id="257"/>
            <p14:sldId id="258"/>
            <p14:sldId id="259"/>
            <p14:sldId id="260"/>
            <p14:sldId id="262"/>
          </p14:sldIdLst>
        </p14:section>
        <p14:section name="The model" id="{2f868b52-186f-7a43-bf93-9398eceea952}">
          <p14:sldIdLst>
            <p14:sldId id="263"/>
            <p14:sldId id="264"/>
          </p14:sldIdLst>
        </p14:section>
        <p14:section name="Results" id="{b8a4100a-4eae-9c37-0dd0-858f18d9db70}">
          <p14:sldIdLst>
            <p14:sldId id="265"/>
            <p14:sldId id="266"/>
            <p14:sldId id="267"/>
            <p14:sldId id="268"/>
            <p14:sldId id="269"/>
          </p14:sldIdLst>
        </p14:section>
        <p14:section name="Validation" id="{4ff5f7c7-474e-bc74-f6fb-c7637f8bae2a}">
          <p14:sldIdLst>
            <p14:sldId id="270"/>
          </p14:sldIdLst>
        </p14:section>
        <p14:section name="Close" id="{5b39c763-0bb8-fb51-1988-2d9216822688}">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Raise the question only: who runs? Theory (Diamond–Dybvig) says runs can happen; it is silent on who runs first and how a run spreads. The screenshot: the FSB warned the G20 on 12 October 2026 that a fully reserved stablecoin can still face a redemption run. Even a regulator thinking about a modern run asks whether one happens, not who starts it. Alternative screenshot in figures/deck is not provided; the Nano Banc failure (25 September 2026, American Banker) was a capital failure, not a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two mechanisms the literature has used to answer who runs. Variation in the signal: Goldstein-Pauzner's noisy private draw (same technology, different draws), the device that gives Diamond-Dybvig an equilibrium-selection mechanism; depositors are ex ante identical, so who runs is luck. The model is static: for an intermediate fundamental a fraction runs (those below the threshold draw), not everyone or nobody; all-or-nothing is the zero-noise limit. Timing only enters with the network literature. Variation in location: networks and media; the order is position. Both are fruitful and both are consistent with identical processing: the same Bayesian, with the same prior, sits at every node. The third rung, variation in interpretation, is where this dissertation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question only becomes askable once a public signal sits next to the private one (Morris-Shin 2002, Hellwig 2002, Angeletos-Werning 2006); Diamond-Dybvig has no signal and Goldstein-Pauzner one. The screenshot is the question as a panic poses it: the public line (Becker: stay calm, that's my ask) against private evidence (VCs telling portfolio companies to move money out, the share price). Same shape at Celsius 2022 (Mashinsky on 11 June: do you know even one person who has a problem withdrawing? Why spread FUD and misinformation; withdrawals paused the next day) and Northern Rock 2007 (Bank of England support announced; queues outside the branches; a customer in the queue: we thought we would do what everyone else is doing). In each case depositors split on which to trust, and the interesting fact is who moved on which. If asked how the theory answers it: the Bayesian precision ratio, the weight on y is tau_y over tau_x plus tau_y, the same for everyone and vanishing as private information sharpens; so sorting is noise and official communication stops mattering just when depositors pay most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Cultural economics gives a source of the weight that satisfies the three things the model needs: heterogeneity, positivity, and stability with respect to the information environment. Individualism is the dimension that maps onto the private-versus-social weighting, and names make it measurable at the individual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card. ~0.2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whole model in one line: a depositor blends what they are told with what they see, and the blend weight is a disposition, not a precision calculation (Chapter 1 writes it omega; the simulation writes it lambda). Subtracting the two types' estimates gives the wedge (lambda_C minus lambda_I)(x minus y): with the same pair of signals, the individualist's estimate is lower whenever private evidence is worse than the public line, so individualists run on a wider set of signals when the news is stale-optimistic, and the inclusion reverses when the news is stale-pessimistic. That is the sorting prediction the simulation tests. In the simulation, the public side is what neighbours do and what the news says, and lambda is drawn per agent in a cultural warm-up. Next: the simulation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Talk through the diagram. Left: N = 1,000 depositors, deposits log-normal (sigma 2.5) capped at 1% of the total (Celsius's largest account); types I and C from the warm-up; a Newman-Watts network; the fire-sale bank (reserves rD in cash, the rest plus equity in a long asset sold at a 60% haircut if cash runs short; it fails at period 2 if cash plus the asset at R(theta) is below its promises); theta uniform per run and a public signal that is absent, accurate or stale. Middle and right: warm-up, draw the world, shock, then the tick loop: observe neighbours and the news, blend each with your own information using lambda, value staying against withdrawing (a fraction, partial withdrawals allowed) by Monte Carlo, act. 25 initialisations x 10 draws per cell. Outcomes: D = individualists' minus collectivists' withdrawal share among those not hit by the shock; P(fail) = share of runs that fail. Risk aversion is in the model (CARA) but not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Individualists put little weight on others (neighbours and public news) and more on their own information; collectivists the reverse. In the model: weight on the social side lambda; pairs shown in the figures (I, C): (0.1, 0.9) = large difference, (0.2, 0.8) = medium, (0.3, 0.5) = small. Type comes from a cultural warm-up on the network: the top mu share become individualists. Colours used throughout: orange = individualists, blue = collectivists.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card. ~0.1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Collectivists jump from 0.15 to 0.93 once 20–35% of neighbours are out and reach 1.0; individualists plateau at ~0.25–0.30. Slopes: C 0.80, I 0.22 (difference +0.58, t 16.7). Lambda pairs pooled; reference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Large difference (0.1, 0.9): 0.67 at mu 0 -&gt; 0.08 at mu 1; medium (0.2, 0.8) similar; small (0.3, 0.5): 0.25 -&gt; 0.09. Monotone, no interior peak. The difference between types matters most when collectivists dominate; lines converge at mu &gt;= 0.75. Includes pure cells (mu 0 and 1). If asked about Ch 1's non-monotonic prediction (P6): see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Large difference (0.1, 0.9): outdated pessimistic 0.48, none 0.31, accurate 0.29, outdated middling (y0 0.5) 0.18, outdated optimistic 0.16. Accurate news barely changes failure; stale optimistic halves it; stale pessimistic raises it by half. Small difference (0.3, 0.5) barely moves (0.09–0.15). All mu. Policy framing: the information environment (right to reassure), not sorting depositors by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Lambda pairs pooled. Uncapped (sigma 2.5) 0.61 -&gt; 0.11; capped at 1% 0.51 -&gt; 0.08; similar sizes (sigma 1) 0.50 -&gt; 0.08. Capping brings failure down to the no-concentration level at every mu. The mu gradient is the same in all three: culture's effect does not depend on concentration. One spoken sentence on what 'capped at 1%' means (no single depositor holds more than 1% of the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Ch 1's theory predicts: optimistic news -&gt; individualists run more than collectivists; pessimistic -&gt; collectivists run more. The lines rise through zero as predicted. Large difference reaches about ±0.1; small stays flat. Pre-registered tests: 3 of 4 support, on all three versions of the bank (r1k pooled: G1' +0.033, G4' -0.031, G2a' +0.093, Holm-significant; G3 counts against). Option: make this one sentence and move the figure to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Next steps from the outline: super-individuals (match how Celsius's largest depositors exit), deposit insurance and the reserve ratio on the fire-sale bank, topology and learning, and the full parameter sweep (stale public signal + no-signal baseline; CARA 0.1; sigma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621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8046720" cy="1463040"/>
          </a:xfrm>
          <a:prstGeom prst="rect">
            <a:avLst/>
          </a:prstGeom>
          <a:noFill/>
          <a:ln/>
        </p:spPr>
        <p:txBody>
          <a:bodyPr wrap="square" rtlCol="0"/>
          <a:lstStyle>
            <a:lvl1pPr algn="ctr" indent="0" marL="0">
              <a:buNone/>
              <a:defRPr lang="en-US" sz="3400" b="1" dirty="0">
                <a:solidFill>
                  <a:schemeClr val="bg1"/>
                </a:solidFill>
              </a:defRPr>
            </a:lvl1pPr>
          </a:lstStyle>
          <a:p>
            <a:pPr algn="ctr" indent="0" marL="0">
              <a:buNone/>
            </a:pPr>
            <a:endParaRPr lang="en-US" sz="3400" dirty="0"/>
          </a:p>
        </p:txBody>
      </p:sp>
      <p:sp>
        <p:nvSpPr>
          <p:cNvPr id="3" name="Text 0"/>
          <p:cNvSpPr/>
          <p:nvPr>
            <p:ph idx="101" type="body" hasCustomPrompt="1"/>
          </p:nvPr>
        </p:nvSpPr>
        <p:spPr>
          <a:xfrm>
            <a:off x="548640" y="3017520"/>
            <a:ext cx="8046720" cy="1097280"/>
          </a:xfrm>
          <a:prstGeom prst="rect">
            <a:avLst/>
          </a:prstGeom>
          <a:noFill/>
          <a:ln/>
        </p:spPr>
        <p:txBody>
          <a:bodyPr wrap="square" rtlCol="0"/>
          <a:lstStyle>
            <a:lvl1pPr algn="ctr" indent="0" marL="0">
              <a:buNone/>
              <a:defRPr lang="en-US" sz="1800" dirty="0">
                <a:solidFill>
                  <a:schemeClr val="accent4"/>
                </a:solidFill>
              </a:defRPr>
            </a:lvl1pPr>
          </a:lstStyle>
          <a:p>
            <a:pPr algn="ct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ctr" indent="0" marL="0">
              <a:buNone/>
              <a:defRPr lang="en-US" sz="2400" b="1" dirty="0">
                <a:solidFill>
                  <a:schemeClr val="tx2"/>
                </a:solidFill>
              </a:defRPr>
            </a:lvl1pPr>
          </a:lstStyle>
          <a:p>
            <a:pPr algn="ctr" indent="0" marL="0">
              <a:buNone/>
            </a:pPr>
            <a:endParaRPr lang="en-US" sz="24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chemeClr val="accent3"/>
                </a:solidFill>
              </a:rPr>
              <a:t>Agent-based Diamond–Dybvig with Cultural Heterogeneity</a:t>
            </a:r>
            <a:endParaRPr lang="en-US" sz="9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621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97280"/>
          </a:xfrm>
          <a:prstGeom prst="rect">
            <a:avLst/>
          </a:prstGeom>
          <a:noFill/>
          <a:ln/>
        </p:spPr>
        <p:txBody>
          <a:bodyPr wrap="square" rtlCol="0"/>
          <a:lstStyle>
            <a:lvl1pPr algn="ctr" indent="0" marL="0">
              <a:buNone/>
              <a:defRPr lang="en-US" sz="3200" b="1" dirty="0">
                <a:solidFill>
                  <a:schemeClr val="bg1"/>
                </a:solidFill>
              </a:defRPr>
            </a:lvl1pPr>
          </a:lstStyle>
          <a:p>
            <a:pPr algn="ctr" indent="0" marL="0">
              <a:buNone/>
            </a:pPr>
            <a:endParaRPr lang="en-US" sz="3200" dirty="0"/>
          </a:p>
        </p:txBody>
      </p:sp>
      <p:sp>
        <p:nvSpPr>
          <p:cNvPr id="3" name="Text 0"/>
          <p:cNvSpPr/>
          <p:nvPr>
            <p:ph idx="101" type="body" hasCustomPrompt="1"/>
          </p:nvPr>
        </p:nvSpPr>
        <p:spPr>
          <a:xfrm>
            <a:off x="548640" y="2971800"/>
            <a:ext cx="8046720" cy="731520"/>
          </a:xfrm>
          <a:prstGeom prst="rect">
            <a:avLst/>
          </a:prstGeom>
          <a:noFill/>
          <a:ln/>
        </p:spPr>
        <p:txBody>
          <a:bodyPr wrap="square" rtlCol="0"/>
          <a:lstStyle>
            <a:lvl1pPr algn="ctr" indent="0" marL="0">
              <a:buNone/>
              <a:defRPr lang="en-US" sz="1600" dirty="0">
                <a:solidFill>
                  <a:schemeClr val="accent4"/>
                </a:solidFill>
              </a:defRPr>
            </a:lvl1pPr>
          </a:lstStyle>
          <a:p>
            <a:pPr algn="ctr"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8046720" cy="1463040"/>
          </a:xfrm>
          <a:prstGeom prst="rect">
            <a:avLst/>
          </a:prstGeom>
          <a:noFill/>
          <a:ln/>
        </p:spPr>
        <p:txBody>
          <a:bodyPr wrap="square" lIns="0" tIns="0" rIns="0" bIns="0" rtlCol="0" anchor="b"/>
          <a:lstStyle/>
          <a:p>
            <a:pPr algn="ctr" indent="0" marL="0">
              <a:buNone/>
            </a:pPr>
            <a:r>
              <a:rPr lang="en-US" sz="3400" b="1" dirty="0">
                <a:solidFill>
                  <a:schemeClr val="bg1"/>
                </a:solidFill>
              </a:rPr>
              <a:t>Agent-based Diamond–Dybvig with Cultural Heterogeneity</a:t>
            </a:r>
            <a:endParaRPr lang="en-US" sz="3400" dirty="0"/>
          </a:p>
        </p:txBody>
      </p:sp>
      <p:sp>
        <p:nvSpPr>
          <p:cNvPr id="3" name="Text 0"/>
          <p:cNvSpPr/>
          <p:nvPr>
            <p:ph idx="101" type="body" hasCustomPrompt="1"/>
          </p:nvPr>
        </p:nvSpPr>
        <p:spPr>
          <a:xfrm>
            <a:off x="548640" y="3017520"/>
            <a:ext cx="8046720" cy="1097280"/>
          </a:xfrm>
          <a:prstGeom prst="rect">
            <a:avLst/>
          </a:prstGeom>
          <a:noFill/>
          <a:ln/>
        </p:spPr>
        <p:txBody>
          <a:bodyPr wrap="square" lIns="0" tIns="0" rIns="0" bIns="0" rtlCol="0" anchor="t"/>
          <a:lstStyle/>
          <a:p>
            <a:pPr algn="ctr" indent="0" marL="0">
              <a:buNone/>
            </a:pPr>
            <a:r>
              <a:rPr lang="en-US" sz="1800" dirty="0">
                <a:solidFill>
                  <a:schemeClr val="accent4"/>
                </a:solidFill>
              </a:rPr>
              <a:t>Markets and Society 2026</a:t>
            </a:r>
            <a:endParaRPr lang="en-US" sz="1800" dirty="0"/>
          </a:p>
          <a:p>
            <a:pPr algn="ctr" indent="0" marL="0">
              <a:buNone/>
            </a:pPr>
            <a:r>
              <a:rPr lang="en-US" sz="1800" dirty="0">
                <a:solidFill>
                  <a:schemeClr val="accent4"/>
                </a:solidFill>
              </a:rPr>
              <a:t>Walter Stover  ·  George Mason University  ·  26 October</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ctr" indent="0" marL="0">
              <a:buNone/>
            </a:pPr>
            <a:r>
              <a:rPr lang="en-US" sz="2400" b="1" dirty="0">
                <a:solidFill>
                  <a:schemeClr val="tx2"/>
                </a:solidFill>
              </a:rPr>
              <a:t>The puzzle: who runs?</a:t>
            </a:r>
            <a:endParaRPr lang="en-US" sz="2400" dirty="0"/>
          </a:p>
        </p:txBody>
      </p:sp>
      <p:pic>
        <p:nvPicPr>
          <p:cNvPr id="3" name="news" descr="Screenshot of a CryptoSlate news article dated 12 October 2026: Global watchdog warns the $300 billion stablecoin market could face bank runs even with full reserves. The FSB says cross-border liquidity mismatches could trigger redemption crises and threaten dollar pegs as regulators prepare for G20 discussions.">    </p:cNvPr>
          <p:cNvPicPr>
            <a:picLocks noChangeAspect="1"/>
          </p:cNvPicPr>
          <p:nvPr/>
        </p:nvPicPr>
        <p:blipFill>
          <a:blip r:embed="rId1"/>
          <a:stretch>
            <a:fillRect/>
          </a:stretch>
        </p:blipFill>
        <p:spPr>
          <a:xfrm>
            <a:off x="2414267" y="1051560"/>
            <a:ext cx="4315465" cy="3337560"/>
          </a:xfrm>
          <a:prstGeom prst="rect">
            <a:avLst/>
          </a:prstGeom>
        </p:spPr>
      </p:pic>
      <p:sp>
        <p:nvSpPr>
          <p:cNvPr id="4" name="caption"/>
          <p:cNvSpPr txBox="1"/>
          <p:nvPr/>
        </p:nvSpPr>
        <p:spPr>
          <a:xfrm>
            <a:off x="2414267" y="4434840"/>
            <a:ext cx="4315465" cy="274320"/>
          </a:xfrm>
          <a:prstGeom prst="rect">
            <a:avLst/>
          </a:prstGeom>
          <a:noFill/>
          <a:ln/>
        </p:spPr>
        <p:txBody>
          <a:bodyPr wrap="square" lIns="0" tIns="0" rIns="0" bIns="0" rtlCol="0" anchor="ctr"/>
          <a:lstStyle/>
          <a:p>
            <a:pPr indent="0" marL="0">
              <a:buNone/>
            </a:pPr>
            <a:r>
              <a:rPr lang="en-US" sz="1000" i="1" dirty="0">
                <a:solidFill>
                  <a:schemeClr val="accent3"/>
                </a:solidFill>
              </a:rPr>
              <a:t>CryptoSlate, 12 October 2026, on the Financial Stability Board’s note to the G20. Screenshot, cryptoslate.com.</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ctr" indent="0" marL="0">
              <a:buNone/>
            </a:pPr>
            <a:r>
              <a:rPr lang="en-US" sz="2400" b="1" dirty="0">
                <a:solidFill>
                  <a:schemeClr val="tx2"/>
                </a:solidFill>
              </a:rPr>
              <a:t>Who runs? Luck of the draw, and location</a:t>
            </a:r>
            <a:endParaRPr lang="en-US" sz="2400" dirty="0"/>
          </a:p>
        </p:txBody>
      </p:sp>
      <p:sp>
        <p:nvSpPr>
          <p:cNvPr id="3" name="mech-head"/>
          <p:cNvSpPr txBox="1"/>
          <p:nvPr/>
        </p:nvSpPr>
        <p:spPr>
          <a:xfrm>
            <a:off x="640080" y="1143000"/>
            <a:ext cx="3657600" cy="365760"/>
          </a:xfrm>
          <a:prstGeom prst="rect">
            <a:avLst/>
          </a:prstGeom>
          <a:noFill/>
          <a:ln/>
        </p:spPr>
        <p:txBody>
          <a:bodyPr wrap="square" lIns="0" tIns="0" rIns="0" bIns="0" rtlCol="0" anchor="ctr"/>
          <a:lstStyle/>
          <a:p>
            <a:pPr indent="0" marL="0">
              <a:buNone/>
            </a:pPr>
            <a:r>
              <a:rPr lang="en-US" sz="1800" b="1" dirty="0">
                <a:solidFill>
                  <a:schemeClr val="accent1"/>
                </a:solidFill>
              </a:rPr>
              <a:t>Variation in the signal</a:t>
            </a:r>
            <a:endParaRPr lang="en-US" sz="1800" dirty="0"/>
          </a:p>
        </p:txBody>
      </p:sp>
      <p:sp>
        <p:nvSpPr>
          <p:cNvPr id="4" name="bullets"/>
          <p:cNvSpPr txBox="1"/>
          <p:nvPr/>
        </p:nvSpPr>
        <p:spPr>
          <a:xfrm>
            <a:off x="640080" y="1600200"/>
            <a:ext cx="3657600" cy="18745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Goldstein–Pauzner: every depositor gets a noisy draw of the same signal</a:t>
            </a:r>
            <a:endParaRPr lang="en-US" sz="1400" dirty="0"/>
          </a:p>
          <a:p>
            <a:pPr marL="177800" indent="-177800">
              <a:spcAft>
                <a:spcPts val="800"/>
              </a:spcAft>
              <a:buSzPct val="100000"/>
              <a:buChar char="•"/>
            </a:pPr>
            <a:r>
              <a:rPr lang="en-US" sz="1400" dirty="0">
                <a:solidFill>
                  <a:schemeClr val="tx1"/>
                </a:solidFill>
              </a:rPr>
              <a:t>The draw breaks common knowledge and selects the equilibrium</a:t>
            </a:r>
            <a:endParaRPr lang="en-US" sz="1400" dirty="0"/>
          </a:p>
          <a:p>
            <a:pPr marL="177800" indent="-177800">
              <a:spcAft>
                <a:spcPts val="800"/>
              </a:spcAft>
              <a:buSzPct val="100000"/>
              <a:buChar char="•"/>
            </a:pPr>
            <a:r>
              <a:rPr lang="en-US" sz="1400" dirty="0">
                <a:solidFill>
                  <a:schemeClr val="tx1"/>
                </a:solidFill>
              </a:rPr>
              <a:t>Who runs: whoever drew low</a:t>
            </a:r>
            <a:endParaRPr lang="en-US" sz="1400" dirty="0"/>
          </a:p>
          <a:p>
            <a:pPr marL="177800" indent="-177800">
              <a:spcAft>
                <a:spcPts val="800"/>
              </a:spcAft>
              <a:buSzPct val="100000"/>
              <a:buChar char="•"/>
            </a:pPr>
            <a:r>
              <a:rPr lang="en-US" sz="1400" dirty="0">
                <a:solidFill>
                  <a:schemeClr val="tx1"/>
                </a:solidFill>
              </a:rPr>
              <a:t>Everyone decides at once, so there is no first</a:t>
            </a:r>
            <a:endParaRPr lang="en-US" sz="1400" dirty="0"/>
          </a:p>
        </p:txBody>
      </p:sp>
      <p:sp>
        <p:nvSpPr>
          <p:cNvPr id="5" name="mech-head"/>
          <p:cNvSpPr txBox="1"/>
          <p:nvPr/>
        </p:nvSpPr>
        <p:spPr>
          <a:xfrm>
            <a:off x="4846320" y="1143000"/>
            <a:ext cx="3657600" cy="365760"/>
          </a:xfrm>
          <a:prstGeom prst="rect">
            <a:avLst/>
          </a:prstGeom>
          <a:noFill/>
          <a:ln/>
        </p:spPr>
        <p:txBody>
          <a:bodyPr wrap="square" lIns="0" tIns="0" rIns="0" bIns="0" rtlCol="0" anchor="ctr"/>
          <a:lstStyle/>
          <a:p>
            <a:pPr indent="0" marL="0">
              <a:buNone/>
            </a:pPr>
            <a:r>
              <a:rPr lang="en-US" sz="1800" b="1" dirty="0">
                <a:solidFill>
                  <a:schemeClr val="accent1"/>
                </a:solidFill>
              </a:rPr>
              <a:t>Variation in location</a:t>
            </a:r>
            <a:endParaRPr lang="en-US" sz="1800" dirty="0"/>
          </a:p>
        </p:txBody>
      </p:sp>
      <p:sp>
        <p:nvSpPr>
          <p:cNvPr id="6" name="bullets"/>
          <p:cNvSpPr txBox="1"/>
          <p:nvPr/>
        </p:nvSpPr>
        <p:spPr>
          <a:xfrm>
            <a:off x="4846320" y="1600200"/>
            <a:ext cx="3657600" cy="18745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Networks and media decide who hears what, from whom, when</a:t>
            </a:r>
            <a:endParaRPr lang="en-US" sz="1400" dirty="0"/>
          </a:p>
          <a:p>
            <a:pPr marL="177800" indent="-177800">
              <a:spcAft>
                <a:spcPts val="800"/>
              </a:spcAft>
              <a:buSzPct val="100000"/>
              <a:buChar char="•"/>
            </a:pPr>
            <a:r>
              <a:rPr lang="en-US" sz="1400" dirty="0">
                <a:solidFill>
                  <a:schemeClr val="tx1"/>
                </a:solidFill>
              </a:rPr>
              <a:t>Kelly–Ó Gráda, Iyer–Puri, Cookson et al.</a:t>
            </a:r>
            <a:endParaRPr lang="en-US" sz="1400" dirty="0"/>
          </a:p>
          <a:p>
            <a:pPr marL="177800" indent="-177800">
              <a:spcAft>
                <a:spcPts val="800"/>
              </a:spcAft>
              <a:buSzPct val="100000"/>
              <a:buChar char="•"/>
            </a:pPr>
            <a:r>
              <a:rPr lang="en-US" sz="1400" dirty="0">
                <a:solidFill>
                  <a:schemeClr val="tx1"/>
                </a:solidFill>
              </a:rPr>
              <a:t>Who runs first: whoever sits nearest the source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ctr" indent="0" marL="0">
              <a:buNone/>
            </a:pPr>
            <a:r>
              <a:rPr lang="en-US" sz="2400" b="1" dirty="0">
                <a:solidFill>
                  <a:schemeClr val="tx2"/>
                </a:solidFill>
              </a:rPr>
              <a:t>Who runs? Variation in interpretation</a:t>
            </a:r>
            <a:endParaRPr lang="en-US" sz="2400" dirty="0"/>
          </a:p>
        </p:txBody>
      </p:sp>
      <p:sp>
        <p:nvSpPr>
          <p:cNvPr id="3" name="lead"/>
          <p:cNvSpPr txBox="1"/>
          <p:nvPr/>
        </p:nvSpPr>
        <p:spPr>
          <a:xfrm>
            <a:off x="457200" y="1051560"/>
            <a:ext cx="3200400" cy="2011680"/>
          </a:xfrm>
          <a:prstGeom prst="rect">
            <a:avLst/>
          </a:prstGeom>
          <a:noFill/>
          <a:ln/>
        </p:spPr>
        <p:txBody>
          <a:bodyPr wrap="square" lIns="0" tIns="0" rIns="0" bIns="0" rtlCol="0" anchor="t"/>
          <a:lstStyle/>
          <a:p>
            <a:pPr indent="0" marL="0">
              <a:buNone/>
            </a:pPr>
            <a:r>
              <a:rPr lang="en-US" sz="1800" b="1" dirty="0">
                <a:solidFill>
                  <a:schemeClr val="tx2"/>
                </a:solidFill>
              </a:rPr>
              <a:t>When there are two signals, which signal does a depositor act on, and in what proportion?</a:t>
            </a:r>
            <a:endParaRPr lang="en-US" sz="1800" dirty="0"/>
          </a:p>
        </p:txBody>
      </p:sp>
      <p:pic>
        <p:nvPicPr>
          <p:cNvPr id="4" name="svb" descr="Screenshot of a TechCrunch article of 9 March 2023 headlined Silicon Valley Bank’s shares are tanking as a mess unfolds, with an embedded link Venture firms are advising portfolio companies to move money out of SVB, and a paragraph quoting CEO Greg Becker asking venture clients to stay calm, that’s my ask.">    </p:cNvPr>
          <p:cNvPicPr>
            <a:picLocks noChangeAspect="1"/>
          </p:cNvPicPr>
          <p:nvPr/>
        </p:nvPicPr>
        <p:blipFill>
          <a:blip r:embed="rId1"/>
          <a:stretch>
            <a:fillRect/>
          </a:stretch>
        </p:blipFill>
        <p:spPr>
          <a:xfrm>
            <a:off x="4399453" y="1051560"/>
            <a:ext cx="3728375" cy="3474720"/>
          </a:xfrm>
          <a:prstGeom prst="rect">
            <a:avLst/>
          </a:prstGeom>
        </p:spPr>
      </p:pic>
      <p:sp>
        <p:nvSpPr>
          <p:cNvPr id="5" name="caption"/>
          <p:cNvSpPr txBox="1"/>
          <p:nvPr/>
        </p:nvSpPr>
        <p:spPr>
          <a:xfrm>
            <a:off x="4399453" y="4572000"/>
            <a:ext cx="3728375" cy="274320"/>
          </a:xfrm>
          <a:prstGeom prst="rect">
            <a:avLst/>
          </a:prstGeom>
          <a:noFill/>
          <a:ln/>
        </p:spPr>
        <p:txBody>
          <a:bodyPr wrap="square" lIns="0" tIns="0" rIns="0" bIns="0" rtlCol="0" anchor="ctr"/>
          <a:lstStyle/>
          <a:p>
            <a:pPr indent="0" marL="0">
              <a:buNone/>
            </a:pPr>
            <a:r>
              <a:rPr lang="en-US" sz="1000" i="1" dirty="0">
                <a:solidFill>
                  <a:schemeClr val="accent3"/>
                </a:solidFill>
              </a:rPr>
              <a:t>TechCrunch, 9 March 2023. Screenshot, techcrunch.com.</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ctr" indent="0" marL="0">
              <a:buNone/>
            </a:pPr>
            <a:r>
              <a:rPr lang="en-US" sz="2400" b="1" dirty="0">
                <a:solidFill>
                  <a:schemeClr val="tx2"/>
                </a:solidFill>
              </a:rPr>
              <a:t>Cultural economics: a source of stable weights</a:t>
            </a:r>
            <a:endParaRPr lang="en-US" sz="2400" dirty="0"/>
          </a:p>
        </p:txBody>
      </p:sp>
      <p:sp>
        <p:nvSpPr>
          <p:cNvPr id="3" name="step-items"/>
          <p:cNvSpPr txBox="1"/>
          <p:nvPr/>
        </p:nvSpPr>
        <p:spPr>
          <a:xfrm>
            <a:off x="457200" y="1188720"/>
            <a:ext cx="8229600" cy="3017520"/>
          </a:xfrm>
          <a:prstGeom prst="rect">
            <a:avLst/>
          </a:prstGeom>
          <a:noFill/>
          <a:ln/>
        </p:spPr>
        <p:txBody>
          <a:bodyPr wrap="square" lIns="0" tIns="0" rIns="0" bIns="0" rtlCol="0" anchor="t"/>
          <a:lstStyle/>
          <a:p>
            <a:pPr marL="177800" indent="-177800">
              <a:spcAft>
                <a:spcPts val="900"/>
              </a:spcAft>
              <a:buSzPct val="100000"/>
              <a:buChar char="•"/>
            </a:pPr>
            <a:r>
              <a:rPr lang="en-US" sz="1400" b="1" dirty="0">
                <a:solidFill>
                  <a:schemeClr val="tx1"/>
                </a:solidFill>
              </a:rPr>
              <a:t>Transmitted weights. </a:t>
            </a:r>
            <a:pPr indent="0" marL="0">
              <a:spcAft>
                <a:spcPts val="900"/>
              </a:spcAft>
              <a:buNone/>
            </a:pPr>
            <a:r>
              <a:rPr lang="en-US" sz="1400" dirty="0">
                <a:solidFill>
                  <a:schemeClr val="tx1"/>
                </a:solidFill>
              </a:rPr>
              <a:t>Cultural values pass largely unchanged from parents to children (Guiso, Sapienza, Zingales; Bazzi et al.).</a:t>
            </a:r>
            <a:endParaRPr lang="en-US" sz="1400" dirty="0"/>
          </a:p>
          <a:p>
            <a:pPr marL="177800" indent="-177800">
              <a:spcAft>
                <a:spcPts val="900"/>
              </a:spcAft>
              <a:buSzPct val="100000"/>
              <a:buChar char="•"/>
            </a:pPr>
            <a:r>
              <a:rPr lang="en-US" sz="1400" b="1" dirty="0">
                <a:solidFill>
                  <a:schemeClr val="tx1"/>
                </a:solidFill>
              </a:rPr>
              <a:t>Individualism </a:t>
            </a:r>
            <a:pPr indent="0" marL="0">
              <a:spcAft>
                <a:spcPts val="900"/>
              </a:spcAft>
              <a:buNone/>
            </a:pPr>
            <a:r>
              <a:rPr lang="en-US" sz="1400" dirty="0">
                <a:solidFill>
                  <a:schemeClr val="tx1"/>
                </a:solidFill>
              </a:rPr>
              <a:t>as self-reliance against deference to the group (Hofstede) is the private-against-social weighting the model already contains (Gorodnichenko–Roland).</a:t>
            </a:r>
            <a:endParaRPr lang="en-US" sz="1400" dirty="0"/>
          </a:p>
          <a:p>
            <a:pPr marL="177800" indent="-177800">
              <a:spcAft>
                <a:spcPts val="900"/>
              </a:spcAft>
              <a:buSzPct val="100000"/>
              <a:buChar char="•"/>
            </a:pPr>
            <a:r>
              <a:rPr lang="en-US" sz="1400" b="1" dirty="0">
                <a:solidFill>
                  <a:schemeClr val="tx1"/>
                </a:solidFill>
              </a:rPr>
              <a:t>Measurable per depositor. </a:t>
            </a:r>
            <a:pPr indent="0" marL="0">
              <a:spcAft>
                <a:spcPts val="900"/>
              </a:spcAft>
              <a:buNone/>
            </a:pPr>
            <a:r>
              <a:rPr lang="en-US" sz="1400" dirty="0">
                <a:solidFill>
                  <a:schemeClr val="tx1"/>
                </a:solidFill>
              </a:rPr>
              <a:t>Given names carry it (Twenge et al.), so we can observe the weight instead of assuming it.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97280"/>
          </a:xfrm>
          <a:prstGeom prst="rect">
            <a:avLst/>
          </a:prstGeom>
          <a:noFill/>
          <a:ln/>
        </p:spPr>
        <p:txBody>
          <a:bodyPr wrap="square" lIns="0" tIns="0" rIns="0" bIns="0" rtlCol="0" anchor="ctr"/>
          <a:lstStyle/>
          <a:p>
            <a:pPr algn="ctr" indent="0" marL="0">
              <a:buNone/>
            </a:pPr>
            <a:r>
              <a:rPr lang="en-US" sz="3200" b="1" dirty="0">
                <a:solidFill>
                  <a:schemeClr val="bg1"/>
                </a:solidFill>
              </a:rPr>
              <a:t>An agent-based bank run model with culturally heterogeneous signal interpretation</a:t>
            </a:r>
            <a:endParaRPr lang="en-US" sz="3200" dirty="0"/>
          </a:p>
        </p:txBody>
      </p:sp>
      <p:sp>
        <p:nvSpPr>
          <p:cNvPr id="4" name="Text 0"/>
          <p:cNvSpPr/>
          <p:nvPr>
            <p:ph idx="101" type="body" hasCustomPrompt="1"/>
          </p:nvPr>
        </p:nvSpPr>
        <p:spPr>
          <a:xfrm>
            <a:off x="548640" y="2971800"/>
            <a:ext cx="8046720" cy="731520"/>
          </a:xfrm>
          <a:prstGeom prst="rect">
            <a:avLst/>
          </a:prstGeom>
          <a:noFill/>
          <a:ln/>
        </p:spPr>
        <p:txBody>
          <a:bodyPr wrap="square" lIns="0" tIns="0" rIns="0" bIns="0" rtlCol="0" anchor="t"/>
          <a:lstStyle/>
          <a:p>
            <a:pPr algn="ctr" indent="0" marL="0">
              <a:buNone/>
            </a:pP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ctr" indent="0" marL="0">
              <a:buNone/>
            </a:pPr>
            <a:r>
              <a:rPr lang="en-US" sz="2400" b="1" dirty="0">
                <a:solidFill>
                  <a:schemeClr val="tx2"/>
                </a:solidFill>
              </a:rPr>
              <a:t>The model: one weight on two signals</a:t>
            </a:r>
            <a:endParaRPr lang="en-US" sz="2400" dirty="0"/>
          </a:p>
        </p:txBody>
      </p:sp>
      <p:sp>
        <p:nvSpPr>
          <p:cNvPr id="3" name="eq"/>
          <p:cNvSpPr txBox="1"/>
          <p:nvPr/>
        </p:nvSpPr>
        <p:spPr>
          <a:xfrm>
            <a:off x="640080" y="1234440"/>
            <a:ext cx="7863840" cy="685800"/>
          </a:xfrm>
          <a:prstGeom prst="rect">
            <a:avLst/>
          </a:prstGeom>
          <a:noFill/>
          <a:ln/>
        </p:spPr>
        <p:txBody>
          <a:bodyPr wrap="square" lIns="0" tIns="0" rIns="0" bIns="0" rtlCol="0" anchor="ctr"/>
          <a:lstStyle/>
          <a:p>
            <a:pPr algn="ctr" indent="0" marL="0">
              <a:buNone/>
            </a:pPr>
            <a:r>
              <a:rPr lang="en-US" sz="3000" i="1" dirty="0">
                <a:solidFill>
                  <a:schemeClr val="tx2"/>
                </a:solidFill>
                <a:latin typeface="Cambria" pitchFamily="34" charset="0"/>
                <a:ea typeface="Cambria" pitchFamily="34" charset="-122"/>
                <a:cs typeface="Cambria" pitchFamily="34" charset="-120"/>
              </a:rPr>
              <a:t>ŝ</a:t>
            </a:r>
            <a:pPr algn="ctr" indent="0" marL="0">
              <a:buNone/>
            </a:pPr>
            <a:r>
              <a:rPr lang="en-US" sz="3000" i="1" baseline="-40000" dirty="0">
                <a:solidFill>
                  <a:schemeClr val="tx2"/>
                </a:solidFill>
                <a:latin typeface="Cambria" pitchFamily="34" charset="0"/>
                <a:ea typeface="Cambria" pitchFamily="34" charset="-122"/>
                <a:cs typeface="Cambria" pitchFamily="34" charset="-120"/>
              </a:rPr>
              <a:t>i</a:t>
            </a:r>
            <a:pPr algn="ctr" indent="0" marL="0">
              <a:buNone/>
            </a:pPr>
            <a:r>
              <a:rPr lang="en-US" sz="3000" dirty="0">
                <a:solidFill>
                  <a:schemeClr val="tx2"/>
                </a:solidFill>
                <a:latin typeface="Cambria" pitchFamily="34" charset="0"/>
                <a:ea typeface="Cambria" pitchFamily="34" charset="-122"/>
                <a:cs typeface="Cambria" pitchFamily="34" charset="-120"/>
              </a:rPr>
              <a:t>  =  λ</a:t>
            </a:r>
            <a:pPr algn="ctr" indent="0" marL="0">
              <a:buNone/>
            </a:pPr>
            <a:r>
              <a:rPr lang="en-US" sz="3000" i="1" baseline="-40000" dirty="0">
                <a:solidFill>
                  <a:schemeClr val="tx2"/>
                </a:solidFill>
                <a:latin typeface="Cambria" pitchFamily="34" charset="0"/>
                <a:ea typeface="Cambria" pitchFamily="34" charset="-122"/>
                <a:cs typeface="Cambria" pitchFamily="34" charset="-120"/>
              </a:rPr>
              <a:t>i</a:t>
            </a:r>
            <a:pPr algn="ctr" indent="0" marL="0">
              <a:buNone/>
            </a:pPr>
            <a:r>
              <a:rPr lang="en-US" sz="3000" dirty="0">
                <a:solidFill>
                  <a:schemeClr val="tx2"/>
                </a:solidFill>
                <a:latin typeface="Cambria" pitchFamily="34" charset="0"/>
                <a:ea typeface="Cambria" pitchFamily="34" charset="-122"/>
                <a:cs typeface="Cambria" pitchFamily="34" charset="-120"/>
              </a:rPr>
              <a:t> · </a:t>
            </a:r>
            <a:pPr algn="ctr" indent="0" marL="0">
              <a:buNone/>
            </a:pPr>
            <a:r>
              <a:rPr lang="en-US" sz="3000" i="1" dirty="0">
                <a:solidFill>
                  <a:schemeClr val="tx2"/>
                </a:solidFill>
                <a:latin typeface="Cambria" pitchFamily="34" charset="0"/>
                <a:ea typeface="Cambria" pitchFamily="34" charset="-122"/>
                <a:cs typeface="Cambria" pitchFamily="34" charset="-120"/>
              </a:rPr>
              <a:t>y</a:t>
            </a:r>
            <a:pPr algn="ctr" indent="0" marL="0">
              <a:buNone/>
            </a:pPr>
            <a:r>
              <a:rPr lang="en-US" sz="3000" dirty="0">
                <a:solidFill>
                  <a:schemeClr val="tx2"/>
                </a:solidFill>
                <a:latin typeface="Cambria" pitchFamily="34" charset="0"/>
                <a:ea typeface="Cambria" pitchFamily="34" charset="-122"/>
                <a:cs typeface="Cambria" pitchFamily="34" charset="-120"/>
              </a:rPr>
              <a:t>  +  (1 − λ</a:t>
            </a:r>
            <a:pPr algn="ctr" indent="0" marL="0">
              <a:buNone/>
            </a:pPr>
            <a:r>
              <a:rPr lang="en-US" sz="3000" i="1" baseline="-40000" dirty="0">
                <a:solidFill>
                  <a:schemeClr val="tx2"/>
                </a:solidFill>
                <a:latin typeface="Cambria" pitchFamily="34" charset="0"/>
                <a:ea typeface="Cambria" pitchFamily="34" charset="-122"/>
                <a:cs typeface="Cambria" pitchFamily="34" charset="-120"/>
              </a:rPr>
              <a:t>i</a:t>
            </a:r>
            <a:pPr algn="ctr" indent="0" marL="0">
              <a:buNone/>
            </a:pPr>
            <a:r>
              <a:rPr lang="en-US" sz="3000" dirty="0">
                <a:solidFill>
                  <a:schemeClr val="tx2"/>
                </a:solidFill>
                <a:latin typeface="Cambria" pitchFamily="34" charset="0"/>
                <a:ea typeface="Cambria" pitchFamily="34" charset="-122"/>
                <a:cs typeface="Cambria" pitchFamily="34" charset="-120"/>
              </a:rPr>
              <a:t>) · </a:t>
            </a:r>
            <a:pPr algn="ctr" indent="0" marL="0">
              <a:buNone/>
            </a:pPr>
            <a:r>
              <a:rPr lang="en-US" sz="3000" i="1" dirty="0">
                <a:solidFill>
                  <a:schemeClr val="tx2"/>
                </a:solidFill>
                <a:latin typeface="Cambria" pitchFamily="34" charset="0"/>
                <a:ea typeface="Cambria" pitchFamily="34" charset="-122"/>
                <a:cs typeface="Cambria" pitchFamily="34" charset="-120"/>
              </a:rPr>
              <a:t>x</a:t>
            </a:r>
            <a:pPr algn="ctr" indent="0" marL="0">
              <a:buNone/>
            </a:pPr>
            <a:r>
              <a:rPr lang="en-US" sz="3000" i="1" baseline="-40000" dirty="0">
                <a:solidFill>
                  <a:schemeClr val="tx2"/>
                </a:solidFill>
                <a:latin typeface="Cambria" pitchFamily="34" charset="0"/>
                <a:ea typeface="Cambria" pitchFamily="34" charset="-122"/>
                <a:cs typeface="Cambria" pitchFamily="34" charset="-120"/>
              </a:rPr>
              <a:t>i</a:t>
            </a:r>
            <a:endParaRPr lang="en-US" sz="3000" dirty="0"/>
          </a:p>
        </p:txBody>
      </p:sp>
      <p:sp>
        <p:nvSpPr>
          <p:cNvPr id="4" name="types"/>
          <p:cNvSpPr txBox="1"/>
          <p:nvPr/>
        </p:nvSpPr>
        <p:spPr>
          <a:xfrm>
            <a:off x="457200" y="2240280"/>
            <a:ext cx="8229600" cy="685800"/>
          </a:xfrm>
          <a:prstGeom prst="rect">
            <a:avLst/>
          </a:prstGeom>
          <a:noFill/>
          <a:ln/>
        </p:spPr>
        <p:txBody>
          <a:bodyPr wrap="square" lIns="0" tIns="0" rIns="0" bIns="0" rtlCol="0" anchor="ctr"/>
          <a:lstStyle/>
          <a:p>
            <a:pPr algn="ctr" indent="0" marL="0">
              <a:buNone/>
            </a:pPr>
            <a:r>
              <a:rPr lang="en-US" sz="3000" b="1" dirty="0">
                <a:solidFill>
                  <a:srgbClr val="D62828"/>
                </a:solidFill>
                <a:latin typeface="Cambria" pitchFamily="34" charset="0"/>
                <a:ea typeface="Cambria" pitchFamily="34" charset="-122"/>
                <a:cs typeface="Cambria" pitchFamily="34" charset="-120"/>
              </a:rPr>
              <a:t>Individualists </a:t>
            </a:r>
            <a:pPr algn="ctr" indent="0" marL="0">
              <a:buNone/>
            </a:pPr>
            <a:r>
              <a:rPr lang="en-US" sz="3000" dirty="0">
                <a:solidFill>
                  <a:schemeClr val="tx2"/>
                </a:solidFill>
                <a:latin typeface="Cambria" pitchFamily="34" charset="0"/>
                <a:ea typeface="Cambria" pitchFamily="34" charset="-122"/>
                <a:cs typeface="Cambria" pitchFamily="34" charset="-120"/>
              </a:rPr>
              <a:t>λ</a:t>
            </a:r>
            <a:pPr algn="ctr" indent="0" marL="0">
              <a:buNone/>
            </a:pPr>
            <a:r>
              <a:rPr lang="en-US" sz="3000" baseline="-40000" dirty="0">
                <a:solidFill>
                  <a:schemeClr val="tx2"/>
                </a:solidFill>
                <a:latin typeface="Cambria" pitchFamily="34" charset="0"/>
                <a:ea typeface="Cambria" pitchFamily="34" charset="-122"/>
                <a:cs typeface="Cambria" pitchFamily="34" charset="-120"/>
              </a:rPr>
              <a:t>I</a:t>
            </a:r>
            <a:pPr algn="ctr" indent="0" marL="0">
              <a:buNone/>
            </a:pPr>
            <a:r>
              <a:rPr lang="en-US" sz="3000" dirty="0">
                <a:solidFill>
                  <a:schemeClr val="tx2"/>
                </a:solidFill>
                <a:latin typeface="Cambria" pitchFamily="34" charset="0"/>
                <a:ea typeface="Cambria" pitchFamily="34" charset="-122"/>
                <a:cs typeface="Cambria" pitchFamily="34" charset="-120"/>
              </a:rPr>
              <a:t>  &lt;  λ</a:t>
            </a:r>
            <a:pPr algn="ctr" indent="0" marL="0">
              <a:buNone/>
            </a:pPr>
            <a:r>
              <a:rPr lang="en-US" sz="3000" baseline="-40000" dirty="0">
                <a:solidFill>
                  <a:schemeClr val="tx2"/>
                </a:solidFill>
                <a:latin typeface="Cambria" pitchFamily="34" charset="0"/>
                <a:ea typeface="Cambria" pitchFamily="34" charset="-122"/>
                <a:cs typeface="Cambria" pitchFamily="34" charset="-120"/>
              </a:rPr>
              <a:t>C</a:t>
            </a:r>
            <a:pPr algn="ctr" indent="0" marL="0">
              <a:buNone/>
            </a:pPr>
            <a:r>
              <a:rPr lang="en-US" sz="3000" b="1" dirty="0">
                <a:solidFill>
                  <a:srgbClr val="2A78D6"/>
                </a:solidFill>
                <a:latin typeface="Cambria" pitchFamily="34" charset="0"/>
                <a:ea typeface="Cambria" pitchFamily="34" charset="-122"/>
                <a:cs typeface="Cambria" pitchFamily="34" charset="-120"/>
              </a:rPr>
              <a:t> collectivists</a:t>
            </a:r>
            <a:endParaRPr lang="en-US" sz="3000" dirty="0"/>
          </a:p>
        </p:txBody>
      </p:sp>
      <p:sp>
        <p:nvSpPr>
          <p:cNvPr id="5" name="eq2"/>
          <p:cNvSpPr txBox="1"/>
          <p:nvPr/>
        </p:nvSpPr>
        <p:spPr>
          <a:xfrm>
            <a:off x="640080" y="3246120"/>
            <a:ext cx="7863840" cy="685800"/>
          </a:xfrm>
          <a:prstGeom prst="rect">
            <a:avLst/>
          </a:prstGeom>
          <a:noFill/>
          <a:ln/>
        </p:spPr>
        <p:txBody>
          <a:bodyPr wrap="square" lIns="0" tIns="0" rIns="0" bIns="0" rtlCol="0" anchor="ctr"/>
          <a:lstStyle/>
          <a:p>
            <a:pPr algn="ctr" indent="0" marL="0">
              <a:buNone/>
            </a:pPr>
            <a:r>
              <a:rPr lang="en-US" sz="3000" i="1" dirty="0">
                <a:solidFill>
                  <a:schemeClr val="tx2"/>
                </a:solidFill>
                <a:latin typeface="Cambria" pitchFamily="34" charset="0"/>
                <a:ea typeface="Cambria" pitchFamily="34" charset="-122"/>
                <a:cs typeface="Cambria" pitchFamily="34" charset="-120"/>
              </a:rPr>
              <a:t>ŝ</a:t>
            </a:r>
            <a:pPr algn="ctr" indent="0" marL="0">
              <a:buNone/>
            </a:pPr>
            <a:r>
              <a:rPr lang="en-US" sz="3000" baseline="-40000" dirty="0">
                <a:solidFill>
                  <a:schemeClr val="tx2"/>
                </a:solidFill>
                <a:latin typeface="Cambria" pitchFamily="34" charset="0"/>
                <a:ea typeface="Cambria" pitchFamily="34" charset="-122"/>
                <a:cs typeface="Cambria" pitchFamily="34" charset="-120"/>
              </a:rPr>
              <a:t>I</a:t>
            </a:r>
            <a:pPr algn="ctr" indent="0" marL="0">
              <a:buNone/>
            </a:pPr>
            <a:r>
              <a:rPr lang="en-US" sz="3000" dirty="0">
                <a:solidFill>
                  <a:schemeClr val="tx2"/>
                </a:solidFill>
                <a:latin typeface="Cambria" pitchFamily="34" charset="0"/>
                <a:ea typeface="Cambria" pitchFamily="34" charset="-122"/>
                <a:cs typeface="Cambria" pitchFamily="34" charset="-120"/>
              </a:rPr>
              <a:t>  −  </a:t>
            </a:r>
            <a:pPr algn="ctr" indent="0" marL="0">
              <a:buNone/>
            </a:pPr>
            <a:r>
              <a:rPr lang="en-US" sz="3000" i="1" dirty="0">
                <a:solidFill>
                  <a:schemeClr val="tx2"/>
                </a:solidFill>
                <a:latin typeface="Cambria" pitchFamily="34" charset="0"/>
                <a:ea typeface="Cambria" pitchFamily="34" charset="-122"/>
                <a:cs typeface="Cambria" pitchFamily="34" charset="-120"/>
              </a:rPr>
              <a:t>ŝ</a:t>
            </a:r>
            <a:pPr algn="ctr" indent="0" marL="0">
              <a:buNone/>
            </a:pPr>
            <a:r>
              <a:rPr lang="en-US" sz="3000" baseline="-40000" dirty="0">
                <a:solidFill>
                  <a:schemeClr val="tx2"/>
                </a:solidFill>
                <a:latin typeface="Cambria" pitchFamily="34" charset="0"/>
                <a:ea typeface="Cambria" pitchFamily="34" charset="-122"/>
                <a:cs typeface="Cambria" pitchFamily="34" charset="-120"/>
              </a:rPr>
              <a:t>C</a:t>
            </a:r>
            <a:pPr algn="ctr" indent="0" marL="0">
              <a:buNone/>
            </a:pPr>
            <a:r>
              <a:rPr lang="en-US" sz="3000" dirty="0">
                <a:solidFill>
                  <a:schemeClr val="tx2"/>
                </a:solidFill>
                <a:latin typeface="Cambria" pitchFamily="34" charset="0"/>
                <a:ea typeface="Cambria" pitchFamily="34" charset="-122"/>
                <a:cs typeface="Cambria" pitchFamily="34" charset="-120"/>
              </a:rPr>
              <a:t>  =  (λ</a:t>
            </a:r>
            <a:pPr algn="ctr" indent="0" marL="0">
              <a:buNone/>
            </a:pPr>
            <a:r>
              <a:rPr lang="en-US" sz="3000" baseline="-40000" dirty="0">
                <a:solidFill>
                  <a:schemeClr val="tx2"/>
                </a:solidFill>
                <a:latin typeface="Cambria" pitchFamily="34" charset="0"/>
                <a:ea typeface="Cambria" pitchFamily="34" charset="-122"/>
                <a:cs typeface="Cambria" pitchFamily="34" charset="-120"/>
              </a:rPr>
              <a:t>C</a:t>
            </a:r>
            <a:pPr algn="ctr" indent="0" marL="0">
              <a:buNone/>
            </a:pPr>
            <a:r>
              <a:rPr lang="en-US" sz="3000" dirty="0">
                <a:solidFill>
                  <a:schemeClr val="tx2"/>
                </a:solidFill>
                <a:latin typeface="Cambria" pitchFamily="34" charset="0"/>
                <a:ea typeface="Cambria" pitchFamily="34" charset="-122"/>
                <a:cs typeface="Cambria" pitchFamily="34" charset="-120"/>
              </a:rPr>
              <a:t> − λ</a:t>
            </a:r>
            <a:pPr algn="ctr" indent="0" marL="0">
              <a:buNone/>
            </a:pPr>
            <a:r>
              <a:rPr lang="en-US" sz="3000" baseline="-40000" dirty="0">
                <a:solidFill>
                  <a:schemeClr val="tx2"/>
                </a:solidFill>
                <a:latin typeface="Cambria" pitchFamily="34" charset="0"/>
                <a:ea typeface="Cambria" pitchFamily="34" charset="-122"/>
                <a:cs typeface="Cambria" pitchFamily="34" charset="-120"/>
              </a:rPr>
              <a:t>I</a:t>
            </a:r>
            <a:pPr algn="ctr" indent="0" marL="0">
              <a:buNone/>
            </a:pPr>
            <a:r>
              <a:rPr lang="en-US" sz="3000" dirty="0">
                <a:solidFill>
                  <a:schemeClr val="tx2"/>
                </a:solidFill>
                <a:latin typeface="Cambria" pitchFamily="34" charset="0"/>
                <a:ea typeface="Cambria" pitchFamily="34" charset="-122"/>
                <a:cs typeface="Cambria" pitchFamily="34" charset="-120"/>
              </a:rPr>
              <a:t>) · (</a:t>
            </a:r>
            <a:pPr algn="ctr" indent="0" marL="0">
              <a:buNone/>
            </a:pPr>
            <a:r>
              <a:rPr lang="en-US" sz="3000" i="1" dirty="0">
                <a:solidFill>
                  <a:schemeClr val="tx2"/>
                </a:solidFill>
                <a:latin typeface="Cambria" pitchFamily="34" charset="0"/>
                <a:ea typeface="Cambria" pitchFamily="34" charset="-122"/>
                <a:cs typeface="Cambria" pitchFamily="34" charset="-120"/>
              </a:rPr>
              <a:t>x</a:t>
            </a:r>
            <a:pPr algn="ctr" indent="0" marL="0">
              <a:buNone/>
            </a:pPr>
            <a:r>
              <a:rPr lang="en-US" sz="3000" dirty="0">
                <a:solidFill>
                  <a:schemeClr val="tx2"/>
                </a:solidFill>
                <a:latin typeface="Cambria" pitchFamily="34" charset="0"/>
                <a:ea typeface="Cambria" pitchFamily="34" charset="-122"/>
                <a:cs typeface="Cambria" pitchFamily="34" charset="-120"/>
              </a:rPr>
              <a:t> − </a:t>
            </a:r>
            <a:pPr algn="ctr" indent="0" marL="0">
              <a:buNone/>
            </a:pPr>
            <a:r>
              <a:rPr lang="en-US" sz="3000" i="1" dirty="0">
                <a:solidFill>
                  <a:schemeClr val="tx2"/>
                </a:solidFill>
                <a:latin typeface="Cambria" pitchFamily="34" charset="0"/>
                <a:ea typeface="Cambria" pitchFamily="34" charset="-122"/>
                <a:cs typeface="Cambria" pitchFamily="34" charset="-120"/>
              </a:rPr>
              <a:t>y</a:t>
            </a:r>
            <a:pPr algn="ctr" indent="0" marL="0">
              <a:buNone/>
            </a:pPr>
            <a:r>
              <a:rPr lang="en-US" sz="3000" dirty="0">
                <a:solidFill>
                  <a:schemeClr val="tx2"/>
                </a:solidFill>
                <a:latin typeface="Cambria" pitchFamily="34" charset="0"/>
                <a:ea typeface="Cambria" pitchFamily="34" charset="-122"/>
                <a:cs typeface="Cambria" pitchFamily="34" charset="-120"/>
              </a:rPr>
              <a:t>)</a:t>
            </a:r>
            <a:endParaRPr lang="en-US" sz="3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ctr" indent="0" marL="0">
              <a:buNone/>
            </a:pPr>
            <a:r>
              <a:rPr lang="en-US" sz="2400" b="1" dirty="0">
                <a:solidFill>
                  <a:schemeClr val="tx2"/>
                </a:solidFill>
              </a:rPr>
              <a:t>The model in one picture</a:t>
            </a:r>
            <a:endParaRPr lang="en-US" sz="2400" dirty="0"/>
          </a:p>
        </p:txBody>
      </p:sp>
      <p:pic>
        <p:nvPicPr>
          <p:cNvPr id="3" name="odd" descr="Model overview in three columns. Entities: depositors with log-normal deposits capped at 1% of the total, a type and a private signal; a Newman–Watts network; a bank with reserves, a long asset that sells at a discount when cash runs short, and a return that rises with the fundamental; the environment draws the fundamental and a public signal. Schedule: cultural warm-up, draw the run’s world, an exogenous shock, then a tick loop in which each banked depositor observes neighbours and the public signal, forms beliefs with weight λ on the social side, values staying against withdrawing by Monte Carlo, and acts; then period 2 settles the bank and the run is recorded.">    </p:cNvPr>
          <p:cNvPicPr>
            <a:picLocks noChangeAspect="1"/>
          </p:cNvPicPr>
          <p:nvPr/>
        </p:nvPicPr>
        <p:blipFill>
          <a:blip r:embed="rId1"/>
          <a:stretch>
            <a:fillRect/>
          </a:stretch>
        </p:blipFill>
        <p:spPr>
          <a:xfrm>
            <a:off x="755294" y="960120"/>
            <a:ext cx="7633411" cy="3657600"/>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ctr" indent="0" marL="0">
              <a:buNone/>
            </a:pPr>
            <a:r>
              <a:rPr lang="en-US" sz="2400" b="1" dirty="0">
                <a:solidFill>
                  <a:schemeClr val="tx2"/>
                </a:solidFill>
              </a:rPr>
              <a:t>Individualists and collectivists: who listens to whom</a:t>
            </a:r>
            <a:endParaRPr lang="en-US" sz="2400" dirty="0"/>
          </a:p>
        </p:txBody>
      </p:sp>
      <p:sp>
        <p:nvSpPr>
          <p:cNvPr id="3" name="type-head"/>
          <p:cNvSpPr txBox="1"/>
          <p:nvPr/>
        </p:nvSpPr>
        <p:spPr>
          <a:xfrm>
            <a:off x="640080" y="1143000"/>
            <a:ext cx="3657600" cy="365760"/>
          </a:xfrm>
          <a:prstGeom prst="rect">
            <a:avLst/>
          </a:prstGeom>
          <a:noFill/>
          <a:ln/>
        </p:spPr>
        <p:txBody>
          <a:bodyPr wrap="square" lIns="0" tIns="0" rIns="0" bIns="0" rtlCol="0" anchor="ctr"/>
          <a:lstStyle/>
          <a:p>
            <a:pPr indent="0" marL="0">
              <a:buNone/>
            </a:pPr>
            <a:r>
              <a:rPr lang="en-US" sz="1800" b="1" dirty="0">
                <a:solidFill>
                  <a:srgbClr val="D62828"/>
                </a:solidFill>
              </a:rPr>
              <a:t>Individualists</a:t>
            </a:r>
            <a:endParaRPr lang="en-US" sz="1800" dirty="0"/>
          </a:p>
        </p:txBody>
      </p:sp>
      <p:sp>
        <p:nvSpPr>
          <p:cNvPr id="4" name="bullets"/>
          <p:cNvSpPr txBox="1"/>
          <p:nvPr/>
        </p:nvSpPr>
        <p:spPr>
          <a:xfrm>
            <a:off x="640080" y="1600200"/>
            <a:ext cx="3657600" cy="17373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Trust their own information about the bank</a:t>
            </a:r>
            <a:endParaRPr lang="en-US" sz="1300" dirty="0"/>
          </a:p>
          <a:p>
            <a:pPr marL="177800" indent="-177800">
              <a:spcAft>
                <a:spcPts val="500"/>
              </a:spcAft>
              <a:buSzPct val="100000"/>
              <a:buChar char="•"/>
            </a:pPr>
            <a:r>
              <a:rPr lang="en-US" sz="1300" dirty="0">
                <a:solidFill>
                  <a:schemeClr val="tx1"/>
                </a:solidFill>
              </a:rPr>
              <a:t>Put little weight on what neighbours do or on public news</a:t>
            </a:r>
            <a:endParaRPr lang="en-US" sz="1300" dirty="0"/>
          </a:p>
          <a:p>
            <a:pPr marL="177800" indent="-177800">
              <a:spcAft>
                <a:spcPts val="500"/>
              </a:spcAft>
              <a:buSzPct val="100000"/>
              <a:buChar char="•"/>
            </a:pPr>
            <a:r>
              <a:rPr lang="en-US" sz="1300" dirty="0">
                <a:solidFill>
                  <a:schemeClr val="tx1"/>
                </a:solidFill>
              </a:rPr>
              <a:t>Weight on the social side: λ = 0.1 to 0.3</a:t>
            </a:r>
            <a:endParaRPr lang="en-US" sz="1300" dirty="0"/>
          </a:p>
          <a:p>
            <a:pPr marL="177800" indent="-177800">
              <a:spcAft>
                <a:spcPts val="500"/>
              </a:spcAft>
              <a:buSzPct val="100000"/>
              <a:buChar char="•"/>
            </a:pPr>
            <a:r>
              <a:rPr lang="en-US" sz="1300" dirty="0">
                <a:solidFill>
                  <a:schemeClr val="tx1"/>
                </a:solidFill>
              </a:rPr>
              <a:t>Act on what they see themselves</a:t>
            </a:r>
            <a:endParaRPr lang="en-US" sz="1300" dirty="0"/>
          </a:p>
        </p:txBody>
      </p:sp>
      <p:sp>
        <p:nvSpPr>
          <p:cNvPr id="5" name="type-head"/>
          <p:cNvSpPr txBox="1"/>
          <p:nvPr/>
        </p:nvSpPr>
        <p:spPr>
          <a:xfrm>
            <a:off x="4846320" y="1143000"/>
            <a:ext cx="3657600" cy="365760"/>
          </a:xfrm>
          <a:prstGeom prst="rect">
            <a:avLst/>
          </a:prstGeom>
          <a:noFill/>
          <a:ln/>
        </p:spPr>
        <p:txBody>
          <a:bodyPr wrap="square" lIns="0" tIns="0" rIns="0" bIns="0" rtlCol="0" anchor="ctr"/>
          <a:lstStyle/>
          <a:p>
            <a:pPr indent="0" marL="0">
              <a:buNone/>
            </a:pPr>
            <a:r>
              <a:rPr lang="en-US" sz="1800" b="1" dirty="0">
                <a:solidFill>
                  <a:srgbClr val="2A78D6"/>
                </a:solidFill>
              </a:rPr>
              <a:t>Collectivists</a:t>
            </a:r>
            <a:endParaRPr lang="en-US" sz="1800" dirty="0"/>
          </a:p>
        </p:txBody>
      </p:sp>
      <p:sp>
        <p:nvSpPr>
          <p:cNvPr id="6" name="bullets"/>
          <p:cNvSpPr txBox="1"/>
          <p:nvPr/>
        </p:nvSpPr>
        <p:spPr>
          <a:xfrm>
            <a:off x="4846320" y="1600200"/>
            <a:ext cx="3657600" cy="17373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Watch what neighbours do and what the public news says</a:t>
            </a:r>
            <a:endParaRPr lang="en-US" sz="1300" dirty="0"/>
          </a:p>
          <a:p>
            <a:pPr marL="177800" indent="-177800">
              <a:spcAft>
                <a:spcPts val="500"/>
              </a:spcAft>
              <a:buSzPct val="100000"/>
              <a:buChar char="•"/>
            </a:pPr>
            <a:r>
              <a:rPr lang="en-US" sz="1300" dirty="0">
                <a:solidFill>
                  <a:schemeClr val="tx1"/>
                </a:solidFill>
              </a:rPr>
              <a:t>Put little weight on their own information</a:t>
            </a:r>
            <a:endParaRPr lang="en-US" sz="1300" dirty="0"/>
          </a:p>
          <a:p>
            <a:pPr marL="177800" indent="-177800">
              <a:spcAft>
                <a:spcPts val="500"/>
              </a:spcAft>
              <a:buSzPct val="100000"/>
              <a:buChar char="•"/>
            </a:pPr>
            <a:r>
              <a:rPr lang="en-US" sz="1300" dirty="0">
                <a:solidFill>
                  <a:schemeClr val="tx1"/>
                </a:solidFill>
              </a:rPr>
              <a:t>Weight on the social side: λ = 0.5 to 0.9</a:t>
            </a:r>
            <a:endParaRPr lang="en-US" sz="1300" dirty="0"/>
          </a:p>
          <a:p>
            <a:pPr marL="177800" indent="-177800">
              <a:spcAft>
                <a:spcPts val="500"/>
              </a:spcAft>
              <a:buSzPct val="100000"/>
              <a:buChar char="•"/>
            </a:pPr>
            <a:r>
              <a:rPr lang="en-US" sz="1300" dirty="0">
                <a:solidFill>
                  <a:schemeClr val="tx1"/>
                </a:solidFill>
              </a:rPr>
              <a:t>Move when others move</a:t>
            </a:r>
            <a:endParaRPr lang="en-US" sz="1300" dirty="0"/>
          </a:p>
        </p:txBody>
      </p:sp>
      <p:sp>
        <p:nvSpPr>
          <p:cNvPr id="7" name="pairs-head"/>
          <p:cNvSpPr txBox="1"/>
          <p:nvPr/>
        </p:nvSpPr>
        <p:spPr>
          <a:xfrm>
            <a:off x="457200" y="3886200"/>
            <a:ext cx="8229600" cy="329184"/>
          </a:xfrm>
          <a:prstGeom prst="rect">
            <a:avLst/>
          </a:prstGeom>
          <a:noFill/>
          <a:ln/>
        </p:spPr>
        <p:txBody>
          <a:bodyPr wrap="square" lIns="0" tIns="0" rIns="0" bIns="0" rtlCol="0" anchor="ctr"/>
          <a:lstStyle/>
          <a:p>
            <a:pPr algn="ctr" indent="0" marL="0">
              <a:buNone/>
            </a:pPr>
            <a:r>
              <a:rPr lang="en-US" sz="1300" b="1" dirty="0">
                <a:solidFill>
                  <a:schemeClr val="tx2"/>
                </a:solidFill>
              </a:rPr>
              <a:t>Signal interpretation gap</a:t>
            </a:r>
            <a:endParaRPr lang="en-US" sz="1300" dirty="0"/>
          </a:p>
        </p:txBody>
      </p:sp>
      <p:sp>
        <p:nvSpPr>
          <p:cNvPr id="8" name="chip"/>
          <p:cNvSpPr/>
          <p:nvPr/>
        </p:nvSpPr>
        <p:spPr>
          <a:xfrm>
            <a:off x="2057400" y="3429000"/>
            <a:ext cx="914400" cy="329184"/>
          </a:xfrm>
          <a:prstGeom prst="roundRect">
            <a:avLst>
              <a:gd name="adj" fmla="val 16667"/>
            </a:avLst>
          </a:prstGeom>
          <a:solidFill>
            <a:schemeClr val="tx2"/>
          </a:solidFill>
          <a:ln w="12700">
            <a:solidFill>
              <a:schemeClr val="tx2"/>
            </a:solidFill>
            <a:prstDash val="solid"/>
          </a:ln>
        </p:spPr>
      </p:sp>
      <p:sp>
        <p:nvSpPr>
          <p:cNvPr id="9" name="chip-label"/>
          <p:cNvSpPr txBox="1"/>
          <p:nvPr/>
        </p:nvSpPr>
        <p:spPr>
          <a:xfrm>
            <a:off x="2057400" y="3429000"/>
            <a:ext cx="914400" cy="329184"/>
          </a:xfrm>
          <a:prstGeom prst="rect">
            <a:avLst/>
          </a:prstGeom>
          <a:noFill/>
          <a:ln/>
        </p:spPr>
        <p:txBody>
          <a:bodyPr wrap="square" lIns="0" tIns="0" rIns="0" bIns="0" rtlCol="0" anchor="ctr"/>
          <a:lstStyle/>
          <a:p>
            <a:pPr algn="ctr" indent="0" marL="0">
              <a:buNone/>
            </a:pPr>
            <a:r>
              <a:rPr lang="en-US" sz="1100" b="1" dirty="0">
                <a:solidFill>
                  <a:schemeClr val="bg1"/>
                </a:solidFill>
                <a:latin typeface="Cambria" pitchFamily="34" charset="0"/>
                <a:ea typeface="Cambria" pitchFamily="34" charset="-122"/>
                <a:cs typeface="Cambria" pitchFamily="34" charset="-120"/>
              </a:rPr>
              <a:t>(0.1, 0.9)</a:t>
            </a:r>
            <a:endParaRPr lang="en-US" sz="1100" dirty="0"/>
          </a:p>
        </p:txBody>
      </p:sp>
      <p:sp>
        <p:nvSpPr>
          <p:cNvPr id="10" name="pair-label"/>
          <p:cNvSpPr txBox="1"/>
          <p:nvPr/>
        </p:nvSpPr>
        <p:spPr>
          <a:xfrm>
            <a:off x="3017520" y="3429000"/>
            <a:ext cx="777240" cy="329184"/>
          </a:xfrm>
          <a:prstGeom prst="rect">
            <a:avLst/>
          </a:prstGeom>
          <a:noFill/>
          <a:ln/>
        </p:spPr>
        <p:txBody>
          <a:bodyPr wrap="square" lIns="0" tIns="0" rIns="0" bIns="0" rtlCol="0" anchor="ctr"/>
          <a:lstStyle/>
          <a:p>
            <a:pPr indent="0" marL="0">
              <a:buNone/>
            </a:pPr>
            <a:r>
              <a:rPr lang="en-US" sz="1200" dirty="0">
                <a:solidFill>
                  <a:schemeClr val="accent3"/>
                </a:solidFill>
              </a:rPr>
              <a:t>wide gap</a:t>
            </a:r>
            <a:endParaRPr lang="en-US" sz="1200" dirty="0"/>
          </a:p>
        </p:txBody>
      </p:sp>
      <p:sp>
        <p:nvSpPr>
          <p:cNvPr id="11" name="chip"/>
          <p:cNvSpPr/>
          <p:nvPr/>
        </p:nvSpPr>
        <p:spPr>
          <a:xfrm>
            <a:off x="3794760" y="3429000"/>
            <a:ext cx="914400" cy="329184"/>
          </a:xfrm>
          <a:prstGeom prst="roundRect">
            <a:avLst>
              <a:gd name="adj" fmla="val 16667"/>
            </a:avLst>
          </a:prstGeom>
          <a:solidFill>
            <a:schemeClr val="accent3"/>
          </a:solidFill>
          <a:ln w="12700">
            <a:solidFill>
              <a:schemeClr val="accent3"/>
            </a:solidFill>
            <a:prstDash val="solid"/>
          </a:ln>
        </p:spPr>
      </p:sp>
      <p:sp>
        <p:nvSpPr>
          <p:cNvPr id="12" name="chip-label"/>
          <p:cNvSpPr txBox="1"/>
          <p:nvPr/>
        </p:nvSpPr>
        <p:spPr>
          <a:xfrm>
            <a:off x="3794760" y="3429000"/>
            <a:ext cx="914400" cy="329184"/>
          </a:xfrm>
          <a:prstGeom prst="rect">
            <a:avLst/>
          </a:prstGeom>
          <a:noFill/>
          <a:ln/>
        </p:spPr>
        <p:txBody>
          <a:bodyPr wrap="square" lIns="0" tIns="0" rIns="0" bIns="0" rtlCol="0" anchor="ctr"/>
          <a:lstStyle/>
          <a:p>
            <a:pPr algn="ctr" indent="0" marL="0">
              <a:buNone/>
            </a:pPr>
            <a:r>
              <a:rPr lang="en-US" sz="1100" b="1" dirty="0">
                <a:solidFill>
                  <a:schemeClr val="bg1"/>
                </a:solidFill>
                <a:latin typeface="Cambria" pitchFamily="34" charset="0"/>
                <a:ea typeface="Cambria" pitchFamily="34" charset="-122"/>
                <a:cs typeface="Cambria" pitchFamily="34" charset="-120"/>
              </a:rPr>
              <a:t>(0.2, 0.8)</a:t>
            </a:r>
            <a:endParaRPr lang="en-US" sz="1100" dirty="0"/>
          </a:p>
        </p:txBody>
      </p:sp>
      <p:sp>
        <p:nvSpPr>
          <p:cNvPr id="13" name="pair-label"/>
          <p:cNvSpPr txBox="1"/>
          <p:nvPr/>
        </p:nvSpPr>
        <p:spPr>
          <a:xfrm>
            <a:off x="4754880" y="3429000"/>
            <a:ext cx="777240" cy="329184"/>
          </a:xfrm>
          <a:prstGeom prst="rect">
            <a:avLst/>
          </a:prstGeom>
          <a:noFill/>
          <a:ln/>
        </p:spPr>
        <p:txBody>
          <a:bodyPr wrap="square" lIns="0" tIns="0" rIns="0" bIns="0" rtlCol="0" anchor="ctr"/>
          <a:lstStyle/>
          <a:p>
            <a:pPr indent="0" marL="0">
              <a:buNone/>
            </a:pPr>
            <a:r>
              <a:rPr lang="en-US" sz="1200" dirty="0">
                <a:solidFill>
                  <a:schemeClr val="accent3"/>
                </a:solidFill>
              </a:rPr>
              <a:t>medium</a:t>
            </a:r>
            <a:endParaRPr lang="en-US" sz="1200" dirty="0"/>
          </a:p>
        </p:txBody>
      </p:sp>
      <p:sp>
        <p:nvSpPr>
          <p:cNvPr id="14" name="chip"/>
          <p:cNvSpPr/>
          <p:nvPr/>
        </p:nvSpPr>
        <p:spPr>
          <a:xfrm>
            <a:off x="5532120" y="3429000"/>
            <a:ext cx="914400" cy="329184"/>
          </a:xfrm>
          <a:prstGeom prst="roundRect">
            <a:avLst>
              <a:gd name="adj" fmla="val 16667"/>
            </a:avLst>
          </a:prstGeom>
          <a:solidFill>
            <a:schemeClr val="accent4"/>
          </a:solidFill>
          <a:ln w="12700">
            <a:solidFill>
              <a:schemeClr val="accent4"/>
            </a:solidFill>
            <a:prstDash val="solid"/>
          </a:ln>
        </p:spPr>
      </p:sp>
      <p:sp>
        <p:nvSpPr>
          <p:cNvPr id="15" name="chip-label"/>
          <p:cNvSpPr txBox="1"/>
          <p:nvPr/>
        </p:nvSpPr>
        <p:spPr>
          <a:xfrm>
            <a:off x="5532120" y="3429000"/>
            <a:ext cx="914400"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ambria" pitchFamily="34" charset="0"/>
                <a:ea typeface="Cambria" pitchFamily="34" charset="-122"/>
                <a:cs typeface="Cambria" pitchFamily="34" charset="-120"/>
              </a:rPr>
              <a:t>(0.3, 0.5)</a:t>
            </a:r>
            <a:endParaRPr lang="en-US" sz="1100" dirty="0"/>
          </a:p>
        </p:txBody>
      </p:sp>
      <p:sp>
        <p:nvSpPr>
          <p:cNvPr id="16" name="pair-label"/>
          <p:cNvSpPr txBox="1"/>
          <p:nvPr/>
        </p:nvSpPr>
        <p:spPr>
          <a:xfrm>
            <a:off x="6492240" y="3429000"/>
            <a:ext cx="777240" cy="329184"/>
          </a:xfrm>
          <a:prstGeom prst="rect">
            <a:avLst/>
          </a:prstGeom>
          <a:noFill/>
          <a:ln/>
        </p:spPr>
        <p:txBody>
          <a:bodyPr wrap="square" lIns="0" tIns="0" rIns="0" bIns="0" rtlCol="0" anchor="ctr"/>
          <a:lstStyle/>
          <a:p>
            <a:pPr indent="0" marL="0">
              <a:buNone/>
            </a:pPr>
            <a:r>
              <a:rPr lang="en-US" sz="1200" dirty="0">
                <a:solidFill>
                  <a:schemeClr val="accent3"/>
                </a:solidFill>
              </a:rPr>
              <a:t>narrow</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97280"/>
          </a:xfrm>
          <a:prstGeom prst="rect">
            <a:avLst/>
          </a:prstGeom>
          <a:noFill/>
          <a:ln/>
        </p:spPr>
        <p:txBody>
          <a:bodyPr wrap="square" lIns="0" tIns="0" rIns="0" bIns="0" rtlCol="0" anchor="ctr"/>
          <a:lstStyle/>
          <a:p>
            <a:pPr algn="ctr" indent="0" marL="0">
              <a:buNone/>
            </a:pPr>
            <a:r>
              <a:rPr lang="en-US" sz="3200" b="1" dirty="0">
                <a:solidFill>
                  <a:schemeClr val="bg1"/>
                </a:solidFill>
              </a:rPr>
              <a:t>Results</a:t>
            </a:r>
            <a:endParaRPr lang="en-US" sz="3200" dirty="0"/>
          </a:p>
        </p:txBody>
      </p:sp>
      <p:sp>
        <p:nvSpPr>
          <p:cNvPr id="4" name="Text 0"/>
          <p:cNvSpPr/>
          <p:nvPr>
            <p:ph idx="101" type="body" hasCustomPrompt="1"/>
          </p:nvPr>
        </p:nvSpPr>
        <p:spPr>
          <a:xfrm>
            <a:off x="548640" y="2971800"/>
            <a:ext cx="8046720" cy="731520"/>
          </a:xfrm>
          <a:prstGeom prst="rect">
            <a:avLst/>
          </a:prstGeom>
          <a:noFill/>
          <a:ln/>
        </p:spPr>
        <p:txBody>
          <a:bodyPr wrap="square" lIns="0" tIns="0" rIns="0" bIns="0" rtlCol="0" anchor="t"/>
          <a:lstStyle/>
          <a:p>
            <a:pPr algn="ctr" indent="0" marL="0">
              <a:buNone/>
            </a:pP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ctr" indent="0" marL="0">
              <a:buNone/>
            </a:pPr>
            <a:r>
              <a:rPr lang="en-US" sz="2400" b="1" dirty="0">
                <a:solidFill>
                  <a:schemeClr val="tx2"/>
                </a:solidFill>
              </a:rPr>
              <a:t>Collectivists herd</a:t>
            </a:r>
            <a:endParaRPr lang="en-US" sz="2400" dirty="0"/>
          </a:p>
        </p:txBody>
      </p:sp>
      <p:pic>
        <p:nvPicPr>
          <p:cNvPr id="3" name="e07" descr="Chance of withdrawing by share of neighbours who have withdrawn: collectivists jump to near 1 once 20 to 35 percent of neighbours are out; individualists level off near 0.25 to 0.30.">    </p:cNvPr>
          <p:cNvPicPr>
            <a:picLocks noChangeAspect="1"/>
          </p:cNvPicPr>
          <p:nvPr/>
        </p:nvPicPr>
        <p:blipFill>
          <a:blip r:embed="rId1"/>
          <a:stretch>
            <a:fillRect/>
          </a:stretch>
        </p:blipFill>
        <p:spPr>
          <a:xfrm>
            <a:off x="1738480" y="1005840"/>
            <a:ext cx="5667040" cy="3611880"/>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ctr" indent="0" marL="0">
              <a:buNone/>
            </a:pPr>
            <a:r>
              <a:rPr lang="en-US" sz="2400" b="1" dirty="0">
                <a:solidFill>
                  <a:schemeClr val="tx2"/>
                </a:solidFill>
              </a:rPr>
              <a:t>More individualists, fewer failures</a:t>
            </a:r>
            <a:endParaRPr lang="en-US" sz="2400" dirty="0"/>
          </a:p>
        </p:txBody>
      </p:sp>
      <p:pic>
        <p:nvPicPr>
          <p:cNvPr id="3" name="e05" descr="Chance the bank fails by share of individualists: falls from about 0.67 with no individualists to about 0.08 with all individualists for the large difference pair; monotone for every pair.">    </p:cNvPr>
          <p:cNvPicPr>
            <a:picLocks noChangeAspect="1"/>
          </p:cNvPicPr>
          <p:nvPr/>
        </p:nvPicPr>
        <p:blipFill>
          <a:blip r:embed="rId1"/>
          <a:stretch>
            <a:fillRect/>
          </a:stretch>
        </p:blipFill>
        <p:spPr>
          <a:xfrm>
            <a:off x="1821553" y="1005840"/>
            <a:ext cx="5500893" cy="3611880"/>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ctr" indent="0" marL="0">
              <a:buNone/>
            </a:pPr>
            <a:r>
              <a:rPr lang="en-US" sz="2400" b="1" dirty="0">
                <a:solidFill>
                  <a:schemeClr val="tx2"/>
                </a:solidFill>
              </a:rPr>
              <a:t>Outdated news cuts both ways</a:t>
            </a:r>
            <a:endParaRPr lang="en-US" sz="2400" dirty="0"/>
          </a:p>
        </p:txBody>
      </p:sp>
      <p:pic>
        <p:nvPicPr>
          <p:cNvPr id="3" name="e08" descr="Chance the bank fails by kind of public news: outdated pessimistic news raises it to about 0.48, accurate news barely changes it from no news (0.29 vs 0.31), outdated optimistic news lowers it to 0.16.">    </p:cNvPr>
          <p:cNvPicPr>
            <a:picLocks noChangeAspect="1"/>
          </p:cNvPicPr>
          <p:nvPr/>
        </p:nvPicPr>
        <p:blipFill>
          <a:blip r:embed="rId1"/>
          <a:stretch>
            <a:fillRect/>
          </a:stretch>
        </p:blipFill>
        <p:spPr>
          <a:xfrm>
            <a:off x="730766" y="1005840"/>
            <a:ext cx="7682469" cy="3611880"/>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ctr" indent="0" marL="0">
              <a:buNone/>
            </a:pPr>
            <a:r>
              <a:rPr lang="en-US" sz="2400" b="1" dirty="0">
                <a:solidFill>
                  <a:schemeClr val="tx2"/>
                </a:solidFill>
              </a:rPr>
              <a:t>Varying the deposit-size distribution</a:t>
            </a:r>
            <a:endParaRPr lang="en-US" sz="2400" dirty="0"/>
          </a:p>
        </p:txBody>
      </p:sp>
      <p:pic>
        <p:nvPicPr>
          <p:cNvPr id="3" name="e10" descr="Chance the bank fails by share of individualists for three deposit-size distributions: uncapped large deposits fail most often; capped at 1 percent matches the bank with similar-sized deposits at every share.">    </p:cNvPr>
          <p:cNvPicPr>
            <a:picLocks noChangeAspect="1"/>
          </p:cNvPicPr>
          <p:nvPr/>
        </p:nvPicPr>
        <p:blipFill>
          <a:blip r:embed="rId1"/>
          <a:stretch>
            <a:fillRect/>
          </a:stretch>
        </p:blipFill>
        <p:spPr>
          <a:xfrm>
            <a:off x="1861284" y="1005840"/>
            <a:ext cx="5421432" cy="3611880"/>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ctr" indent="0" marL="0">
              <a:buNone/>
            </a:pPr>
            <a:r>
              <a:rPr lang="en-US" sz="2400" b="1" dirty="0">
                <a:solidFill>
                  <a:schemeClr val="tx2"/>
                </a:solidFill>
              </a:rPr>
              <a:t>Does the model hold up?</a:t>
            </a:r>
            <a:endParaRPr lang="en-US" sz="2400" dirty="0"/>
          </a:p>
        </p:txBody>
      </p:sp>
      <p:pic>
        <p:nvPicPr>
          <p:cNvPr id="3" name="e01" descr="Individualists' run rate minus collectivists', relative to no news, against how far public news is from the truth: rises from negative when news is pessimistic to positive when optimistic, more steeply for the wide lambda gap.">    </p:cNvPr>
          <p:cNvPicPr>
            <a:picLocks noChangeAspect="1"/>
          </p:cNvPicPr>
          <p:nvPr/>
        </p:nvPicPr>
        <p:blipFill>
          <a:blip r:embed="rId1"/>
          <a:stretch>
            <a:fillRect/>
          </a:stretch>
        </p:blipFill>
        <p:spPr>
          <a:xfrm>
            <a:off x="1711391" y="1005840"/>
            <a:ext cx="5721218" cy="3611880"/>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ctr" indent="0" marL="0">
              <a:buNone/>
            </a:pPr>
            <a:r>
              <a:rPr lang="en-US" sz="2400" b="1" dirty="0">
                <a:solidFill>
                  <a:schemeClr val="tx2"/>
                </a:solidFill>
              </a:rPr>
              <a:t>Takeaways and next steps</a:t>
            </a:r>
            <a:endParaRPr lang="en-US" sz="2400" dirty="0"/>
          </a:p>
        </p:txBody>
      </p:sp>
      <p:sp>
        <p:nvSpPr>
          <p:cNvPr id="3" name="take-head"/>
          <p:cNvSpPr txBox="1"/>
          <p:nvPr/>
        </p:nvSpPr>
        <p:spPr>
          <a:xfrm>
            <a:off x="457200" y="1051560"/>
            <a:ext cx="2743200" cy="530352"/>
          </a:xfrm>
          <a:prstGeom prst="rect">
            <a:avLst/>
          </a:prstGeom>
          <a:noFill/>
          <a:ln/>
        </p:spPr>
        <p:txBody>
          <a:bodyPr wrap="square" lIns="0" tIns="0" rIns="0" bIns="0" rtlCol="0" anchor="ctr"/>
          <a:lstStyle/>
          <a:p>
            <a:pPr indent="0" marL="0">
              <a:buNone/>
            </a:pPr>
            <a:r>
              <a:rPr lang="en-US" sz="1300" b="1" dirty="0">
                <a:solidFill>
                  <a:schemeClr val="accent1"/>
                </a:solidFill>
              </a:rPr>
              <a:t>1:  </a:t>
            </a:r>
            <a:pPr indent="0" marL="0">
              <a:buNone/>
            </a:pPr>
            <a:r>
              <a:rPr lang="en-US" sz="1300" b="1" dirty="0">
                <a:solidFill>
                  <a:schemeClr val="tx2"/>
                </a:solidFill>
              </a:rPr>
              <a:t>Sorting follows the news</a:t>
            </a:r>
            <a:endParaRPr lang="en-US" sz="1300" dirty="0"/>
          </a:p>
        </p:txBody>
      </p:sp>
      <p:sp>
        <p:nvSpPr>
          <p:cNvPr id="4" name="take-body"/>
          <p:cNvSpPr txBox="1"/>
          <p:nvPr/>
        </p:nvSpPr>
        <p:spPr>
          <a:xfrm>
            <a:off x="3291840" y="1051560"/>
            <a:ext cx="5394960" cy="530352"/>
          </a:xfrm>
          <a:prstGeom prst="rect">
            <a:avLst/>
          </a:prstGeom>
          <a:noFill/>
          <a:ln/>
        </p:spPr>
        <p:txBody>
          <a:bodyPr wrap="square" lIns="0" tIns="0" rIns="0" bIns="0" rtlCol="0" anchor="ctr"/>
          <a:lstStyle/>
          <a:p>
            <a:pPr indent="0" marL="0">
              <a:buNone/>
            </a:pPr>
            <a:r>
              <a:rPr lang="en-US" sz="1200" dirty="0">
                <a:solidFill>
                  <a:schemeClr val="tx1"/>
                </a:solidFill>
              </a:rPr>
              <a:t>Optimistic public news makes individualists run relatively more; pessimistic news, collectivists.</a:t>
            </a:r>
            <a:endParaRPr lang="en-US" sz="1200" dirty="0"/>
          </a:p>
        </p:txBody>
      </p:sp>
      <p:sp>
        <p:nvSpPr>
          <p:cNvPr id="5" name="take-head"/>
          <p:cNvSpPr txBox="1"/>
          <p:nvPr/>
        </p:nvSpPr>
        <p:spPr>
          <a:xfrm>
            <a:off x="457200" y="1627632"/>
            <a:ext cx="2743200" cy="530352"/>
          </a:xfrm>
          <a:prstGeom prst="rect">
            <a:avLst/>
          </a:prstGeom>
          <a:noFill/>
          <a:ln/>
        </p:spPr>
        <p:txBody>
          <a:bodyPr wrap="square" lIns="0" tIns="0" rIns="0" bIns="0" rtlCol="0" anchor="ctr"/>
          <a:lstStyle/>
          <a:p>
            <a:pPr indent="0" marL="0">
              <a:buNone/>
            </a:pPr>
            <a:r>
              <a:rPr lang="en-US" sz="1300" b="1" dirty="0">
                <a:solidFill>
                  <a:schemeClr val="accent1"/>
                </a:solidFill>
              </a:rPr>
              <a:t>2:  </a:t>
            </a:r>
            <a:pPr indent="0" marL="0">
              <a:buNone/>
            </a:pPr>
            <a:r>
              <a:rPr lang="en-US" sz="1300" b="1" dirty="0">
                <a:solidFill>
                  <a:schemeClr val="tx2"/>
                </a:solidFill>
              </a:rPr>
              <a:t>Collectivists herd</a:t>
            </a:r>
            <a:endParaRPr lang="en-US" sz="1300" dirty="0"/>
          </a:p>
        </p:txBody>
      </p:sp>
      <p:sp>
        <p:nvSpPr>
          <p:cNvPr id="6" name="take-body"/>
          <p:cNvSpPr txBox="1"/>
          <p:nvPr/>
        </p:nvSpPr>
        <p:spPr>
          <a:xfrm>
            <a:off x="3291840" y="1627632"/>
            <a:ext cx="5394960" cy="530352"/>
          </a:xfrm>
          <a:prstGeom prst="rect">
            <a:avLst/>
          </a:prstGeom>
          <a:noFill/>
          <a:ln/>
        </p:spPr>
        <p:txBody>
          <a:bodyPr wrap="square" lIns="0" tIns="0" rIns="0" bIns="0" rtlCol="0" anchor="ctr"/>
          <a:lstStyle/>
          <a:p>
            <a:pPr indent="0" marL="0">
              <a:buNone/>
            </a:pPr>
            <a:r>
              <a:rPr lang="en-US" sz="1200" dirty="0">
                <a:solidFill>
                  <a:schemeClr val="tx1"/>
                </a:solidFill>
              </a:rPr>
              <a:t>Their chance of withdrawing jumps from 0.15 to 0.93 once 20–35% of neighbours are out; individualists level off near 0.3.</a:t>
            </a:r>
            <a:endParaRPr lang="en-US" sz="1200" dirty="0"/>
          </a:p>
        </p:txBody>
      </p:sp>
      <p:sp>
        <p:nvSpPr>
          <p:cNvPr id="7" name="take-head"/>
          <p:cNvSpPr txBox="1"/>
          <p:nvPr/>
        </p:nvSpPr>
        <p:spPr>
          <a:xfrm>
            <a:off x="457200" y="2203704"/>
            <a:ext cx="2743200" cy="530352"/>
          </a:xfrm>
          <a:prstGeom prst="rect">
            <a:avLst/>
          </a:prstGeom>
          <a:noFill/>
          <a:ln/>
        </p:spPr>
        <p:txBody>
          <a:bodyPr wrap="square" lIns="0" tIns="0" rIns="0" bIns="0" rtlCol="0" anchor="ctr"/>
          <a:lstStyle/>
          <a:p>
            <a:pPr indent="0" marL="0">
              <a:buNone/>
            </a:pPr>
            <a:r>
              <a:rPr lang="en-US" sz="1300" b="1" dirty="0">
                <a:solidFill>
                  <a:schemeClr val="accent1"/>
                </a:solidFill>
              </a:rPr>
              <a:t>3:  </a:t>
            </a:r>
            <a:pPr indent="0" marL="0">
              <a:buNone/>
            </a:pPr>
            <a:r>
              <a:rPr lang="en-US" sz="1300" b="1" dirty="0">
                <a:solidFill>
                  <a:schemeClr val="tx2"/>
                </a:solidFill>
              </a:rPr>
              <a:t>More individualists, fewer failures</a:t>
            </a:r>
            <a:endParaRPr lang="en-US" sz="1300" dirty="0"/>
          </a:p>
        </p:txBody>
      </p:sp>
      <p:sp>
        <p:nvSpPr>
          <p:cNvPr id="8" name="take-body"/>
          <p:cNvSpPr txBox="1"/>
          <p:nvPr/>
        </p:nvSpPr>
        <p:spPr>
          <a:xfrm>
            <a:off x="3291840" y="2203704"/>
            <a:ext cx="5394960" cy="530352"/>
          </a:xfrm>
          <a:prstGeom prst="rect">
            <a:avLst/>
          </a:prstGeom>
          <a:noFill/>
          <a:ln/>
        </p:spPr>
        <p:txBody>
          <a:bodyPr wrap="square" lIns="0" tIns="0" rIns="0" bIns="0" rtlCol="0" anchor="ctr"/>
          <a:lstStyle/>
          <a:p>
            <a:pPr indent="0" marL="0">
              <a:buNone/>
            </a:pPr>
            <a:r>
              <a:rPr lang="en-US" sz="1200" dirty="0">
                <a:solidFill>
                  <a:schemeClr val="tx1"/>
                </a:solidFill>
              </a:rPr>
              <a:t>P(fail) falls from 0.67 to 0.08 as the individualist share goes from 0 to 1.</a:t>
            </a:r>
            <a:endParaRPr lang="en-US" sz="1200" dirty="0"/>
          </a:p>
        </p:txBody>
      </p:sp>
      <p:sp>
        <p:nvSpPr>
          <p:cNvPr id="9" name="take-head"/>
          <p:cNvSpPr txBox="1"/>
          <p:nvPr/>
        </p:nvSpPr>
        <p:spPr>
          <a:xfrm>
            <a:off x="457200" y="2779776"/>
            <a:ext cx="2743200" cy="530352"/>
          </a:xfrm>
          <a:prstGeom prst="rect">
            <a:avLst/>
          </a:prstGeom>
          <a:noFill/>
          <a:ln/>
        </p:spPr>
        <p:txBody>
          <a:bodyPr wrap="square" lIns="0" tIns="0" rIns="0" bIns="0" rtlCol="0" anchor="ctr"/>
          <a:lstStyle/>
          <a:p>
            <a:pPr indent="0" marL="0">
              <a:buNone/>
            </a:pPr>
            <a:r>
              <a:rPr lang="en-US" sz="1300" b="1" dirty="0">
                <a:solidFill>
                  <a:schemeClr val="accent1"/>
                </a:solidFill>
              </a:rPr>
              <a:t>4:  </a:t>
            </a:r>
            <a:pPr indent="0" marL="0">
              <a:buNone/>
            </a:pPr>
            <a:r>
              <a:rPr lang="en-US" sz="1300" b="1" dirty="0">
                <a:solidFill>
                  <a:schemeClr val="tx2"/>
                </a:solidFill>
              </a:rPr>
              <a:t>Stale news cuts both ways</a:t>
            </a:r>
            <a:endParaRPr lang="en-US" sz="1300" dirty="0"/>
          </a:p>
        </p:txBody>
      </p:sp>
      <p:sp>
        <p:nvSpPr>
          <p:cNvPr id="10" name="take-body"/>
          <p:cNvSpPr txBox="1"/>
          <p:nvPr/>
        </p:nvSpPr>
        <p:spPr>
          <a:xfrm>
            <a:off x="3291840" y="2779776"/>
            <a:ext cx="5394960" cy="530352"/>
          </a:xfrm>
          <a:prstGeom prst="rect">
            <a:avLst/>
          </a:prstGeom>
          <a:noFill/>
          <a:ln/>
        </p:spPr>
        <p:txBody>
          <a:bodyPr wrap="square" lIns="0" tIns="0" rIns="0" bIns="0" rtlCol="0" anchor="ctr"/>
          <a:lstStyle/>
          <a:p>
            <a:pPr indent="0" marL="0">
              <a:buNone/>
            </a:pPr>
            <a:r>
              <a:rPr lang="en-US" sz="1200" dirty="0">
                <a:solidFill>
                  <a:schemeClr val="tx1"/>
                </a:solidFill>
              </a:rPr>
              <a:t>A stale optimistic signal halves failure, a stale pessimistic one raises it by half. Accurate news barely moves it.</a:t>
            </a:r>
            <a:endParaRPr lang="en-US" sz="1200" dirty="0"/>
          </a:p>
        </p:txBody>
      </p:sp>
      <p:sp>
        <p:nvSpPr>
          <p:cNvPr id="11" name="take-head"/>
          <p:cNvSpPr txBox="1"/>
          <p:nvPr/>
        </p:nvSpPr>
        <p:spPr>
          <a:xfrm>
            <a:off x="457200" y="3355848"/>
            <a:ext cx="2743200" cy="530352"/>
          </a:xfrm>
          <a:prstGeom prst="rect">
            <a:avLst/>
          </a:prstGeom>
          <a:noFill/>
          <a:ln/>
        </p:spPr>
        <p:txBody>
          <a:bodyPr wrap="square" lIns="0" tIns="0" rIns="0" bIns="0" rtlCol="0" anchor="ctr"/>
          <a:lstStyle/>
          <a:p>
            <a:pPr indent="0" marL="0">
              <a:buNone/>
            </a:pPr>
            <a:r>
              <a:rPr lang="en-US" sz="1300" b="1" dirty="0">
                <a:solidFill>
                  <a:schemeClr val="accent1"/>
                </a:solidFill>
              </a:rPr>
              <a:t>5:  </a:t>
            </a:r>
            <a:pPr indent="0" marL="0">
              <a:buNone/>
            </a:pPr>
            <a:r>
              <a:rPr lang="en-US" sz="1300" b="1" dirty="0">
                <a:solidFill>
                  <a:schemeClr val="tx2"/>
                </a:solidFill>
              </a:rPr>
              <a:t>Capping the largest deposits</a:t>
            </a:r>
            <a:endParaRPr lang="en-US" sz="1300" dirty="0"/>
          </a:p>
        </p:txBody>
      </p:sp>
      <p:sp>
        <p:nvSpPr>
          <p:cNvPr id="12" name="take-body"/>
          <p:cNvSpPr txBox="1"/>
          <p:nvPr/>
        </p:nvSpPr>
        <p:spPr>
          <a:xfrm>
            <a:off x="3291840" y="3355848"/>
            <a:ext cx="5394960" cy="530352"/>
          </a:xfrm>
          <a:prstGeom prst="rect">
            <a:avLst/>
          </a:prstGeom>
          <a:noFill/>
          <a:ln/>
        </p:spPr>
        <p:txBody>
          <a:bodyPr wrap="square" lIns="0" tIns="0" rIns="0" bIns="0" rtlCol="0" anchor="ctr"/>
          <a:lstStyle/>
          <a:p>
            <a:pPr indent="0" marL="0">
              <a:buNone/>
            </a:pPr>
            <a:r>
              <a:rPr lang="en-US" sz="1200" dirty="0">
                <a:solidFill>
                  <a:schemeClr val="tx1"/>
                </a:solidFill>
              </a:rPr>
              <a:t>A 1% cap brings failure down to the no-concentration bank’s level; the culture gradient is unchanged.</a:t>
            </a:r>
            <a:endParaRPr lang="en-US" sz="1200" dirty="0"/>
          </a:p>
        </p:txBody>
      </p:sp>
      <p:sp>
        <p:nvSpPr>
          <p:cNvPr id="13" name="take-head"/>
          <p:cNvSpPr txBox="1"/>
          <p:nvPr/>
        </p:nvSpPr>
        <p:spPr>
          <a:xfrm>
            <a:off x="457200" y="3931920"/>
            <a:ext cx="2743200" cy="530352"/>
          </a:xfrm>
          <a:prstGeom prst="rect">
            <a:avLst/>
          </a:prstGeom>
          <a:noFill/>
          <a:ln/>
        </p:spPr>
        <p:txBody>
          <a:bodyPr wrap="square" lIns="0" tIns="0" rIns="0" bIns="0" rtlCol="0" anchor="ctr"/>
          <a:lstStyle/>
          <a:p>
            <a:pPr indent="0" marL="0">
              <a:buNone/>
            </a:pPr>
            <a:r>
              <a:rPr lang="en-US" sz="1300" b="1" dirty="0">
                <a:solidFill>
                  <a:schemeClr val="accent1"/>
                </a:solidFill>
              </a:rPr>
              <a:t>6:  </a:t>
            </a:r>
            <a:pPr indent="0" marL="0">
              <a:buNone/>
            </a:pPr>
            <a:r>
              <a:rPr lang="en-US" sz="1300" b="1" dirty="0">
                <a:solidFill>
                  <a:schemeClr val="tx2"/>
                </a:solidFill>
              </a:rPr>
              <a:t>Not yet matched</a:t>
            </a:r>
            <a:endParaRPr lang="en-US" sz="1300" dirty="0"/>
          </a:p>
        </p:txBody>
      </p:sp>
      <p:sp>
        <p:nvSpPr>
          <p:cNvPr id="14" name="take-body"/>
          <p:cNvSpPr txBox="1"/>
          <p:nvPr/>
        </p:nvSpPr>
        <p:spPr>
          <a:xfrm>
            <a:off x="3291840" y="3931920"/>
            <a:ext cx="5394960" cy="530352"/>
          </a:xfrm>
          <a:prstGeom prst="rect">
            <a:avLst/>
          </a:prstGeom>
          <a:noFill/>
          <a:ln/>
        </p:spPr>
        <p:txBody>
          <a:bodyPr wrap="square" lIns="0" tIns="0" rIns="0" bIns="0" rtlCol="0" anchor="ctr"/>
          <a:lstStyle/>
          <a:p>
            <a:pPr indent="0" marL="0">
              <a:buNone/>
            </a:pPr>
            <a:r>
              <a:rPr lang="en-US" sz="1200" dirty="0">
                <a:solidFill>
                  <a:schemeClr val="tx1"/>
                </a:solidFill>
              </a:rPr>
              <a:t>How large depositors exit in real runs.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Bank Run Talk">
  <a:themeElements>
    <a:clrScheme name="Bank Run Talk">
      <a:dk1>
        <a:srgbClr val="1F2937"/>
      </a:dk1>
      <a:lt1>
        <a:srgbClr val="FFFFFF"/>
      </a:lt1>
      <a:dk2>
        <a:srgbClr val="16213E"/>
      </a:dk2>
      <a:lt2>
        <a:srgbClr val="EEF2F9"/>
      </a:lt2>
      <a:accent1>
        <a:srgbClr val="3B6BB5"/>
      </a:accent1>
      <a:accent2>
        <a:srgbClr val="C9502E"/>
      </a:accent2>
      <a:accent3>
        <a:srgbClr val="6B7280"/>
      </a:accent3>
      <a:accent4>
        <a:srgbClr val="D9E3F3"/>
      </a:accent4>
      <a:accent5>
        <a:srgbClr val="2E7D5B"/>
      </a:accent5>
      <a:accent6>
        <a:srgbClr val="E08A2E"/>
      </a:accent6>
      <a:hlink>
        <a:srgbClr val="3B6BB5"/>
      </a:hlink>
      <a:folHlink>
        <a:srgbClr val="6B7280"/>
      </a:folHlink>
    </a:clrScheme>
    <a:fontScheme name="Bank Run Tal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Agent-based Diamond–Dybvig with Cultural Heterogeneity</dc:title>
  <dc:subject>PptxGenJS Presentation</dc:subject>
  <dc:creator>Walter Stover</dc:creator>
  <cp:lastModifiedBy>Walter Stover</cp:lastModifiedBy>
  <cp:revision>1</cp:revision>
  <dcterms:created xsi:type="dcterms:W3CDTF">2026-10-26T12:48:59Z</dcterms:created>
  <dcterms:modified xsi:type="dcterms:W3CDTF">2026-10-26T12:48:59Z</dcterms:modified>
</cp:coreProperties>
</file>