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5747bc9-fbff-27bd-8aa5-5a4fae069394}">
          <p14:sldIdLst>
            <p14:sldId id="256"/>
            <p14:sldId id="257"/>
            <p14:sldId id="258"/>
            <p14:sldId id="259"/>
            <p14:sldId id="260"/>
            <p14:sldId id="261"/>
          </p14:sldIdLst>
        </p14:section>
        <p14:section name="The model" id="{9d0c14df-bb4b-d725-5f23-c886e55d2248}">
          <p14:sldIdLst>
            <p14:sldId id="262"/>
            <p14:sldId id="263"/>
          </p14:sldIdLst>
        </p14:section>
        <p14:section name="Results" id="{2d66c5e5-8eab-8a04-4be3-89b73e6948d4}">
          <p14:sldIdLst>
            <p14:sldId id="264"/>
            <p14:sldId id="265"/>
            <p14:sldId id="266"/>
            <p14:sldId id="267"/>
          </p14:sldIdLst>
        </p14:section>
        <p14:section name="Validation" id="{512177da-e3e1-33b4-f7ac-30aa9211fc0b}">
          <p14:sldIdLst>
            <p14:sldId id="268"/>
          </p14:sldIdLst>
        </p14:section>
        <p14:section name="Close" id="{c984a01f-8343-fd6a-056e-d8b13e51c458}">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model in one line: a depositor blends what they are told with what they see, and the blend weight is a disposition, not a precision calculation (Chapter 1 writes it omega; the simulation writes it lambda). Subtracting the two types' estimates gives the wedge (lambda_C minus lambda_I)(x minus y): with the same pair of signals, the individualist's estimate is lower whenever private evidence is worse than the public line, so individualists run on a wider set of signals when the news is stale-optimistic, and the inclusion reverses when the news is stale-pessimistic. That is the sorting prediction the simulation tests. In the simulation, the public side is what neighbours do and what the news says, and lambda is drawn per agent in a cultural warm-up. Next: the simulation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 = 1,000 depositors on a small-world network; one bank that sells assets at a discount when cash runs short (fire-sale bank). Each tick a depositor sees neighbours' withdrawals and the public news, blends them with a private signal, and withdraws if that pays. Reference bank: deposits log-normal (sigma 2.5), each capped at 1% of the total; CARA 0.1; partial withdrawals allowed. The diagram is the technical ODD overview: walk the right-hand column (warm-up, world, shock, tick loop) and skip the formulas.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l"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indent="0" marL="0">
              <a:buNone/>
            </a:pPr>
            <a:r>
              <a:rPr lang="en-US" sz="1800" dirty="0">
                <a:solidFill>
                  <a:schemeClr val="accent4"/>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runs? Luck of the draw, and location</a:t>
            </a:r>
            <a:endParaRPr lang="en-US" sz="2400" dirty="0"/>
          </a:p>
        </p:txBody>
      </p:sp>
      <p:sp>
        <p:nvSpPr>
          <p:cNvPr id="3" name="mech-0"/>
          <p:cNvSpPr/>
          <p:nvPr/>
        </p:nvSpPr>
        <p:spPr>
          <a:xfrm>
            <a:off x="457200" y="1051560"/>
            <a:ext cx="4023360" cy="2514600"/>
          </a:xfrm>
          <a:prstGeom prst="roundRect">
            <a:avLst>
              <a:gd name="adj" fmla="val 2909"/>
            </a:avLst>
          </a:prstGeom>
          <a:solidFill>
            <a:schemeClr val="bg2"/>
          </a:solidFill>
          <a:ln w="12700">
            <a:solidFill>
              <a:schemeClr val="bg2"/>
            </a:solidFill>
            <a:prstDash val="solid"/>
          </a:ln>
        </p:spPr>
      </p:sp>
      <p:sp>
        <p:nvSpPr>
          <p:cNvPr id="4"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5"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6" name="mech-1"/>
          <p:cNvSpPr/>
          <p:nvPr/>
        </p:nvSpPr>
        <p:spPr>
          <a:xfrm>
            <a:off x="4663440" y="1051560"/>
            <a:ext cx="4023360" cy="2514600"/>
          </a:xfrm>
          <a:prstGeom prst="roundRect">
            <a:avLst>
              <a:gd name="adj" fmla="val 2909"/>
            </a:avLst>
          </a:prstGeom>
          <a:solidFill>
            <a:schemeClr val="bg2"/>
          </a:solidFill>
          <a:ln w="12700">
            <a:solidFill>
              <a:schemeClr val="bg2"/>
            </a:solidFill>
            <a:prstDash val="solid"/>
          </a:ln>
        </p:spPr>
      </p:sp>
      <p:sp>
        <p:nvSpPr>
          <p:cNvPr id="7"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8"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one weight on two signals</a:t>
            </a:r>
            <a:endParaRPr lang="en-US" sz="2400" dirty="0"/>
          </a:p>
        </p:txBody>
      </p:sp>
      <p:sp>
        <p:nvSpPr>
          <p:cNvPr id="3" name="eq-card"/>
          <p:cNvSpPr/>
          <p:nvPr/>
        </p:nvSpPr>
        <p:spPr>
          <a:xfrm>
            <a:off x="457200" y="1051560"/>
            <a:ext cx="8229600" cy="1143000"/>
          </a:xfrm>
          <a:prstGeom prst="roundRect">
            <a:avLst>
              <a:gd name="adj" fmla="val 6400"/>
            </a:avLst>
          </a:prstGeom>
          <a:solidFill>
            <a:schemeClr val="accent4"/>
          </a:solidFill>
          <a:ln w="12700">
            <a:solidFill>
              <a:schemeClr val="accent4"/>
            </a:solidFill>
            <a:prstDash val="solid"/>
          </a:ln>
        </p:spPr>
      </p:sp>
      <p:sp>
        <p:nvSpPr>
          <p:cNvPr id="4" name="eq"/>
          <p:cNvSpPr txBox="1"/>
          <p:nvPr/>
        </p:nvSpPr>
        <p:spPr>
          <a:xfrm>
            <a:off x="640080" y="109728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  +  (1 −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endParaRPr lang="en-US" sz="3000" dirty="0"/>
          </a:p>
        </p:txBody>
      </p:sp>
      <p:sp>
        <p:nvSpPr>
          <p:cNvPr id="5" name="eq-sub"/>
          <p:cNvSpPr txBox="1"/>
          <p:nvPr/>
        </p:nvSpPr>
        <p:spPr>
          <a:xfrm>
            <a:off x="640080" y="1783080"/>
            <a:ext cx="7863840" cy="320040"/>
          </a:xfrm>
          <a:prstGeom prst="rect">
            <a:avLst/>
          </a:prstGeom>
          <a:noFill/>
          <a:ln/>
        </p:spPr>
        <p:txBody>
          <a:bodyPr wrap="square" lIns="0" tIns="0" rIns="0" bIns="0" rtlCol="0" anchor="ctr"/>
          <a:lstStyle/>
          <a:p>
            <a:pPr algn="ctr" indent="0" marL="0">
              <a:buNone/>
            </a:pPr>
            <a:r>
              <a:rPr lang="en-US" sz="1200" i="1" dirty="0">
                <a:solidFill>
                  <a:schemeClr val="accent3"/>
                </a:solidFill>
              </a:rPr>
              <a:t>the depositor’s estimate of the bank, compared with a threshold: run if it falls below</a:t>
            </a:r>
            <a:endParaRPr lang="en-US" sz="1200" dirty="0"/>
          </a:p>
        </p:txBody>
      </p:sp>
      <p:sp>
        <p:nvSpPr>
          <p:cNvPr id="6" name="term-0"/>
          <p:cNvSpPr/>
          <p:nvPr/>
        </p:nvSpPr>
        <p:spPr>
          <a:xfrm>
            <a:off x="457200" y="2331720"/>
            <a:ext cx="2651760" cy="1188720"/>
          </a:xfrm>
          <a:prstGeom prst="roundRect">
            <a:avLst>
              <a:gd name="adj" fmla="val 6154"/>
            </a:avLst>
          </a:prstGeom>
          <a:solidFill>
            <a:schemeClr val="bg2"/>
          </a:solidFill>
          <a:ln w="12700">
            <a:solidFill>
              <a:schemeClr val="bg2"/>
            </a:solidFill>
            <a:prstDash val="solid"/>
          </a:ln>
        </p:spPr>
      </p:sp>
      <p:sp>
        <p:nvSpPr>
          <p:cNvPr id="7" name="term-head"/>
          <p:cNvSpPr txBox="1"/>
          <p:nvPr/>
        </p:nvSpPr>
        <p:spPr>
          <a:xfrm>
            <a:off x="594360" y="2377440"/>
            <a:ext cx="2423160" cy="457200"/>
          </a:xfrm>
          <a:prstGeom prst="rect">
            <a:avLst/>
          </a:prstGeom>
          <a:noFill/>
          <a:ln/>
        </p:spPr>
        <p:txBody>
          <a:bodyPr wrap="square" lIns="0" tIns="0" rIns="0" bIns="0" rtlCol="0" anchor="ctr"/>
          <a:lstStyle/>
          <a:p>
            <a:pPr indent="0" marL="0">
              <a:buNone/>
            </a:pPr>
            <a:r>
              <a:rPr lang="en-US" sz="2200" i="1" dirty="0">
                <a:solidFill>
                  <a:schemeClr val="tx2"/>
                </a:solidFill>
                <a:latin typeface="Cambria" pitchFamily="34" charset="0"/>
                <a:ea typeface="Cambria" pitchFamily="34" charset="-122"/>
                <a:cs typeface="Cambria" pitchFamily="34" charset="-120"/>
              </a:rPr>
              <a:t>x</a:t>
            </a:r>
            <a:pPr indent="0" marL="0">
              <a:buNone/>
            </a:pPr>
            <a:r>
              <a:rPr lang="en-US" sz="2200" i="1" baseline="-40000" dirty="0">
                <a:solidFill>
                  <a:schemeClr val="tx2"/>
                </a:solidFill>
                <a:latin typeface="Cambria" pitchFamily="34" charset="0"/>
                <a:ea typeface="Cambria" pitchFamily="34" charset="-122"/>
                <a:cs typeface="Cambria" pitchFamily="34" charset="-120"/>
              </a:rPr>
              <a:t>i</a:t>
            </a:r>
            <a:pPr indent="0" marL="0">
              <a:buNone/>
            </a:pPr>
            <a:r>
              <a:rPr lang="en-US" sz="1250" b="1" dirty="0">
                <a:solidFill>
                  <a:schemeClr val="tx1"/>
                </a:solidFill>
              </a:rPr>
              <a:t>   what the depositor sees</a:t>
            </a:r>
            <a:endParaRPr lang="en-US" sz="2200" dirty="0"/>
          </a:p>
        </p:txBody>
      </p:sp>
      <p:sp>
        <p:nvSpPr>
          <p:cNvPr id="8" name="term-body"/>
          <p:cNvSpPr txBox="1"/>
          <p:nvPr/>
        </p:nvSpPr>
        <p:spPr>
          <a:xfrm>
            <a:off x="59436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private signal of the fundamental, one noisy draw each</a:t>
            </a:r>
            <a:endParaRPr lang="en-US" sz="1150" dirty="0"/>
          </a:p>
        </p:txBody>
      </p:sp>
      <p:sp>
        <p:nvSpPr>
          <p:cNvPr id="9" name="term-1"/>
          <p:cNvSpPr/>
          <p:nvPr/>
        </p:nvSpPr>
        <p:spPr>
          <a:xfrm>
            <a:off x="3246120" y="2331720"/>
            <a:ext cx="2651760" cy="1188720"/>
          </a:xfrm>
          <a:prstGeom prst="roundRect">
            <a:avLst>
              <a:gd name="adj" fmla="val 6154"/>
            </a:avLst>
          </a:prstGeom>
          <a:solidFill>
            <a:schemeClr val="bg2"/>
          </a:solidFill>
          <a:ln w="12700">
            <a:solidFill>
              <a:schemeClr val="bg2"/>
            </a:solidFill>
            <a:prstDash val="solid"/>
          </a:ln>
        </p:spPr>
      </p:sp>
      <p:sp>
        <p:nvSpPr>
          <p:cNvPr id="10" name="term-head"/>
          <p:cNvSpPr txBox="1"/>
          <p:nvPr/>
        </p:nvSpPr>
        <p:spPr>
          <a:xfrm>
            <a:off x="3383280" y="2377440"/>
            <a:ext cx="2423160" cy="457200"/>
          </a:xfrm>
          <a:prstGeom prst="rect">
            <a:avLst/>
          </a:prstGeom>
          <a:noFill/>
          <a:ln/>
        </p:spPr>
        <p:txBody>
          <a:bodyPr wrap="square" lIns="0" tIns="0" rIns="0" bIns="0" rtlCol="0" anchor="ctr"/>
          <a:lstStyle/>
          <a:p>
            <a:pPr indent="0" marL="0">
              <a:buNone/>
            </a:pPr>
            <a:r>
              <a:rPr lang="en-US" sz="2200" i="1" dirty="0">
                <a:solidFill>
                  <a:schemeClr val="accent3"/>
                </a:solidFill>
                <a:latin typeface="Cambria" pitchFamily="34" charset="0"/>
                <a:ea typeface="Cambria" pitchFamily="34" charset="-122"/>
                <a:cs typeface="Cambria" pitchFamily="34" charset="-120"/>
              </a:rPr>
              <a:t>y</a:t>
            </a:r>
            <a:pPr indent="0" marL="0">
              <a:buNone/>
            </a:pPr>
            <a:pPr indent="0" marL="0">
              <a:buNone/>
            </a:pPr>
            <a:r>
              <a:rPr lang="en-US" sz="1250" b="1" dirty="0">
                <a:solidFill>
                  <a:schemeClr val="tx1"/>
                </a:solidFill>
              </a:rPr>
              <a:t>   what the depositor is told</a:t>
            </a:r>
            <a:endParaRPr lang="en-US" sz="2200" dirty="0"/>
          </a:p>
        </p:txBody>
      </p:sp>
      <p:sp>
        <p:nvSpPr>
          <p:cNvPr id="11" name="term-body"/>
          <p:cNvSpPr txBox="1"/>
          <p:nvPr/>
        </p:nvSpPr>
        <p:spPr>
          <a:xfrm>
            <a:off x="338328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public signal, common to all, which can be stale</a:t>
            </a:r>
            <a:endParaRPr lang="en-US" sz="1150" dirty="0"/>
          </a:p>
        </p:txBody>
      </p:sp>
      <p:sp>
        <p:nvSpPr>
          <p:cNvPr id="12" name="term-2"/>
          <p:cNvSpPr/>
          <p:nvPr/>
        </p:nvSpPr>
        <p:spPr>
          <a:xfrm>
            <a:off x="6035040" y="2331720"/>
            <a:ext cx="2651760" cy="1188720"/>
          </a:xfrm>
          <a:prstGeom prst="roundRect">
            <a:avLst>
              <a:gd name="adj" fmla="val 6154"/>
            </a:avLst>
          </a:prstGeom>
          <a:solidFill>
            <a:schemeClr val="bg2"/>
          </a:solidFill>
          <a:ln w="12700">
            <a:solidFill>
              <a:schemeClr val="bg2"/>
            </a:solidFill>
            <a:prstDash val="solid"/>
          </a:ln>
        </p:spPr>
      </p:sp>
      <p:sp>
        <p:nvSpPr>
          <p:cNvPr id="13" name="term-head"/>
          <p:cNvSpPr txBox="1"/>
          <p:nvPr/>
        </p:nvSpPr>
        <p:spPr>
          <a:xfrm>
            <a:off x="6172200" y="2377440"/>
            <a:ext cx="2423160" cy="457200"/>
          </a:xfrm>
          <a:prstGeom prst="rect">
            <a:avLst/>
          </a:prstGeom>
          <a:noFill/>
          <a:ln/>
        </p:spPr>
        <p:txBody>
          <a:bodyPr wrap="square" lIns="0" tIns="0" rIns="0" bIns="0" rtlCol="0" anchor="ctr"/>
          <a:lstStyle/>
          <a:p>
            <a:pPr indent="0" marL="0">
              <a:buNone/>
            </a:pPr>
            <a:r>
              <a:rPr lang="en-US" sz="2200" i="1" dirty="0">
                <a:solidFill>
                  <a:schemeClr val="accent1"/>
                </a:solidFill>
                <a:latin typeface="Cambria" pitchFamily="34" charset="0"/>
                <a:ea typeface="Cambria" pitchFamily="34" charset="-122"/>
                <a:cs typeface="Cambria" pitchFamily="34" charset="-120"/>
              </a:rPr>
              <a:t>λ</a:t>
            </a:r>
            <a:pPr indent="0" marL="0">
              <a:buNone/>
            </a:pPr>
            <a:r>
              <a:rPr lang="en-US" sz="2200" i="1" baseline="-40000" dirty="0">
                <a:solidFill>
                  <a:schemeClr val="accent1"/>
                </a:solidFill>
                <a:latin typeface="Cambria" pitchFamily="34" charset="0"/>
                <a:ea typeface="Cambria" pitchFamily="34" charset="-122"/>
                <a:cs typeface="Cambria" pitchFamily="34" charset="-120"/>
              </a:rPr>
              <a:t>i</a:t>
            </a:r>
            <a:pPr indent="0" marL="0">
              <a:buNone/>
            </a:pPr>
            <a:r>
              <a:rPr lang="en-US" sz="1250" b="1" dirty="0">
                <a:solidFill>
                  <a:schemeClr val="tx1"/>
                </a:solidFill>
              </a:rPr>
              <a:t>   weight on the public line</a:t>
            </a:r>
            <a:endParaRPr lang="en-US" sz="2200" dirty="0"/>
          </a:p>
        </p:txBody>
      </p:sp>
      <p:sp>
        <p:nvSpPr>
          <p:cNvPr id="14" name="term-body"/>
          <p:cNvSpPr txBox="1"/>
          <p:nvPr/>
        </p:nvSpPr>
        <p:spPr>
          <a:xfrm>
            <a:off x="617220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disposition set before the run; culture is its source</a:t>
            </a:r>
            <a:endParaRPr lang="en-US" sz="1150" dirty="0"/>
          </a:p>
        </p:txBody>
      </p:sp>
      <p:sp>
        <p:nvSpPr>
          <p:cNvPr id="15" name="wedge"/>
          <p:cNvSpPr txBox="1"/>
          <p:nvPr/>
        </p:nvSpPr>
        <p:spPr>
          <a:xfrm>
            <a:off x="457200" y="3657600"/>
            <a:ext cx="8229600" cy="777240"/>
          </a:xfrm>
          <a:prstGeom prst="rect">
            <a:avLst/>
          </a:prstGeom>
          <a:noFill/>
          <a:ln/>
        </p:spPr>
        <p:txBody>
          <a:bodyPr wrap="square" lIns="0" tIns="0" rIns="0" bIns="0" rtlCol="0" anchor="t"/>
          <a:lstStyle/>
          <a:p>
            <a:pPr indent="0" marL="0">
              <a:buNone/>
            </a:pPr>
            <a:r>
              <a:rPr lang="en-US" sz="1300" b="1" dirty="0">
                <a:solidFill>
                  <a:srgbClr val="EB6834"/>
                </a:solidFill>
              </a:rPr>
              <a:t>Individualists </a:t>
            </a:r>
            <a:pPr indent="0" marL="0">
              <a:buNone/>
            </a:pPr>
            <a:r>
              <a:rPr lang="en-US" sz="1300" dirty="0">
                <a:solidFill>
                  <a:schemeClr val="tx1"/>
                </a:solidFill>
              </a:rPr>
              <a:t>λ</a:t>
            </a:r>
            <a:pPr indent="0" marL="0">
              <a:buNone/>
            </a:pPr>
            <a:r>
              <a:rPr lang="en-US" sz="1300" baseline="-40000" dirty="0">
                <a:solidFill>
                  <a:schemeClr val="tx1"/>
                </a:solidFill>
              </a:rPr>
              <a:t>I</a:t>
            </a:r>
            <a:pPr indent="0" marL="0">
              <a:buNone/>
            </a:pPr>
            <a:r>
              <a:rPr lang="en-US" sz="1300" dirty="0">
                <a:solidFill>
                  <a:schemeClr val="tx1"/>
                </a:solidFill>
              </a:rPr>
              <a:t>  &lt;  λ</a:t>
            </a:r>
            <a:pPr indent="0" marL="0">
              <a:buNone/>
            </a:pPr>
            <a:r>
              <a:rPr lang="en-US" sz="1300" baseline="-40000" dirty="0">
                <a:solidFill>
                  <a:schemeClr val="tx1"/>
                </a:solidFill>
              </a:rPr>
              <a:t>C</a:t>
            </a:r>
            <a:pPr indent="0" marL="0">
              <a:buNone/>
            </a:pPr>
            <a:r>
              <a:rPr lang="en-US" sz="1300" b="1" dirty="0">
                <a:solidFill>
                  <a:srgbClr val="2A78D6"/>
                </a:solidFill>
              </a:rPr>
              <a:t> collectivists</a:t>
            </a:r>
            <a:pPr indent="0" marL="0">
              <a:buNone/>
            </a:pPr>
            <a:r>
              <a:rPr lang="en-US" sz="1300" dirty="0">
                <a:solidFill>
                  <a:schemeClr val="tx1"/>
                </a:solidFill>
              </a:rPr>
              <a:t>.  Same two signals, different estimates: </a:t>
            </a:r>
            <a:pPr indent="0" marL="0">
              <a:buNone/>
            </a:pPr>
            <a:r>
              <a:rPr lang="en-US" sz="1300" i="1" dirty="0">
                <a:solidFill>
                  <a:schemeClr val="tx1"/>
                </a:solidFill>
              </a:rPr>
              <a:t>ŝ</a:t>
            </a:r>
            <a:pPr indent="0" marL="0">
              <a:buNone/>
            </a:pPr>
            <a:r>
              <a:rPr lang="en-US" sz="1300" baseline="-40000" dirty="0">
                <a:solidFill>
                  <a:schemeClr val="tx1"/>
                </a:solidFill>
              </a:rPr>
              <a:t>I</a:t>
            </a:r>
            <a:pPr indent="0" marL="0">
              <a:buNone/>
            </a:pPr>
            <a:r>
              <a:rPr lang="en-US" sz="1300" dirty="0">
                <a:solidFill>
                  <a:schemeClr val="tx1"/>
                </a:solidFill>
              </a:rPr>
              <a:t> − </a:t>
            </a:r>
            <a:pPr indent="0" marL="0">
              <a:buNone/>
            </a:pPr>
            <a:r>
              <a:rPr lang="en-US" sz="1300" i="1" dirty="0">
                <a:solidFill>
                  <a:schemeClr val="tx1"/>
                </a:solidFill>
              </a:rPr>
              <a:t>ŝ</a:t>
            </a:r>
            <a:pPr indent="0" marL="0">
              <a:buNone/>
            </a:pPr>
            <a:r>
              <a:rPr lang="en-US" sz="1300" baseline="-40000" dirty="0">
                <a:solidFill>
                  <a:schemeClr val="tx1"/>
                </a:solidFill>
              </a:rPr>
              <a:t>C</a:t>
            </a:r>
            <a:pPr indent="0" marL="0">
              <a:buNone/>
            </a:pPr>
            <a:r>
              <a:rPr lang="en-US" sz="1300" dirty="0">
                <a:solidFill>
                  <a:schemeClr val="tx1"/>
                </a:solidFill>
              </a:rPr>
              <a:t> = (λ</a:t>
            </a:r>
            <a:pPr indent="0" marL="0">
              <a:buNone/>
            </a:pPr>
            <a:r>
              <a:rPr lang="en-US" sz="1300" baseline="-40000" dirty="0">
                <a:solidFill>
                  <a:schemeClr val="tx1"/>
                </a:solidFill>
              </a:rPr>
              <a:t>C</a:t>
            </a:r>
            <a:pPr indent="0" marL="0">
              <a:buNone/>
            </a:pPr>
            <a:r>
              <a:rPr lang="en-US" sz="1300" dirty="0">
                <a:solidFill>
                  <a:schemeClr val="tx1"/>
                </a:solidFill>
              </a:rPr>
              <a:t> − λ</a:t>
            </a:r>
            <a:pPr indent="0" marL="0">
              <a:buNone/>
            </a:pPr>
            <a:r>
              <a:rPr lang="en-US" sz="1300" baseline="-40000" dirty="0">
                <a:solidFill>
                  <a:schemeClr val="tx1"/>
                </a:solidFill>
              </a:rPr>
              <a:t>I</a:t>
            </a:r>
            <a:pPr indent="0" marL="0">
              <a:buNone/>
            </a:pPr>
            <a:r>
              <a:rPr lang="en-US" sz="1300" dirty="0">
                <a:solidFill>
                  <a:schemeClr val="tx1"/>
                </a:solidFill>
              </a:rPr>
              <a:t>)(</a:t>
            </a:r>
            <a:pPr indent="0" marL="0">
              <a:buNone/>
            </a:pPr>
            <a:r>
              <a:rPr lang="en-US" sz="1300" i="1" dirty="0">
                <a:solidFill>
                  <a:schemeClr val="tx1"/>
                </a:solidFill>
              </a:rPr>
              <a:t>x</a:t>
            </a:r>
            <a:pPr indent="0" marL="0">
              <a:buNone/>
            </a:pPr>
            <a:r>
              <a:rPr lang="en-US" sz="1300" dirty="0">
                <a:solidFill>
                  <a:schemeClr val="tx1"/>
                </a:solidFill>
              </a:rPr>
              <a:t> − </a:t>
            </a:r>
            <a:pPr indent="0" marL="0">
              <a:buNone/>
            </a:pPr>
            <a:r>
              <a:rPr lang="en-US" sz="1300" i="1" dirty="0">
                <a:solidFill>
                  <a:schemeClr val="tx1"/>
                </a:solidFill>
              </a:rPr>
              <a:t>y</a:t>
            </a:r>
            <a:pPr indent="0" marL="0">
              <a:buNone/>
            </a:pPr>
            <a:r>
              <a:rPr lang="en-US" sz="1300" dirty="0">
                <a:solidFill>
                  <a:schemeClr val="tx1"/>
                </a:solidFill>
              </a:rPr>
              <a:t>). </a:t>
            </a:r>
            <a:pPr indent="0" marL="0">
              <a:buNone/>
            </a:pPr>
            <a:r>
              <a:rPr lang="en-US" sz="1300" b="1" dirty="0">
                <a:solidFill>
                  <a:schemeClr val="tx2"/>
                </a:solidFill>
              </a:rPr>
              <a:t>Who runs is sorted by the weight, and the order flips with the sign of the public error.</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in one picture</a:t>
            </a:r>
            <a:endParaRPr lang="en-US" sz="2400" dirty="0"/>
          </a:p>
        </p:txBody>
      </p:sp>
      <p:pic>
        <p:nvPicPr>
          <p:cNvPr id="3" name="odd" descr="Model overview: depositors on a social network with a bank; each run draws fundamentals and signals, a shock hits, then depositors observe neighbours and news, form beliefs, and decide whether to withdraw, tick by tick.">    </p:cNvPr>
          <p:cNvPicPr>
            <a:picLocks noChangeAspect="1"/>
          </p:cNvPicPr>
          <p:nvPr/>
        </p:nvPicPr>
        <p:blipFill>
          <a:blip r:embed="rId1"/>
          <a:stretch>
            <a:fillRect/>
          </a:stretch>
        </p:blipFill>
        <p:spPr>
          <a:xfrm>
            <a:off x="457200" y="1051560"/>
            <a:ext cx="3467633" cy="3520440"/>
          </a:xfrm>
          <a:prstGeom prst="rect">
            <a:avLst/>
          </a:prstGeom>
        </p:spPr>
      </p:pic>
      <p:sp>
        <p:nvSpPr>
          <p:cNvPr id="4" name="stat-depositors on a smal"/>
          <p:cNvSpPr/>
          <p:nvPr/>
        </p:nvSpPr>
        <p:spPr>
          <a:xfrm>
            <a:off x="4244873" y="1051560"/>
            <a:ext cx="2152383" cy="960120"/>
          </a:xfrm>
          <a:prstGeom prst="roundRect">
            <a:avLst>
              <a:gd name="adj" fmla="val 7619"/>
            </a:avLst>
          </a:prstGeom>
          <a:solidFill>
            <a:schemeClr val="bg2"/>
          </a:solidFill>
          <a:ln w="12700">
            <a:solidFill>
              <a:schemeClr val="bg2"/>
            </a:solidFill>
            <a:prstDash val="solid"/>
          </a:ln>
        </p:spPr>
      </p:sp>
      <p:sp>
        <p:nvSpPr>
          <p:cNvPr id="5" name="stat-big"/>
          <p:cNvSpPr txBox="1"/>
          <p:nvPr/>
        </p:nvSpPr>
        <p:spPr>
          <a:xfrm>
            <a:off x="4382033"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1,000</a:t>
            </a:r>
            <a:endParaRPr lang="en-US" sz="2600" dirty="0"/>
          </a:p>
        </p:txBody>
      </p:sp>
      <p:sp>
        <p:nvSpPr>
          <p:cNvPr id="6" name="stat-label"/>
          <p:cNvSpPr txBox="1"/>
          <p:nvPr/>
        </p:nvSpPr>
        <p:spPr>
          <a:xfrm>
            <a:off x="4382033"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depositors on a small-world network, one bank</a:t>
            </a:r>
            <a:endParaRPr lang="en-US" sz="1100" dirty="0"/>
          </a:p>
        </p:txBody>
      </p:sp>
      <p:sp>
        <p:nvSpPr>
          <p:cNvPr id="7" name="stat-cap on any one depos"/>
          <p:cNvSpPr/>
          <p:nvPr/>
        </p:nvSpPr>
        <p:spPr>
          <a:xfrm>
            <a:off x="6534417" y="1051560"/>
            <a:ext cx="2152383" cy="960120"/>
          </a:xfrm>
          <a:prstGeom prst="roundRect">
            <a:avLst>
              <a:gd name="adj" fmla="val 7619"/>
            </a:avLst>
          </a:prstGeom>
          <a:solidFill>
            <a:schemeClr val="bg2"/>
          </a:solidFill>
          <a:ln w="12700">
            <a:solidFill>
              <a:schemeClr val="bg2"/>
            </a:solidFill>
            <a:prstDash val="solid"/>
          </a:ln>
        </p:spPr>
      </p:sp>
      <p:sp>
        <p:nvSpPr>
          <p:cNvPr id="8" name="stat-big"/>
          <p:cNvSpPr txBox="1"/>
          <p:nvPr/>
        </p:nvSpPr>
        <p:spPr>
          <a:xfrm>
            <a:off x="6671577"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a:t>
            </a:r>
            <a:endParaRPr lang="en-US" sz="2600" dirty="0"/>
          </a:p>
        </p:txBody>
      </p:sp>
      <p:sp>
        <p:nvSpPr>
          <p:cNvPr id="9" name="stat-label"/>
          <p:cNvSpPr txBox="1"/>
          <p:nvPr/>
        </p:nvSpPr>
        <p:spPr>
          <a:xfrm>
            <a:off x="6671577"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cap on any one deposit; sizes log-normal (σ 2.5) below it</a:t>
            </a:r>
            <a:endParaRPr lang="en-US" sz="1100" dirty="0"/>
          </a:p>
        </p:txBody>
      </p:sp>
      <p:sp>
        <p:nvSpPr>
          <p:cNvPr id="10" name="stat-risk aversion; parti"/>
          <p:cNvSpPr/>
          <p:nvPr/>
        </p:nvSpPr>
        <p:spPr>
          <a:xfrm>
            <a:off x="4244873" y="2148840"/>
            <a:ext cx="2152383" cy="960120"/>
          </a:xfrm>
          <a:prstGeom prst="roundRect">
            <a:avLst>
              <a:gd name="adj" fmla="val 7619"/>
            </a:avLst>
          </a:prstGeom>
          <a:solidFill>
            <a:schemeClr val="bg2"/>
          </a:solidFill>
          <a:ln w="12700">
            <a:solidFill>
              <a:schemeClr val="bg2"/>
            </a:solidFill>
            <a:prstDash val="solid"/>
          </a:ln>
        </p:spPr>
      </p:sp>
      <p:sp>
        <p:nvSpPr>
          <p:cNvPr id="11" name="stat-big"/>
          <p:cNvSpPr txBox="1"/>
          <p:nvPr/>
        </p:nvSpPr>
        <p:spPr>
          <a:xfrm>
            <a:off x="4382033" y="2221992"/>
            <a:ext cx="1878063"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CARA 0.1</a:t>
            </a:r>
            <a:endParaRPr lang="en-US" sz="2200" dirty="0"/>
          </a:p>
        </p:txBody>
      </p:sp>
      <p:sp>
        <p:nvSpPr>
          <p:cNvPr id="12" name="stat-label"/>
          <p:cNvSpPr txBox="1"/>
          <p:nvPr/>
        </p:nvSpPr>
        <p:spPr>
          <a:xfrm>
            <a:off x="4382033"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risk aversion; partial withdrawals allowed</a:t>
            </a:r>
            <a:endParaRPr lang="en-US" sz="1100" dirty="0"/>
          </a:p>
        </p:txBody>
      </p:sp>
      <p:sp>
        <p:nvSpPr>
          <p:cNvPr id="13" name="stat-runs per cell: 25 in"/>
          <p:cNvSpPr/>
          <p:nvPr/>
        </p:nvSpPr>
        <p:spPr>
          <a:xfrm>
            <a:off x="6534417" y="2148840"/>
            <a:ext cx="2152383" cy="960120"/>
          </a:xfrm>
          <a:prstGeom prst="roundRect">
            <a:avLst>
              <a:gd name="adj" fmla="val 7619"/>
            </a:avLst>
          </a:prstGeom>
          <a:solidFill>
            <a:schemeClr val="bg2"/>
          </a:solidFill>
          <a:ln w="12700">
            <a:solidFill>
              <a:schemeClr val="bg2"/>
            </a:solidFill>
            <a:prstDash val="solid"/>
          </a:ln>
        </p:spPr>
      </p:sp>
      <p:sp>
        <p:nvSpPr>
          <p:cNvPr id="14" name="stat-big"/>
          <p:cNvSpPr txBox="1"/>
          <p:nvPr/>
        </p:nvSpPr>
        <p:spPr>
          <a:xfrm>
            <a:off x="6671577" y="222199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250</a:t>
            </a:r>
            <a:endParaRPr lang="en-US" sz="2600" dirty="0"/>
          </a:p>
        </p:txBody>
      </p:sp>
      <p:sp>
        <p:nvSpPr>
          <p:cNvPr id="15" name="stat-label"/>
          <p:cNvSpPr txBox="1"/>
          <p:nvPr/>
        </p:nvSpPr>
        <p:spPr>
          <a:xfrm>
            <a:off x="6671577"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runs per cell: 25 initialisations × 10 draws</a:t>
            </a:r>
            <a:endParaRPr lang="en-US" sz="1100" dirty="0"/>
          </a:p>
        </p:txBody>
      </p:sp>
      <p:sp>
        <p:nvSpPr>
          <p:cNvPr id="16" name="bullets"/>
          <p:cNvSpPr txBox="1"/>
          <p:nvPr/>
        </p:nvSpPr>
        <p:spPr>
          <a:xfrm>
            <a:off x="4244873" y="3200400"/>
            <a:ext cx="4441927" cy="13716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chemeClr val="tx1"/>
                </a:solidFill>
              </a:rPr>
              <a:t>One bank that sells its long asset at a discount when cash runs short (a fire-sale bank)</a:t>
            </a:r>
            <a:endParaRPr lang="en-US" sz="1150" dirty="0"/>
          </a:p>
          <a:p>
            <a:pPr marL="177800" indent="-177800">
              <a:spcAft>
                <a:spcPts val="400"/>
              </a:spcAft>
              <a:buSzPct val="100000"/>
              <a:buChar char="•"/>
            </a:pPr>
            <a:r>
              <a:rPr lang="en-US" sz="1150" dirty="0">
                <a:solidFill>
                  <a:schemeClr val="tx1"/>
                </a:solidFill>
              </a:rPr>
              <a:t>Each tick a depositor sees neighbours’ withdrawals and the public news, blends them with a private signal, and withdraws if that pays</a:t>
            </a:r>
            <a:endParaRPr lang="en-US" sz="1150" dirty="0"/>
          </a:p>
          <a:p>
            <a:pPr marL="177800" indent="-177800">
              <a:spcAft>
                <a:spcPts val="400"/>
              </a:spcAft>
              <a:buSzPct val="100000"/>
              <a:buChar char="•"/>
            </a:pPr>
            <a:r>
              <a:rPr lang="en-US" sz="1150" dirty="0">
                <a:solidFill>
                  <a:schemeClr val="tx1"/>
                </a:solidFill>
              </a:rPr>
              <a:t>A public signal can be absent, accurate, or outdated</a:t>
            </a:r>
            <a:endParaRPr lang="en-US" sz="1150" dirty="0"/>
          </a:p>
          <a:p>
            <a:pPr marL="177800" indent="-177800">
              <a:spcAft>
                <a:spcPts val="400"/>
              </a:spcAft>
              <a:buSzPct val="100000"/>
              <a:buChar char="•"/>
            </a:pPr>
            <a:r>
              <a:rPr lang="en-US" sz="1150" dirty="0">
                <a:solidFill>
                  <a:schemeClr val="tx1"/>
                </a:solidFill>
              </a:rPr>
              <a:t>Outcomes: D = individualists’ minus collectivists’ withdrawal share (those not hit by the shock); P(fail) = share of runs that fail</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457200" y="1051560"/>
            <a:ext cx="5164897"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of withdrawing, given the share of a depositor’s neighbours who have already withdrawn. λ pairs pooled; reference bank.</a:t>
            </a:r>
            <a:endParaRPr lang="en-US" sz="1000" dirty="0"/>
          </a:p>
        </p:txBody>
      </p:sp>
      <p:sp>
        <p:nvSpPr>
          <p:cNvPr id="5" name="stat-collectivists, once "/>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0.15 to 0.93</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collectivists, once 20–35% of their neighbours are out</a:t>
            </a:r>
            <a:endParaRPr lang="en-US" sz="1100" dirty="0"/>
          </a:p>
        </p:txBody>
      </p:sp>
      <p:sp>
        <p:nvSpPr>
          <p:cNvPr id="8" name="stat-where individualists"/>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rgbClr val="EB6834"/>
                </a:solidFill>
                <a:latin typeface="Cambria" pitchFamily="34" charset="0"/>
                <a:ea typeface="Cambria" pitchFamily="34" charset="-122"/>
                <a:cs typeface="Cambria" pitchFamily="34" charset="-120"/>
              </a:rPr>
              <a:t>0.25 to 0.30</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where individualists level off, whatever their neighbours do</a:t>
            </a:r>
            <a:endParaRPr lang="en-US" sz="1100" dirty="0"/>
          </a:p>
        </p:txBody>
      </p:sp>
      <p:sp>
        <p:nvSpPr>
          <p:cNvPr id="11" name="stat-difference in slopes"/>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+0.58</a:t>
            </a:r>
            <a:endParaRPr lang="en-US" sz="26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difference in slopes (collectivists 0.80, individualists 0.22), t = 16.7</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μ, one line per λ pair. Includes the pure populations (μ 0 and 1).</a:t>
            </a:r>
            <a:endParaRPr lang="en-US" sz="1000" dirty="0"/>
          </a:p>
        </p:txBody>
      </p:sp>
      <p:sp>
        <p:nvSpPr>
          <p:cNvPr id="5" name="stat-P(fail) from no indi"/>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0.67 to 0.08</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P(fail) from no individualists to all, wide λ gap</a:t>
            </a:r>
            <a:endParaRPr lang="en-US" sz="1100" dirty="0"/>
          </a:p>
        </p:txBody>
      </p:sp>
      <p:sp>
        <p:nvSpPr>
          <p:cNvPr id="8" name="stat-the same, narrow λ g"/>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0.25 to 0.09</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the same, narrow λ gap: it matters most when collectivists dominate</a:t>
            </a:r>
            <a:endParaRPr lang="en-US" sz="1100" dirty="0"/>
          </a:p>
        </p:txBody>
      </p:sp>
      <p:sp>
        <p:nvSpPr>
          <p:cNvPr id="11" name="card-Monotone"/>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card-head"/>
          <p:cNvSpPr txBox="1"/>
          <p:nvPr/>
        </p:nvSpPr>
        <p:spPr>
          <a:xfrm>
            <a:off x="6355080" y="3429000"/>
            <a:ext cx="2194560" cy="292608"/>
          </a:xfrm>
          <a:prstGeom prst="rect">
            <a:avLst/>
          </a:prstGeom>
          <a:noFill/>
          <a:ln/>
        </p:spPr>
        <p:txBody>
          <a:bodyPr wrap="square" lIns="0" tIns="0" rIns="0" bIns="0" rtlCol="0" anchor="ctr"/>
          <a:lstStyle/>
          <a:p>
            <a:pPr indent="0" marL="0">
              <a:buNone/>
            </a:pPr>
            <a:r>
              <a:rPr lang="en-US" sz="1300" b="1" dirty="0">
                <a:solidFill>
                  <a:schemeClr val="tx2"/>
                </a:solidFill>
              </a:rPr>
              <a:t>Monotone</a:t>
            </a:r>
            <a:endParaRPr lang="en-US" sz="1300" dirty="0"/>
          </a:p>
        </p:txBody>
      </p:sp>
      <p:sp>
        <p:nvSpPr>
          <p:cNvPr id="13" name="card-body"/>
          <p:cNvSpPr txBox="1"/>
          <p:nvPr/>
        </p:nvSpPr>
        <p:spPr>
          <a:xfrm>
            <a:off x="6355080" y="3749040"/>
            <a:ext cx="2194560" cy="594360"/>
          </a:xfrm>
          <a:prstGeom prst="rect">
            <a:avLst/>
          </a:prstGeom>
          <a:noFill/>
          <a:ln/>
        </p:spPr>
        <p:txBody>
          <a:bodyPr wrap="square" lIns="0" tIns="0" rIns="0" bIns="0" rtlCol="0" anchor="t"/>
          <a:lstStyle/>
          <a:p>
            <a:pPr indent="0" marL="0">
              <a:buNone/>
            </a:pPr>
            <a:r>
              <a:rPr lang="en-US" sz="1150" dirty="0">
                <a:solidFill>
                  <a:schemeClr val="tx1"/>
                </a:solidFill>
              </a:rPr>
              <a:t>No interior peak at any mix. The lines converge once individualists are 75% or more.</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457200" y="1051560"/>
            <a:ext cx="5486400" cy="2607605"/>
          </a:xfrm>
          <a:prstGeom prst="rect">
            <a:avLst/>
          </a:prstGeom>
        </p:spPr>
      </p:pic>
      <p:sp>
        <p:nvSpPr>
          <p:cNvPr id="4" name="caption"/>
          <p:cNvSpPr txBox="1"/>
          <p:nvPr/>
        </p:nvSpPr>
        <p:spPr>
          <a:xfrm>
            <a:off x="457200" y="3704885"/>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the kind of public news, dot and CI per λ pair. All mixes μ. Numbers at right: wide λ gap.</a:t>
            </a:r>
            <a:endParaRPr lang="en-US" sz="1000" dirty="0"/>
          </a:p>
        </p:txBody>
      </p:sp>
      <p:sp>
        <p:nvSpPr>
          <p:cNvPr id="5" name="stat-outdated, pessimisti"/>
          <p:cNvSpPr/>
          <p:nvPr/>
        </p:nvSpPr>
        <p:spPr>
          <a:xfrm>
            <a:off x="6217920" y="1051560"/>
            <a:ext cx="2468880" cy="777240"/>
          </a:xfrm>
          <a:prstGeom prst="roundRect">
            <a:avLst>
              <a:gd name="adj" fmla="val 9412"/>
            </a:avLst>
          </a:prstGeom>
          <a:solidFill>
            <a:schemeClr val="bg2"/>
          </a:solidFill>
          <a:ln w="12700">
            <a:solidFill>
              <a:schemeClr val="bg2"/>
            </a:solidFill>
            <a:prstDash val="solid"/>
          </a:ln>
        </p:spPr>
      </p:sp>
      <p:sp>
        <p:nvSpPr>
          <p:cNvPr id="6" name="stat-big"/>
          <p:cNvSpPr txBox="1"/>
          <p:nvPr/>
        </p:nvSpPr>
        <p:spPr>
          <a:xfrm>
            <a:off x="6355080" y="1124712"/>
            <a:ext cx="2194560" cy="36576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0.48</a:t>
            </a:r>
            <a:endParaRPr lang="en-US" sz="2200" dirty="0"/>
          </a:p>
        </p:txBody>
      </p:sp>
      <p:sp>
        <p:nvSpPr>
          <p:cNvPr id="7" name="stat-label"/>
          <p:cNvSpPr txBox="1"/>
          <p:nvPr/>
        </p:nvSpPr>
        <p:spPr>
          <a:xfrm>
            <a:off x="6355080" y="1508760"/>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pessimistic news</a:t>
            </a:r>
            <a:endParaRPr lang="en-US" sz="1100" dirty="0"/>
          </a:p>
        </p:txBody>
      </p:sp>
      <p:sp>
        <p:nvSpPr>
          <p:cNvPr id="8" name="stat-no public news"/>
          <p:cNvSpPr/>
          <p:nvPr/>
        </p:nvSpPr>
        <p:spPr>
          <a:xfrm>
            <a:off x="6217920" y="1938528"/>
            <a:ext cx="2468880" cy="777240"/>
          </a:xfrm>
          <a:prstGeom prst="roundRect">
            <a:avLst>
              <a:gd name="adj" fmla="val 9412"/>
            </a:avLst>
          </a:prstGeom>
          <a:solidFill>
            <a:schemeClr val="bg2"/>
          </a:solidFill>
          <a:ln w="12700">
            <a:solidFill>
              <a:schemeClr val="bg2"/>
            </a:solidFill>
            <a:prstDash val="solid"/>
          </a:ln>
        </p:spPr>
      </p:sp>
      <p:sp>
        <p:nvSpPr>
          <p:cNvPr id="9" name="stat-big"/>
          <p:cNvSpPr txBox="1"/>
          <p:nvPr/>
        </p:nvSpPr>
        <p:spPr>
          <a:xfrm>
            <a:off x="6355080" y="2011680"/>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0.31</a:t>
            </a:r>
            <a:endParaRPr lang="en-US" sz="2200" dirty="0"/>
          </a:p>
        </p:txBody>
      </p:sp>
      <p:sp>
        <p:nvSpPr>
          <p:cNvPr id="10" name="stat-label"/>
          <p:cNvSpPr txBox="1"/>
          <p:nvPr/>
        </p:nvSpPr>
        <p:spPr>
          <a:xfrm>
            <a:off x="6355080" y="2395728"/>
            <a:ext cx="2194560" cy="265176"/>
          </a:xfrm>
          <a:prstGeom prst="rect">
            <a:avLst/>
          </a:prstGeom>
          <a:noFill/>
          <a:ln/>
        </p:spPr>
        <p:txBody>
          <a:bodyPr wrap="square" lIns="0" tIns="0" rIns="0" bIns="0" rtlCol="0" anchor="t"/>
          <a:lstStyle/>
          <a:p>
            <a:pPr indent="0" marL="0">
              <a:buNone/>
            </a:pPr>
            <a:r>
              <a:rPr lang="en-US" sz="1100" dirty="0">
                <a:solidFill>
                  <a:schemeClr val="accent3"/>
                </a:solidFill>
              </a:rPr>
              <a:t>no public news</a:t>
            </a:r>
            <a:endParaRPr lang="en-US" sz="1100" dirty="0"/>
          </a:p>
        </p:txBody>
      </p:sp>
      <p:sp>
        <p:nvSpPr>
          <p:cNvPr id="11" name="stat-accurate news"/>
          <p:cNvSpPr/>
          <p:nvPr/>
        </p:nvSpPr>
        <p:spPr>
          <a:xfrm>
            <a:off x="6217920" y="2825496"/>
            <a:ext cx="2468880" cy="777240"/>
          </a:xfrm>
          <a:prstGeom prst="roundRect">
            <a:avLst>
              <a:gd name="adj" fmla="val 9412"/>
            </a:avLst>
          </a:prstGeom>
          <a:solidFill>
            <a:schemeClr val="bg2"/>
          </a:solidFill>
          <a:ln w="12700">
            <a:solidFill>
              <a:schemeClr val="bg2"/>
            </a:solidFill>
            <a:prstDash val="solid"/>
          </a:ln>
        </p:spPr>
      </p:sp>
      <p:sp>
        <p:nvSpPr>
          <p:cNvPr id="12" name="stat-big"/>
          <p:cNvSpPr txBox="1"/>
          <p:nvPr/>
        </p:nvSpPr>
        <p:spPr>
          <a:xfrm>
            <a:off x="6355080" y="2898648"/>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0.29</a:t>
            </a:r>
            <a:endParaRPr lang="en-US" sz="2200" dirty="0"/>
          </a:p>
        </p:txBody>
      </p:sp>
      <p:sp>
        <p:nvSpPr>
          <p:cNvPr id="13" name="stat-label"/>
          <p:cNvSpPr txBox="1"/>
          <p:nvPr/>
        </p:nvSpPr>
        <p:spPr>
          <a:xfrm>
            <a:off x="6355080" y="3282696"/>
            <a:ext cx="2194560" cy="265176"/>
          </a:xfrm>
          <a:prstGeom prst="rect">
            <a:avLst/>
          </a:prstGeom>
          <a:noFill/>
          <a:ln/>
        </p:spPr>
        <p:txBody>
          <a:bodyPr wrap="square" lIns="0" tIns="0" rIns="0" bIns="0" rtlCol="0" anchor="t"/>
          <a:lstStyle/>
          <a:p>
            <a:pPr indent="0" marL="0">
              <a:buNone/>
            </a:pPr>
            <a:r>
              <a:rPr lang="en-US" sz="1100" dirty="0">
                <a:solidFill>
                  <a:schemeClr val="accent3"/>
                </a:solidFill>
              </a:rPr>
              <a:t>accurate news</a:t>
            </a:r>
            <a:endParaRPr lang="en-US" sz="1100" dirty="0"/>
          </a:p>
        </p:txBody>
      </p:sp>
      <p:sp>
        <p:nvSpPr>
          <p:cNvPr id="14" name="stat-outdated, optimistic"/>
          <p:cNvSpPr/>
          <p:nvPr/>
        </p:nvSpPr>
        <p:spPr>
          <a:xfrm>
            <a:off x="6217920" y="3712464"/>
            <a:ext cx="2468880" cy="777240"/>
          </a:xfrm>
          <a:prstGeom prst="roundRect">
            <a:avLst>
              <a:gd name="adj" fmla="val 9412"/>
            </a:avLst>
          </a:prstGeom>
          <a:solidFill>
            <a:schemeClr val="bg2"/>
          </a:solidFill>
          <a:ln w="12700">
            <a:solidFill>
              <a:schemeClr val="bg2"/>
            </a:solidFill>
            <a:prstDash val="solid"/>
          </a:ln>
        </p:spPr>
      </p:sp>
      <p:sp>
        <p:nvSpPr>
          <p:cNvPr id="15" name="stat-big"/>
          <p:cNvSpPr txBox="1"/>
          <p:nvPr/>
        </p:nvSpPr>
        <p:spPr>
          <a:xfrm>
            <a:off x="6355080" y="3785616"/>
            <a:ext cx="2194560" cy="365760"/>
          </a:xfrm>
          <a:prstGeom prst="rect">
            <a:avLst/>
          </a:prstGeom>
          <a:noFill/>
          <a:ln/>
        </p:spPr>
        <p:txBody>
          <a:bodyPr wrap="square" lIns="0" tIns="0" rIns="0" bIns="0" rtlCol="0" anchor="ctr"/>
          <a:lstStyle/>
          <a:p>
            <a:pPr indent="0" marL="0">
              <a:buNone/>
            </a:pPr>
            <a:r>
              <a:rPr lang="en-US" sz="2200" b="1" dirty="0">
                <a:solidFill>
                  <a:schemeClr val="accent5"/>
                </a:solidFill>
                <a:latin typeface="Cambria" pitchFamily="34" charset="0"/>
                <a:ea typeface="Cambria" pitchFamily="34" charset="-122"/>
                <a:cs typeface="Cambria" pitchFamily="34" charset="-120"/>
              </a:rPr>
              <a:t>0.16</a:t>
            </a:r>
            <a:endParaRPr lang="en-US" sz="2200" dirty="0"/>
          </a:p>
        </p:txBody>
      </p:sp>
      <p:sp>
        <p:nvSpPr>
          <p:cNvPr id="16" name="stat-label"/>
          <p:cNvSpPr txBox="1"/>
          <p:nvPr/>
        </p:nvSpPr>
        <p:spPr>
          <a:xfrm>
            <a:off x="6355080" y="4169664"/>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optimistic news</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Capping the largest deposits</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for three deposit-size distributions. λ pairs pooled.</a:t>
            </a:r>
            <a:endParaRPr lang="en-US" sz="1000" dirty="0"/>
          </a:p>
        </p:txBody>
      </p:sp>
      <p:sp>
        <p:nvSpPr>
          <p:cNvPr id="5" name="stat-uncapped: a few very"/>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0.61 to 0.11</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uncapped: a few very large deposits (σ 2.5)</a:t>
            </a:r>
            <a:endParaRPr lang="en-US" sz="1100" dirty="0"/>
          </a:p>
        </p:txBody>
      </p:sp>
      <p:sp>
        <p:nvSpPr>
          <p:cNvPr id="8" name="stat-capped: no deposit a"/>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0.51 to 0.08</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capped: no deposit above 1% of the total (the reference bank)</a:t>
            </a:r>
            <a:endParaRPr lang="en-US" sz="1100" dirty="0"/>
          </a:p>
        </p:txBody>
      </p:sp>
      <p:sp>
        <p:nvSpPr>
          <p:cNvPr id="11" name="stat-similar sizes (σ 1)."/>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200" b="1" dirty="0">
                <a:solidFill>
                  <a:schemeClr val="accent3"/>
                </a:solidFill>
                <a:latin typeface="Cambria" pitchFamily="34" charset="0"/>
                <a:ea typeface="Cambria" pitchFamily="34" charset="-122"/>
                <a:cs typeface="Cambria" pitchFamily="34" charset="-120"/>
              </a:rPr>
              <a:t>0.50 to 0.08</a:t>
            </a:r>
            <a:endParaRPr lang="en-US" sz="22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similar sizes (σ 1). The μ gradient is the same in all three.</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457200" y="1051560"/>
            <a:ext cx="5145146"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D relative to no news, against how far the public news sits from the truth. Shaded: where the theory predicts the sign.</a:t>
            </a:r>
            <a:endParaRPr lang="en-US" sz="1000" dirty="0"/>
          </a:p>
        </p:txBody>
      </p:sp>
      <p:sp>
        <p:nvSpPr>
          <p:cNvPr id="5" name="tests"/>
          <p:cNvSpPr/>
          <p:nvPr/>
        </p:nvSpPr>
        <p:spPr>
          <a:xfrm>
            <a:off x="6217920" y="1051560"/>
            <a:ext cx="2468880" cy="2103120"/>
          </a:xfrm>
          <a:prstGeom prst="roundRect">
            <a:avLst>
              <a:gd name="adj" fmla="val 3478"/>
            </a:avLst>
          </a:prstGeom>
          <a:solidFill>
            <a:schemeClr val="bg2"/>
          </a:solidFill>
          <a:ln w="12700">
            <a:solidFill>
              <a:schemeClr val="bg2"/>
            </a:solidFill>
            <a:prstDash val="solid"/>
          </a:ln>
        </p:spPr>
      </p:sp>
      <p:sp>
        <p:nvSpPr>
          <p:cNvPr id="6" name="tests-text"/>
          <p:cNvSpPr txBox="1"/>
          <p:nvPr/>
        </p:nvSpPr>
        <p:spPr>
          <a:xfrm>
            <a:off x="6355080" y="1143000"/>
            <a:ext cx="2194560" cy="1920240"/>
          </a:xfrm>
          <a:prstGeom prst="rect">
            <a:avLst/>
          </a:prstGeom>
          <a:noFill/>
          <a:ln/>
        </p:spPr>
        <p:txBody>
          <a:bodyPr wrap="square" lIns="0" tIns="0" rIns="0" bIns="0" rtlCol="0" anchor="t"/>
          <a:lstStyle/>
          <a:p>
            <a:pPr indent="0" marL="0">
              <a:spcAft>
                <a:spcPts val="600"/>
              </a:spcAft>
              <a:buNone/>
            </a:pPr>
            <a:r>
              <a:rPr lang="en-US" sz="1300" b="1" dirty="0">
                <a:solidFill>
                  <a:schemeClr val="tx2"/>
                </a:solidFill>
              </a:rPr>
              <a:t>Pre-registered tests</a:t>
            </a:r>
            <a:endParaRPr lang="en-US" sz="1050" dirty="0"/>
          </a:p>
          <a:p>
            <a:pPr indent="0" marL="0">
              <a:spcAft>
                <a:spcPts val="300"/>
              </a:spcAft>
              <a:buNone/>
            </a:pPr>
            <a:r>
              <a:rPr lang="en-US" sz="1050" dirty="0">
                <a:solidFill>
                  <a:schemeClr val="tx1"/>
                </a:solidFill>
              </a:rPr>
              <a:t>G1′  optimistic news: individualists run more   +0.033</a:t>
            </a:r>
            <a:endParaRPr lang="en-US" sz="1050" dirty="0"/>
          </a:p>
          <a:p>
            <a:pPr indent="0" marL="0">
              <a:spcAft>
                <a:spcPts val="300"/>
              </a:spcAft>
              <a:buNone/>
            </a:pPr>
            <a:r>
              <a:rPr lang="en-US" sz="1050" dirty="0">
                <a:solidFill>
                  <a:schemeClr val="tx1"/>
                </a:solidFill>
              </a:rPr>
              <a:t>G4′  pessimistic news: collectivists run more   −0.031</a:t>
            </a:r>
            <a:endParaRPr lang="en-US" sz="1050" dirty="0"/>
          </a:p>
          <a:p>
            <a:pPr indent="0" marL="0">
              <a:spcAft>
                <a:spcPts val="300"/>
              </a:spcAft>
              <a:buNone/>
            </a:pPr>
            <a:r>
              <a:rPr lang="en-US" sz="1050" dirty="0">
                <a:solidFill>
                  <a:schemeClr val="tx1"/>
                </a:solidFill>
              </a:rPr>
              <a:t>G2a′  the effect grows with the λ gap   +0.093</a:t>
            </a:r>
            <a:endParaRPr lang="en-US" sz="1050" dirty="0"/>
          </a:p>
          <a:p>
            <a:pPr indent="0" marL="0">
              <a:buNone/>
            </a:pPr>
            <a:r>
              <a:rPr lang="en-US" sz="1050" dirty="0">
                <a:solidFill>
                  <a:schemeClr val="accent2"/>
                </a:solidFill>
              </a:rPr>
              <a:t>G3  sorting with no news: counts against (one pair wrong-signed)</a:t>
            </a:r>
            <a:endParaRPr lang="en-US" sz="1050" dirty="0"/>
          </a:p>
        </p:txBody>
      </p:sp>
      <p:sp>
        <p:nvSpPr>
          <p:cNvPr id="7" name="stat-confirmatory tests s"/>
          <p:cNvSpPr/>
          <p:nvPr/>
        </p:nvSpPr>
        <p:spPr>
          <a:xfrm>
            <a:off x="6217920" y="3291840"/>
            <a:ext cx="2468880" cy="1143000"/>
          </a:xfrm>
          <a:prstGeom prst="roundRect">
            <a:avLst>
              <a:gd name="adj" fmla="val 6400"/>
            </a:avLst>
          </a:prstGeom>
          <a:solidFill>
            <a:schemeClr val="bg2"/>
          </a:solidFill>
          <a:ln w="12700">
            <a:solidFill>
              <a:schemeClr val="bg2"/>
            </a:solidFill>
            <a:prstDash val="solid"/>
          </a:ln>
        </p:spPr>
      </p:sp>
      <p:sp>
        <p:nvSpPr>
          <p:cNvPr id="8" name="stat-big"/>
          <p:cNvSpPr txBox="1"/>
          <p:nvPr/>
        </p:nvSpPr>
        <p:spPr>
          <a:xfrm>
            <a:off x="6355080" y="336499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3 of 4</a:t>
            </a:r>
            <a:endParaRPr lang="en-US" sz="2600" dirty="0"/>
          </a:p>
        </p:txBody>
      </p:sp>
      <p:sp>
        <p:nvSpPr>
          <p:cNvPr id="9" name="stat-label"/>
          <p:cNvSpPr txBox="1"/>
          <p:nvPr/>
        </p:nvSpPr>
        <p:spPr>
          <a:xfrm>
            <a:off x="6355080" y="3840480"/>
            <a:ext cx="2194560" cy="539496"/>
          </a:xfrm>
          <a:prstGeom prst="rect">
            <a:avLst/>
          </a:prstGeom>
          <a:noFill/>
          <a:ln/>
        </p:spPr>
        <p:txBody>
          <a:bodyPr wrap="square" lIns="0" tIns="0" rIns="0" bIns="0" rtlCol="0" anchor="t"/>
          <a:lstStyle/>
          <a:p>
            <a:pPr indent="0" marL="0">
              <a:buNone/>
            </a:pPr>
            <a:r>
              <a:rPr lang="en-US" sz="1100" dirty="0">
                <a:solidFill>
                  <a:schemeClr val="accent3"/>
                </a:solidFill>
              </a:rPr>
              <a:t>confirmatory tests support the theory, on all three versions of the bank</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exited Celsius</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2026-10-26T04:37:31Z</dcterms:created>
  <dcterms:modified xsi:type="dcterms:W3CDTF">2026-10-26T04:37:31Z</dcterms:modified>
</cp:coreProperties>
</file>