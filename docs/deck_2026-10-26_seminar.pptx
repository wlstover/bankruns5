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95e3b42-6817-3d83-12bd-e2c827b8ce7f}">
          <p14:sldIdLst>
            <p14:sldId id="256"/>
            <p14:sldId id="257"/>
            <p14:sldId id="258"/>
            <p14:sldId id="259"/>
            <p14:sldId id="260"/>
            <p14:sldId id="262"/>
          </p14:sldIdLst>
        </p14:section>
        <p14:section name="The model" id="{1445559a-9fef-cd07-96c5-9e716de719f2}">
          <p14:sldIdLst>
            <p14:sldId id="263"/>
            <p14:sldId id="264"/>
          </p14:sldIdLst>
        </p14:section>
        <p14:section name="Results" id="{5952e06b-c898-3c48-8730-6571701602d6}">
          <p14:sldIdLst>
            <p14:sldId id="265"/>
            <p14:sldId id="266"/>
            <p14:sldId id="267"/>
            <p14:sldId id="268"/>
            <p14:sldId id="269"/>
          </p14:sldIdLst>
        </p14:section>
        <p14:section name="Validation" id="{22546429-4435-0580-b38e-7a7d4cf27411}">
          <p14:sldIdLst>
            <p14:sldId id="270"/>
          </p14:sldIdLst>
        </p14:section>
        <p14:section name="Close" id="{7855dd14-854f-0d15-547b-8ea7af6c6d9f}">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card. ~0.2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card. ~0.1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Markets and Society 2026</a:t>
            </a:r>
            <a:endParaRPr lang="en-US" sz="1800" dirty="0"/>
          </a:p>
          <a:p>
            <a:pPr algn="ctr" indent="0" marL="0">
              <a:buNone/>
            </a:pPr>
            <a:r>
              <a:rPr lang="en-US" sz="1800" dirty="0">
                <a:solidFill>
                  <a:schemeClr val="accent4"/>
                </a:solidFill>
              </a:rPr>
              <a:t>Walter Stover  ·  George Mason University  ·  26 October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4"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5"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6"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items"/>
          <p:cNvSpPr txBox="1"/>
          <p:nvPr/>
        </p:nvSpPr>
        <p:spPr>
          <a:xfrm>
            <a:off x="457200" y="1188720"/>
            <a:ext cx="8229600" cy="30175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weights. </a:t>
            </a:r>
            <a:pPr indent="0" marL="0">
              <a:spcAft>
                <a:spcPts val="900"/>
              </a:spcAft>
              <a:buNone/>
            </a:pPr>
            <a:r>
              <a:rPr lang="en-US" sz="1400" dirty="0">
                <a:solidFill>
                  <a:schemeClr val="tx1"/>
                </a:solidFill>
              </a:rPr>
              <a:t>Cultural values pass largely unchanged from parents to children (Guiso, Sapienza, Zingales; Bazzi et al.).</a:t>
            </a:r>
            <a:endParaRPr lang="en-US" sz="1400" dirty="0"/>
          </a:p>
          <a:p>
            <a:pPr marL="177800" indent="-177800">
              <a:spcAft>
                <a:spcPts val="900"/>
              </a:spcAft>
              <a:buSzPct val="100000"/>
              <a:buChar char="•"/>
            </a:pPr>
            <a:r>
              <a:rPr lang="en-US" sz="1400" b="1" dirty="0">
                <a:solidFill>
                  <a:schemeClr val="tx1"/>
                </a:solidFill>
              </a:rPr>
              <a:t>Individualism </a:t>
            </a:r>
            <a:pPr indent="0" marL="0">
              <a:spcAft>
                <a:spcPts val="900"/>
              </a:spcAft>
              <a:buNone/>
            </a:pPr>
            <a:r>
              <a:rPr lang="en-US" sz="1400" dirty="0">
                <a:solidFill>
                  <a:schemeClr val="tx1"/>
                </a:solidFill>
              </a:rPr>
              <a:t>as 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we can observe the weight instead of assuming 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ctr" indent="0" marL="0">
              <a:buNone/>
            </a:pPr>
            <a:r>
              <a:rPr lang="en-US" sz="3200" b="1" dirty="0">
                <a:solidFill>
                  <a:schemeClr val="bg1"/>
                </a:solidFill>
              </a:rPr>
              <a:t>An agent-based bank run model</a:t>
            </a:r>
            <a:br>
              <a:rPr lang="en-US" sz="3200" b="1" dirty="0">
                <a:solidFill>
                  <a:schemeClr val="bg1"/>
                </a:solidFill>
              </a:rPr>
            </a:br>
            <a:r>
              <a:rPr lang="en-US" sz="3200" b="1" dirty="0">
                <a:solidFill>
                  <a:schemeClr val="bg1"/>
                </a:solidFill>
              </a:rPr>
              <a:t>with culture</a:t>
            </a:r>
            <a:endParaRPr lang="en-US" sz="3200" dirty="0"/>
          </a:p>
        </p:txBody>
      </p:sp>
      <p:sp>
        <p:nvSpPr>
          <p:cNvPr id="4"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ctr" indent="0" marL="0">
              <a:buNone/>
            </a:pP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D62828"/>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D62828"/>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ctr" indent="0" marL="0">
              <a:buNone/>
            </a:pPr>
            <a:r>
              <a:rPr lang="en-US" sz="3200" b="1" dirty="0">
                <a:solidFill>
                  <a:schemeClr val="bg1"/>
                </a:solidFill>
              </a:rPr>
              <a:t>Results</a:t>
            </a:r>
            <a:endParaRPr lang="en-US" sz="3200" dirty="0"/>
          </a:p>
        </p:txBody>
      </p:sp>
      <p:sp>
        <p:nvSpPr>
          <p:cNvPr id="4"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ctr" indent="0" marL="0">
              <a:buNone/>
            </a:pP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2026-10-26T12:49:45Z</dcterms:created>
  <dcterms:modified xsi:type="dcterms:W3CDTF">2026-10-26T12:49:45Z</dcterms:modified>
</cp:coreProperties>
</file>