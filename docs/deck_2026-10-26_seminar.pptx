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4f783ce-4342-bc4b-b6ea-b2554af04876}">
          <p14:sldIdLst>
            <p14:sldId id="256"/>
            <p14:sldId id="257"/>
            <p14:sldId id="258"/>
            <p14:sldId id="259"/>
            <p14:sldId id="260"/>
            <p14:sldId id="261"/>
            <p14:sldId id="262"/>
            <p14:sldId id="263"/>
            <p14:sldId id="264"/>
          </p14:sldIdLst>
        </p14:section>
        <p14:section name="The model" id="{dcf1a77c-604d-8a0c-d591-275fd5ec57d4}">
          <p14:sldIdLst>
            <p14:sldId id="265"/>
            <p14:sldId id="266"/>
          </p14:sldIdLst>
        </p14:section>
        <p14:section name="Results" id="{d599b507-ebe5-bf5a-1c4e-826fa99cbdd8}">
          <p14:sldIdLst>
            <p14:sldId id="267"/>
            <p14:sldId id="268"/>
            <p14:sldId id="269"/>
            <p14:sldId id="270"/>
          </p14:sldIdLst>
        </p14:section>
        <p14:section name="Validation" id="{2a46ce99-5571-441e-1a0d-e1fe91aab1db}">
          <p14:sldIdLst>
            <p14:sldId id="271"/>
          </p14:sldIdLst>
        </p14:section>
        <p14:section name="Close" id="{9b71076e-d3df-954b-1f42-2c3112b72f13}">
          <p14:sldIdLst>
            <p14:sldId id="272"/>
          </p14:sldIdLst>
        </p14:section>
        <p14:section name="Backup" id="{ccd3d01f-d003-54b8-ffe1-2e8a531c1d23}">
          <p14:sldIdLst>
            <p14:sldId id="273"/>
            <p14:sldId id="274"/>
            <p14:sldId id="275"/>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title is the chapter title; change for the seminar if you like.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third question is latent in the canonical theory because those models have one signal. It becomes askable once a public signal is added, which the global-games literature did in the early 2000s. It is exactly the question a panic poses.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If asked how the theory answers the third question: the public-signal global games answer it with the Bayesian precision ratio, the weight on y is tau_y over tau_x plus tau_y, the same for everyone and vanishing as private information sharpens; so any sorting between depositors is noise and official communication stops mattering just when depositors pay most attention. (Slide dropped for this audience.) The cases: in each one the public line and private evidence are in open disagreement, the weights do not vanish, and the interesting fact is who moved on which. Chapter 3's stale public signal is the general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Where the three chapters sit on the through-line. Then the ladder as the recap, then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Why Chapter 3 is a simulation. Chapter 1 relaxed the Bayesian precision answer and kept the rest of Goldstein-Pauzner so the threshold equilibrium survives. The ABM varies the signal, location and interpretation together, plus the incentive side, which no closed-form model could carry; that is what lets the channel decomposition (lambda on the neighbour blend vs the news blend) be measured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ladder: variation in the signal (Goldstein-Pauzner: same signal technology, different draws, which selects the equilibrium), variation in location (who hears it, from whom, when: Kelly-O Grada, Iyer-Puri, Cookson et al.), variation in interpretation (the same two signals, different dispositional weights; culture is the stable source). Rung 1 orders depositors by luck, rung 2 by position, rung 3 by who they are, and only rung 3 predicts that the order flips with the sign of the public error. Nearest cousins to acknowledge if asked: Izmalkov-Yildiz 2010 (heterogeneous priors), He-Manela 2016 (information acquisition).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 bank run model for the twentieth century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 bank run model for the twentieth century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Who runs, and how a run spreads: an agent-based test of the theory</a:t>
            </a:r>
            <a:endParaRPr lang="en-US" sz="1800" dirty="0"/>
          </a:p>
          <a:p>
            <a:pPr indent="0" marL="0">
              <a:buNone/>
            </a:pPr>
            <a:r>
              <a:rPr lang="en-US" sz="1400" dirty="0">
                <a:solidFill>
                  <a:schemeClr val="accent3"/>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With two signals, a third question appears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Which signal does a depositor act on, and in what proportion?</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Latent in the canonical models. </a:t>
            </a:r>
            <a:pPr indent="0" marL="0">
              <a:spcAft>
                <a:spcPts val="900"/>
              </a:spcAft>
              <a:buNone/>
            </a:pPr>
            <a:r>
              <a:rPr lang="en-US" sz="1400" dirty="0">
                <a:solidFill>
                  <a:schemeClr val="tx1"/>
                </a:solidFill>
              </a:rPr>
              <a:t>Diamond–Dybvig has no signal; Morris–Shin and Goldstein–Pauzner have one. The question cannot arise.</a:t>
            </a:r>
            <a:endParaRPr lang="en-US" sz="1400" dirty="0"/>
          </a:p>
          <a:p>
            <a:pPr marL="177800" indent="-177800">
              <a:spcAft>
                <a:spcPts val="900"/>
              </a:spcAft>
              <a:buSzPct val="100000"/>
              <a:buChar char="•"/>
            </a:pPr>
            <a:r>
              <a:rPr lang="en-US" sz="1400" b="1" dirty="0">
                <a:solidFill>
                  <a:schemeClr val="tx1"/>
                </a:solidFill>
              </a:rPr>
              <a:t>Askable once a public signal is added. </a:t>
            </a:r>
            <a:pPr indent="0" marL="0">
              <a:spcAft>
                <a:spcPts val="900"/>
              </a:spcAft>
              <a:buNone/>
            </a:pPr>
            <a:r>
              <a:rPr lang="en-US" sz="1400" dirty="0">
                <a:solidFill>
                  <a:schemeClr val="tx1"/>
                </a:solidFill>
              </a:rPr>
              <a:t>Morris–Shin (2002), Hellwig (2002), Angeletos–Werning (2006) put a public signal next to the private one.</a:t>
            </a:r>
            <a:endParaRPr lang="en-US" sz="1400" dirty="0"/>
          </a:p>
          <a:p>
            <a:pPr marL="177800" indent="-177800">
              <a:spcAft>
                <a:spcPts val="900"/>
              </a:spcAft>
              <a:buSzPct val="100000"/>
              <a:buChar char="•"/>
            </a:pPr>
            <a:r>
              <a:rPr lang="en-US" sz="1400" b="1" dirty="0">
                <a:solidFill>
                  <a:schemeClr val="tx1"/>
                </a:solidFill>
              </a:rPr>
              <a:t>The question a panic poses. </a:t>
            </a:r>
            <a:pPr indent="0" marL="0">
              <a:spcAft>
                <a:spcPts val="900"/>
              </a:spcAft>
              <a:buNone/>
            </a:pPr>
            <a:r>
              <a:rPr lang="en-US" sz="1400" dirty="0">
                <a:solidFill>
                  <a:schemeClr val="tx1"/>
                </a:solidFill>
              </a:rPr>
              <a:t>A depositor in a run holds two things that disagree: what they see and what they are told.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panics look like</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Panics are open disagreements between the public line and private evidence, and depositors split on which to trust.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Celsius, 2022. </a:t>
            </a:r>
            <a:pPr indent="0" marL="0">
              <a:spcAft>
                <a:spcPts val="900"/>
              </a:spcAft>
              <a:buNone/>
            </a:pPr>
            <a:r>
              <a:rPr lang="en-US" sz="1400" dirty="0">
                <a:solidFill>
                  <a:schemeClr val="tx1"/>
                </a:solidFill>
              </a:rPr>
              <a:t>Official posts insisting the platform was sound, while CEL fell and withdrawals accelerated.</a:t>
            </a:r>
            <a:endParaRPr lang="en-US" sz="1400" dirty="0"/>
          </a:p>
          <a:p>
            <a:pPr marL="177800" indent="-177800">
              <a:spcAft>
                <a:spcPts val="900"/>
              </a:spcAft>
              <a:buSzPct val="100000"/>
              <a:buChar char="•"/>
            </a:pPr>
            <a:r>
              <a:rPr lang="en-US" sz="1400" b="1" dirty="0">
                <a:solidFill>
                  <a:schemeClr val="tx1"/>
                </a:solidFill>
              </a:rPr>
              <a:t>Silicon Valley Bank, 2023. </a:t>
            </a:r>
            <a:pPr indent="0" marL="0">
              <a:spcAft>
                <a:spcPts val="900"/>
              </a:spcAft>
              <a:buNone/>
            </a:pPr>
            <a:r>
              <a:rPr lang="en-US" sz="1400" dirty="0">
                <a:solidFill>
                  <a:schemeClr val="tx1"/>
                </a:solidFill>
              </a:rPr>
              <a:t>A call asking clients to stay calm, against a Twitter feed saying the opposite.</a:t>
            </a:r>
            <a:endParaRPr lang="en-US" sz="1400" dirty="0"/>
          </a:p>
          <a:p>
            <a:pPr marL="177800" indent="-177800">
              <a:spcAft>
                <a:spcPts val="900"/>
              </a:spcAft>
              <a:buSzPct val="100000"/>
              <a:buChar char="•"/>
            </a:pPr>
            <a:r>
              <a:rPr lang="en-US" sz="1400" b="1" dirty="0">
                <a:solidFill>
                  <a:schemeClr val="tx1"/>
                </a:solidFill>
              </a:rPr>
              <a:t>Northern Rock, 2007. </a:t>
            </a:r>
            <a:pPr indent="0" marL="0">
              <a:spcAft>
                <a:spcPts val="900"/>
              </a:spcAft>
              <a:buNone/>
            </a:pPr>
            <a:r>
              <a:rPr lang="en-US" sz="1400" dirty="0">
                <a:solidFill>
                  <a:schemeClr val="tx1"/>
                </a:solidFill>
              </a:rPr>
              <a:t>A Bank of England support announcement, against queues outside the branches.</a:t>
            </a:r>
            <a:endParaRPr lang="en-US" sz="1400" dirty="0"/>
          </a:p>
        </p:txBody>
      </p:sp>
      <p:sp>
        <p:nvSpPr>
          <p:cNvPr id="5" name="step-foot"/>
          <p:cNvSpPr txBox="1"/>
          <p:nvPr/>
        </p:nvSpPr>
        <p:spPr>
          <a:xfrm>
            <a:off x="457200" y="4251960"/>
            <a:ext cx="8229600" cy="320040"/>
          </a:xfrm>
          <a:prstGeom prst="rect">
            <a:avLst/>
          </a:prstGeom>
          <a:noFill/>
          <a:ln/>
        </p:spPr>
        <p:txBody>
          <a:bodyPr wrap="square" lIns="0" tIns="0" rIns="0" bIns="0" rtlCol="0" anchor="ctr"/>
          <a:lstStyle/>
          <a:p>
            <a:pPr indent="0" marL="0">
              <a:buNone/>
            </a:pPr>
            <a:r>
              <a:rPr lang="en-US" sz="1100" i="1" dirty="0">
                <a:solidFill>
                  <a:schemeClr val="accent3"/>
                </a:solidFill>
              </a:rPr>
              <a:t>In each case the interesting fact is who moved on which signal.</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What this dissertation does with it</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The weight is the depositor’s psychological characteristic; culture is the population-level source.</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formalises it. </a:t>
            </a:r>
            <a:pPr indent="0" marL="0">
              <a:spcAft>
                <a:spcPts val="900"/>
              </a:spcAft>
              <a:buNone/>
            </a:pPr>
            <a:r>
              <a:rPr lang="en-US" sz="1400" dirty="0">
                <a:solidFill>
                  <a:schemeClr val="tx1"/>
                </a:solidFill>
              </a:rPr>
              <a:t>A stale public signal and heterogeneous dispositional weights inside Goldstein–Pauzner. Prediction: which type runs reverses with the sign of the public error.</a:t>
            </a:r>
            <a:endParaRPr lang="en-US" sz="1400" dirty="0"/>
          </a:p>
          <a:p>
            <a:pPr marL="177800" indent="-177800">
              <a:spcAft>
                <a:spcPts val="900"/>
              </a:spcAft>
              <a:buSzPct val="100000"/>
              <a:buChar char="•"/>
            </a:pPr>
            <a:r>
              <a:rPr lang="en-US" sz="1400" b="1" dirty="0">
                <a:solidFill>
                  <a:schemeClr val="tx1"/>
                </a:solidFill>
              </a:rPr>
              <a:t>Chapter 2 observes it once. </a:t>
            </a:r>
            <a:pPr indent="0" marL="0">
              <a:spcAft>
                <a:spcPts val="900"/>
              </a:spcAft>
              <a:buNone/>
            </a:pPr>
            <a:r>
              <a:rPr lang="en-US" sz="1400" dirty="0">
                <a:solidFill>
                  <a:schemeClr val="tx1"/>
                </a:solidFill>
              </a:rPr>
              <a:t>Celsius: individualism predicts direction and timing within platform and within ancestral origin, and which public signals depositors act on.</a:t>
            </a:r>
            <a:endParaRPr lang="en-US" sz="1400" dirty="0"/>
          </a:p>
          <a:p>
            <a:pPr marL="177800" indent="-177800">
              <a:spcAft>
                <a:spcPts val="900"/>
              </a:spcAft>
              <a:buSzPct val="100000"/>
              <a:buChar char="•"/>
            </a:pPr>
            <a:r>
              <a:rPr lang="en-US" sz="1400" b="1" dirty="0">
                <a:solidFill>
                  <a:schemeClr val="tx1"/>
                </a:solidFill>
              </a:rPr>
              <a:t>Chapter 3 varies it. </a:t>
            </a:r>
            <a:pPr indent="0" marL="0">
              <a:spcAft>
                <a:spcPts val="900"/>
              </a:spcAft>
              <a:buNone/>
            </a:pPr>
            <a:r>
              <a:rPr lang="en-US" sz="1400" dirty="0">
                <a:solidFill>
                  <a:schemeClr val="tx1"/>
                </a:solidFill>
              </a:rPr>
              <a:t>The mix of types, the gap between them, the staleness of the news, and the bank’s contract, in a population of interacting depositors.</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Why the third chapter is a simulation</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Chapter 1 relaxed one assumption. The agent-based model relaxes the rest at once, and lets the three rungs interact.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Chapter 1 relaxed one thing. </a:t>
            </a:r>
            <a:pPr indent="0" marL="0">
              <a:spcAft>
                <a:spcPts val="900"/>
              </a:spcAft>
              <a:buNone/>
            </a:pPr>
            <a:r>
              <a:rPr lang="en-US" sz="1400" dirty="0">
                <a:solidFill>
                  <a:schemeClr val="tx1"/>
                </a:solidFill>
              </a:rPr>
              <a:t>The one-size-fits-all weight on public news became a stable, heterogeneous weight on a stale public signal. Everything else stayed: a continuum of depositors, one simultaneous move, no network.</a:t>
            </a:r>
            <a:endParaRPr lang="en-US" sz="1400" dirty="0"/>
          </a:p>
          <a:p>
            <a:pPr marL="177800" indent="-177800">
              <a:spcAft>
                <a:spcPts val="900"/>
              </a:spcAft>
              <a:buSzPct val="100000"/>
              <a:buChar char="•"/>
            </a:pPr>
            <a:r>
              <a:rPr lang="en-US" sz="1400" b="1" dirty="0">
                <a:solidFill>
                  <a:schemeClr val="tx1"/>
                </a:solidFill>
              </a:rPr>
              <a:t>The model relaxes the rest at once. </a:t>
            </a:r>
            <a:pPr indent="0" marL="0">
              <a:spcAft>
                <a:spcPts val="900"/>
              </a:spcAft>
              <a:buNone/>
            </a:pPr>
            <a:r>
              <a:rPr lang="en-US" sz="1400" dirty="0">
                <a:solidFill>
                  <a:schemeClr val="tx1"/>
                </a:solidFill>
              </a:rPr>
              <a:t>The signal (a private draw per depositor), location (a network, neighbours’ withdrawals arriving tick by tick, public news absent, accurate or stale), interpretation (λ, formed in a cultural warm-up), plus deposit sizes, risk preferences and the contract.</a:t>
            </a:r>
            <a:endParaRPr lang="en-US" sz="1400" dirty="0"/>
          </a:p>
          <a:p>
            <a:pPr marL="177800" indent="-177800">
              <a:spcAft>
                <a:spcPts val="900"/>
              </a:spcAft>
              <a:buSzPct val="100000"/>
              <a:buChar char="•"/>
            </a:pPr>
            <a:r>
              <a:rPr lang="en-US" sz="1400" b="1" dirty="0">
                <a:solidFill>
                  <a:schemeClr val="tx1"/>
                </a:solidFill>
              </a:rPr>
              <a:t>An analytical model cannot carry all of that. </a:t>
            </a:r>
            <a:pPr indent="0" marL="0">
              <a:spcAft>
                <a:spcPts val="900"/>
              </a:spcAft>
              <a:buNone/>
            </a:pPr>
            <a:r>
              <a:rPr lang="en-US" sz="1400" dirty="0">
                <a:solidFill>
                  <a:schemeClr val="tx1"/>
                </a:solidFill>
              </a:rPr>
              <a:t>Each addition breaks the threshold-equilibrium machinery; together they are beyond closed form. The simulation is what lets the rungs be varied and measured separately.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ladder: signal, location, interpretation</a:t>
            </a:r>
            <a:endParaRPr lang="en-US" sz="2400" dirty="0"/>
          </a:p>
        </p:txBody>
      </p:sp>
      <p:pic>
        <p:nvPicPr>
          <p:cNvPr id="3" name="ladder" descr="Three panels. Signal: one bank fundamental sends a noisy private signal to each depositor, who line up from run to stay. Location: a network in which the signal has reached some depositors from a first hearer and not others. Interpretation: the same private and public signals reach an individualist, who leans on the private signal, and a collectivist, who leans on the public one; culture sets the weight.">    </p:cNvPr>
          <p:cNvPicPr>
            <a:picLocks noChangeAspect="1"/>
          </p:cNvPicPr>
          <p:nvPr/>
        </p:nvPicPr>
        <p:blipFill>
          <a:blip r:embed="rId1"/>
          <a:stretch>
            <a:fillRect/>
          </a:stretch>
        </p:blipFill>
        <p:spPr>
          <a:xfrm>
            <a:off x="653339" y="1097280"/>
            <a:ext cx="7837322" cy="2743200"/>
          </a:xfrm>
          <a:prstGeom prst="rect">
            <a:avLst/>
          </a:prstGeom>
        </p:spPr>
      </p:pic>
      <p:sp>
        <p:nvSpPr>
          <p:cNvPr id="4" name="ladder-note"/>
          <p:cNvSpPr/>
          <p:nvPr/>
        </p:nvSpPr>
        <p:spPr>
          <a:xfrm>
            <a:off x="457200" y="3977640"/>
            <a:ext cx="8229600" cy="566928"/>
          </a:xfrm>
          <a:prstGeom prst="roundRect">
            <a:avLst>
              <a:gd name="adj" fmla="val 12903"/>
            </a:avLst>
          </a:prstGeom>
          <a:solidFill>
            <a:schemeClr val="accent4"/>
          </a:solidFill>
          <a:ln w="12700">
            <a:solidFill>
              <a:schemeClr val="accent4"/>
            </a:solidFill>
            <a:prstDash val="solid"/>
          </a:ln>
        </p:spPr>
      </p:sp>
      <p:sp>
        <p:nvSpPr>
          <p:cNvPr id="5" name="ladder-text"/>
          <p:cNvSpPr txBox="1"/>
          <p:nvPr/>
        </p:nvSpPr>
        <p:spPr>
          <a:xfrm>
            <a:off x="594360" y="4005072"/>
            <a:ext cx="7955280" cy="512064"/>
          </a:xfrm>
          <a:prstGeom prst="rect">
            <a:avLst/>
          </a:prstGeom>
          <a:noFill/>
          <a:ln/>
        </p:spPr>
        <p:txBody>
          <a:bodyPr wrap="square" lIns="0" tIns="0" rIns="0" bIns="0" rtlCol="0" anchor="ctr"/>
          <a:lstStyle/>
          <a:p>
            <a:pPr indent="0" marL="0">
              <a:buNone/>
            </a:pPr>
            <a:r>
              <a:rPr lang="en-US" sz="1200" dirty="0">
                <a:solidFill>
                  <a:schemeClr val="accent3"/>
                </a:solidFill>
              </a:rPr>
              <a:t>Rungs 1 and 2 are the literature. </a:t>
            </a:r>
            <a:pPr indent="0" marL="0">
              <a:buNone/>
            </a:pPr>
            <a:r>
              <a:rPr lang="en-US" sz="1200" b="1" dirty="0">
                <a:solidFill>
                  <a:schemeClr val="accent1"/>
                </a:solidFill>
              </a:rPr>
              <a:t>Rung 3 is this dissertation: </a:t>
            </a:r>
            <a:pPr indent="0" marL="0">
              <a:buNone/>
            </a:pPr>
            <a:r>
              <a:rPr lang="en-US" sz="1200" dirty="0">
                <a:solidFill>
                  <a:schemeClr val="tx1"/>
                </a:solidFill>
              </a:rPr>
              <a:t>the only one that orders depositors by a trait, and reverses when the public line is too optimistic or too pessimistic.</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Chapter 1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 (Chapter 2 docking)</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Chapter 1’s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bank run model for the twentieth century</dc:title>
  <dc:subject>PptxGenJS Presentation</dc:subject>
  <dc:creator>Walter Stover</dc:creator>
  <cp:lastModifiedBy>Walter Stover</cp:lastModifiedBy>
  <cp:revision>1</cp:revision>
  <dcterms:created xsi:type="dcterms:W3CDTF">2026-10-26T03:35:23Z</dcterms:created>
  <dcterms:modified xsi:type="dcterms:W3CDTF">2026-10-26T03:35:23Z</dcterms:modified>
</cp:coreProperties>
</file>