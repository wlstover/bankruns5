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4391919-9fcc-e48e-4148-b200cdee47b1}">
          <p14:sldIdLst>
            <p14:sldId id="256"/>
            <p14:sldId id="257"/>
            <p14:sldId id="258"/>
            <p14:sldId id="259"/>
            <p14:sldId id="260"/>
            <p14:sldId id="261"/>
          </p14:sldIdLst>
        </p14:section>
        <p14:section name="The model" id="{a2d97d17-a860-ed0c-b5db-4c8c7c436921}">
          <p14:sldIdLst>
            <p14:sldId id="262"/>
            <p14:sldId id="263"/>
          </p14:sldIdLst>
        </p14:section>
        <p14:section name="Results" id="{57d6db16-59c6-fe38-bf59-3ea97d0f0ac8}">
          <p14:sldIdLst>
            <p14:sldId id="264"/>
            <p14:sldId id="265"/>
            <p14:sldId id="266"/>
            <p14:sldId id="267"/>
          </p14:sldIdLst>
        </p14:section>
        <p14:section name="Validation" id="{bbeb5f1c-807a-14b3-a341-0d597cde811e}">
          <p14:sldIdLst>
            <p14:sldId id="268"/>
          </p14:sldIdLst>
        </p14:section>
        <p14:section name="Close" id="{9c6f72a4-c463-7586-fe7c-888f471380be}">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one weight on two signals</a:t>
            </a:r>
            <a:endParaRPr lang="en-US" sz="2400" dirty="0"/>
          </a:p>
        </p:txBody>
      </p:sp>
      <p:sp>
        <p:nvSpPr>
          <p:cNvPr id="3" name="eq-card"/>
          <p:cNvSpPr/>
          <p:nvPr/>
        </p:nvSpPr>
        <p:spPr>
          <a:xfrm>
            <a:off x="457200" y="1051560"/>
            <a:ext cx="8229600" cy="1143000"/>
          </a:xfrm>
          <a:prstGeom prst="roundRect">
            <a:avLst>
              <a:gd name="adj" fmla="val 6400"/>
            </a:avLst>
          </a:prstGeom>
          <a:solidFill>
            <a:schemeClr val="accent4"/>
          </a:solidFill>
          <a:ln w="12700">
            <a:solidFill>
              <a:schemeClr val="accent4"/>
            </a:solidFill>
            <a:prstDash val="solid"/>
          </a:ln>
        </p:spPr>
      </p:sp>
      <p:sp>
        <p:nvSpPr>
          <p:cNvPr id="4" name="eq"/>
          <p:cNvSpPr txBox="1"/>
          <p:nvPr/>
        </p:nvSpPr>
        <p:spPr>
          <a:xfrm>
            <a:off x="640080" y="109728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5" name="eq-sub"/>
          <p:cNvSpPr txBox="1"/>
          <p:nvPr/>
        </p:nvSpPr>
        <p:spPr>
          <a:xfrm>
            <a:off x="640080" y="1783080"/>
            <a:ext cx="7863840" cy="320040"/>
          </a:xfrm>
          <a:prstGeom prst="rect">
            <a:avLst/>
          </a:prstGeom>
          <a:noFill/>
          <a:ln/>
        </p:spPr>
        <p:txBody>
          <a:bodyPr wrap="square" lIns="0" tIns="0" rIns="0" bIns="0" rtlCol="0" anchor="ctr"/>
          <a:lstStyle/>
          <a:p>
            <a:pPr algn="ctr" indent="0" marL="0">
              <a:buNone/>
            </a:pPr>
            <a:r>
              <a:rPr lang="en-US" sz="1200" i="1" dirty="0">
                <a:solidFill>
                  <a:schemeClr val="accent3"/>
                </a:solidFill>
              </a:rPr>
              <a:t>the depositor’s estimate of the bank, compared with a threshold: run if it falls below</a:t>
            </a:r>
            <a:endParaRPr lang="en-US" sz="1200" dirty="0"/>
          </a:p>
        </p:txBody>
      </p:sp>
      <p:sp>
        <p:nvSpPr>
          <p:cNvPr id="6" name="term-0"/>
          <p:cNvSpPr/>
          <p:nvPr/>
        </p:nvSpPr>
        <p:spPr>
          <a:xfrm>
            <a:off x="457200" y="2331720"/>
            <a:ext cx="2651760" cy="1188720"/>
          </a:xfrm>
          <a:prstGeom prst="roundRect">
            <a:avLst>
              <a:gd name="adj" fmla="val 6154"/>
            </a:avLst>
          </a:prstGeom>
          <a:solidFill>
            <a:schemeClr val="bg2"/>
          </a:solidFill>
          <a:ln w="12700">
            <a:solidFill>
              <a:schemeClr val="bg2"/>
            </a:solidFill>
            <a:prstDash val="solid"/>
          </a:ln>
        </p:spPr>
      </p:sp>
      <p:sp>
        <p:nvSpPr>
          <p:cNvPr id="7" name="term-head"/>
          <p:cNvSpPr txBox="1"/>
          <p:nvPr/>
        </p:nvSpPr>
        <p:spPr>
          <a:xfrm>
            <a:off x="594360" y="2377440"/>
            <a:ext cx="2423160" cy="457200"/>
          </a:xfrm>
          <a:prstGeom prst="rect">
            <a:avLst/>
          </a:prstGeom>
          <a:noFill/>
          <a:ln/>
        </p:spPr>
        <p:txBody>
          <a:bodyPr wrap="square" lIns="0" tIns="0" rIns="0" bIns="0" rtlCol="0" anchor="ctr"/>
          <a:lstStyle/>
          <a:p>
            <a:pPr indent="0" marL="0">
              <a:buNone/>
            </a:pPr>
            <a:r>
              <a:rPr lang="en-US" sz="2200" i="1" dirty="0">
                <a:solidFill>
                  <a:schemeClr val="tx2"/>
                </a:solidFill>
                <a:latin typeface="Cambria" pitchFamily="34" charset="0"/>
                <a:ea typeface="Cambria" pitchFamily="34" charset="-122"/>
                <a:cs typeface="Cambria" pitchFamily="34" charset="-120"/>
              </a:rPr>
              <a:t>x</a:t>
            </a:r>
            <a:pPr indent="0" marL="0">
              <a:buNone/>
            </a:pPr>
            <a:r>
              <a:rPr lang="en-US" sz="2200" i="1" baseline="-40000" dirty="0">
                <a:solidFill>
                  <a:schemeClr val="tx2"/>
                </a:solidFill>
                <a:latin typeface="Cambria" pitchFamily="34" charset="0"/>
                <a:ea typeface="Cambria" pitchFamily="34" charset="-122"/>
                <a:cs typeface="Cambria" pitchFamily="34" charset="-120"/>
              </a:rPr>
              <a:t>i</a:t>
            </a:r>
            <a:pPr indent="0" marL="0">
              <a:buNone/>
            </a:pPr>
            <a:r>
              <a:rPr lang="en-US" sz="1250" b="1" dirty="0">
                <a:solidFill>
                  <a:schemeClr val="tx1"/>
                </a:solidFill>
              </a:rPr>
              <a:t>   what the depositor sees</a:t>
            </a:r>
            <a:endParaRPr lang="en-US" sz="2200" dirty="0"/>
          </a:p>
        </p:txBody>
      </p:sp>
      <p:sp>
        <p:nvSpPr>
          <p:cNvPr id="8" name="term-body"/>
          <p:cNvSpPr txBox="1"/>
          <p:nvPr/>
        </p:nvSpPr>
        <p:spPr>
          <a:xfrm>
            <a:off x="59436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private signal of the fundamental, one noisy draw each</a:t>
            </a:r>
            <a:endParaRPr lang="en-US" sz="1150" dirty="0"/>
          </a:p>
        </p:txBody>
      </p:sp>
      <p:sp>
        <p:nvSpPr>
          <p:cNvPr id="9" name="term-1"/>
          <p:cNvSpPr/>
          <p:nvPr/>
        </p:nvSpPr>
        <p:spPr>
          <a:xfrm>
            <a:off x="3246120" y="2331720"/>
            <a:ext cx="2651760" cy="1188720"/>
          </a:xfrm>
          <a:prstGeom prst="roundRect">
            <a:avLst>
              <a:gd name="adj" fmla="val 6154"/>
            </a:avLst>
          </a:prstGeom>
          <a:solidFill>
            <a:schemeClr val="bg2"/>
          </a:solidFill>
          <a:ln w="12700">
            <a:solidFill>
              <a:schemeClr val="bg2"/>
            </a:solidFill>
            <a:prstDash val="solid"/>
          </a:ln>
        </p:spPr>
      </p:sp>
      <p:sp>
        <p:nvSpPr>
          <p:cNvPr id="10" name="term-head"/>
          <p:cNvSpPr txBox="1"/>
          <p:nvPr/>
        </p:nvSpPr>
        <p:spPr>
          <a:xfrm>
            <a:off x="3383280" y="2377440"/>
            <a:ext cx="2423160" cy="457200"/>
          </a:xfrm>
          <a:prstGeom prst="rect">
            <a:avLst/>
          </a:prstGeom>
          <a:noFill/>
          <a:ln/>
        </p:spPr>
        <p:txBody>
          <a:bodyPr wrap="square" lIns="0" tIns="0" rIns="0" bIns="0" rtlCol="0" anchor="ctr"/>
          <a:lstStyle/>
          <a:p>
            <a:pPr indent="0" marL="0">
              <a:buNone/>
            </a:pPr>
            <a:r>
              <a:rPr lang="en-US" sz="2200" i="1" dirty="0">
                <a:solidFill>
                  <a:schemeClr val="accent3"/>
                </a:solidFill>
                <a:latin typeface="Cambria" pitchFamily="34" charset="0"/>
                <a:ea typeface="Cambria" pitchFamily="34" charset="-122"/>
                <a:cs typeface="Cambria" pitchFamily="34" charset="-120"/>
              </a:rPr>
              <a:t>y</a:t>
            </a:r>
            <a:pPr indent="0" marL="0">
              <a:buNone/>
            </a:pPr>
            <a:pPr indent="0" marL="0">
              <a:buNone/>
            </a:pPr>
            <a:r>
              <a:rPr lang="en-US" sz="1250" b="1" dirty="0">
                <a:solidFill>
                  <a:schemeClr val="tx1"/>
                </a:solidFill>
              </a:rPr>
              <a:t>   what the depositor is told</a:t>
            </a:r>
            <a:endParaRPr lang="en-US" sz="2200" dirty="0"/>
          </a:p>
        </p:txBody>
      </p:sp>
      <p:sp>
        <p:nvSpPr>
          <p:cNvPr id="11" name="term-body"/>
          <p:cNvSpPr txBox="1"/>
          <p:nvPr/>
        </p:nvSpPr>
        <p:spPr>
          <a:xfrm>
            <a:off x="338328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public signal, common to all, which can be stale</a:t>
            </a:r>
            <a:endParaRPr lang="en-US" sz="1150" dirty="0"/>
          </a:p>
        </p:txBody>
      </p:sp>
      <p:sp>
        <p:nvSpPr>
          <p:cNvPr id="12" name="term-2"/>
          <p:cNvSpPr/>
          <p:nvPr/>
        </p:nvSpPr>
        <p:spPr>
          <a:xfrm>
            <a:off x="6035040" y="2331720"/>
            <a:ext cx="2651760" cy="1188720"/>
          </a:xfrm>
          <a:prstGeom prst="roundRect">
            <a:avLst>
              <a:gd name="adj" fmla="val 6154"/>
            </a:avLst>
          </a:prstGeom>
          <a:solidFill>
            <a:schemeClr val="bg2"/>
          </a:solidFill>
          <a:ln w="12700">
            <a:solidFill>
              <a:schemeClr val="bg2"/>
            </a:solidFill>
            <a:prstDash val="solid"/>
          </a:ln>
        </p:spPr>
      </p:sp>
      <p:sp>
        <p:nvSpPr>
          <p:cNvPr id="13" name="term-head"/>
          <p:cNvSpPr txBox="1"/>
          <p:nvPr/>
        </p:nvSpPr>
        <p:spPr>
          <a:xfrm>
            <a:off x="6172200" y="2377440"/>
            <a:ext cx="2423160" cy="457200"/>
          </a:xfrm>
          <a:prstGeom prst="rect">
            <a:avLst/>
          </a:prstGeom>
          <a:noFill/>
          <a:ln/>
        </p:spPr>
        <p:txBody>
          <a:bodyPr wrap="square" lIns="0" tIns="0" rIns="0" bIns="0" rtlCol="0" anchor="ctr"/>
          <a:lstStyle/>
          <a:p>
            <a:pPr indent="0" marL="0">
              <a:buNone/>
            </a:pPr>
            <a:r>
              <a:rPr lang="en-US" sz="2200" i="1" dirty="0">
                <a:solidFill>
                  <a:schemeClr val="accent1"/>
                </a:solidFill>
                <a:latin typeface="Cambria" pitchFamily="34" charset="0"/>
                <a:ea typeface="Cambria" pitchFamily="34" charset="-122"/>
                <a:cs typeface="Cambria" pitchFamily="34" charset="-120"/>
              </a:rPr>
              <a:t>λ</a:t>
            </a:r>
            <a:pPr indent="0" marL="0">
              <a:buNone/>
            </a:pPr>
            <a:r>
              <a:rPr lang="en-US" sz="2200" i="1" baseline="-40000" dirty="0">
                <a:solidFill>
                  <a:schemeClr val="accent1"/>
                </a:solidFill>
                <a:latin typeface="Cambria" pitchFamily="34" charset="0"/>
                <a:ea typeface="Cambria" pitchFamily="34" charset="-122"/>
                <a:cs typeface="Cambria" pitchFamily="34" charset="-120"/>
              </a:rPr>
              <a:t>i</a:t>
            </a:r>
            <a:pPr indent="0" marL="0">
              <a:buNone/>
            </a:pPr>
            <a:r>
              <a:rPr lang="en-US" sz="1250" b="1" dirty="0">
                <a:solidFill>
                  <a:schemeClr val="tx1"/>
                </a:solidFill>
              </a:rPr>
              <a:t>   weight on the public line</a:t>
            </a:r>
            <a:endParaRPr lang="en-US" sz="2200" dirty="0"/>
          </a:p>
        </p:txBody>
      </p:sp>
      <p:sp>
        <p:nvSpPr>
          <p:cNvPr id="14" name="term-body"/>
          <p:cNvSpPr txBox="1"/>
          <p:nvPr/>
        </p:nvSpPr>
        <p:spPr>
          <a:xfrm>
            <a:off x="617220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disposition set before the run; culture is its source</a:t>
            </a:r>
            <a:endParaRPr lang="en-US" sz="1150" dirty="0"/>
          </a:p>
        </p:txBody>
      </p:sp>
      <p:sp>
        <p:nvSpPr>
          <p:cNvPr id="15" name="wedge"/>
          <p:cNvSpPr txBox="1"/>
          <p:nvPr/>
        </p:nvSpPr>
        <p:spPr>
          <a:xfrm>
            <a:off x="457200" y="3657600"/>
            <a:ext cx="8229600" cy="777240"/>
          </a:xfrm>
          <a:prstGeom prst="rect">
            <a:avLst/>
          </a:prstGeom>
          <a:noFill/>
          <a:ln/>
        </p:spPr>
        <p:txBody>
          <a:bodyPr wrap="square" lIns="0" tIns="0" rIns="0" bIns="0" rtlCol="0" anchor="t"/>
          <a:lstStyle/>
          <a:p>
            <a:pPr indent="0" marL="0">
              <a:buNone/>
            </a:pPr>
            <a:r>
              <a:rPr lang="en-US" sz="1300" b="1" dirty="0">
                <a:solidFill>
                  <a:srgbClr val="EB6834"/>
                </a:solidFill>
              </a:rPr>
              <a:t>Individualists </a:t>
            </a:r>
            <a:pPr indent="0" marL="0">
              <a:buNone/>
            </a:pPr>
            <a:r>
              <a:rPr lang="en-US" sz="1300" dirty="0">
                <a:solidFill>
                  <a:schemeClr val="tx1"/>
                </a:solidFill>
              </a:rPr>
              <a:t>λ</a:t>
            </a:r>
            <a:pPr indent="0" marL="0">
              <a:buNone/>
            </a:pPr>
            <a:r>
              <a:rPr lang="en-US" sz="1300" baseline="-40000" dirty="0">
                <a:solidFill>
                  <a:schemeClr val="tx1"/>
                </a:solidFill>
              </a:rPr>
              <a:t>I</a:t>
            </a:r>
            <a:pPr indent="0" marL="0">
              <a:buNone/>
            </a:pPr>
            <a:r>
              <a:rPr lang="en-US" sz="1300" dirty="0">
                <a:solidFill>
                  <a:schemeClr val="tx1"/>
                </a:solidFill>
              </a:rPr>
              <a:t>  &lt;  λ</a:t>
            </a:r>
            <a:pPr indent="0" marL="0">
              <a:buNone/>
            </a:pPr>
            <a:r>
              <a:rPr lang="en-US" sz="1300" baseline="-40000" dirty="0">
                <a:solidFill>
                  <a:schemeClr val="tx1"/>
                </a:solidFill>
              </a:rPr>
              <a:t>C</a:t>
            </a:r>
            <a:pPr indent="0" marL="0">
              <a:buNone/>
            </a:pPr>
            <a:r>
              <a:rPr lang="en-US" sz="1300" b="1" dirty="0">
                <a:solidFill>
                  <a:srgbClr val="2A78D6"/>
                </a:solidFill>
              </a:rPr>
              <a:t> collectivists</a:t>
            </a:r>
            <a:pPr indent="0" marL="0">
              <a:buNone/>
            </a:pPr>
            <a:r>
              <a:rPr lang="en-US" sz="1300" dirty="0">
                <a:solidFill>
                  <a:schemeClr val="tx1"/>
                </a:solidFill>
              </a:rPr>
              <a:t>.  Same two signals, different estimates: </a:t>
            </a:r>
            <a:pPr indent="0" marL="0">
              <a:buNone/>
            </a:pPr>
            <a:r>
              <a:rPr lang="en-US" sz="1300" i="1" dirty="0">
                <a:solidFill>
                  <a:schemeClr val="tx1"/>
                </a:solidFill>
              </a:rPr>
              <a:t>ŝ</a:t>
            </a:r>
            <a:pPr indent="0" marL="0">
              <a:buNone/>
            </a:pPr>
            <a:r>
              <a:rPr lang="en-US" sz="1300" baseline="-40000" dirty="0">
                <a:solidFill>
                  <a:schemeClr val="tx1"/>
                </a:solidFill>
              </a:rPr>
              <a:t>I</a:t>
            </a:r>
            <a:pPr indent="0" marL="0">
              <a:buNone/>
            </a:pPr>
            <a:r>
              <a:rPr lang="en-US" sz="1300" dirty="0">
                <a:solidFill>
                  <a:schemeClr val="tx1"/>
                </a:solidFill>
              </a:rPr>
              <a:t> − </a:t>
            </a:r>
            <a:pPr indent="0" marL="0">
              <a:buNone/>
            </a:pPr>
            <a:r>
              <a:rPr lang="en-US" sz="1300" i="1" dirty="0">
                <a:solidFill>
                  <a:schemeClr val="tx1"/>
                </a:solidFill>
              </a:rPr>
              <a:t>ŝ</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I</a:t>
            </a:r>
            <a:pPr indent="0" marL="0">
              <a:buNone/>
            </a:pPr>
            <a:r>
              <a:rPr lang="en-US" sz="1300" dirty="0">
                <a:solidFill>
                  <a:schemeClr val="tx1"/>
                </a:solidFill>
              </a:rPr>
              <a:t>)(</a:t>
            </a:r>
            <a:pPr indent="0" marL="0">
              <a:buNone/>
            </a:pPr>
            <a:r>
              <a:rPr lang="en-US" sz="1300" i="1" dirty="0">
                <a:solidFill>
                  <a:schemeClr val="tx1"/>
                </a:solidFill>
              </a:rPr>
              <a:t>x</a:t>
            </a:r>
            <a:pPr indent="0" marL="0">
              <a:buNone/>
            </a:pPr>
            <a:r>
              <a:rPr lang="en-US" sz="1300" dirty="0">
                <a:solidFill>
                  <a:schemeClr val="tx1"/>
                </a:solidFill>
              </a:rPr>
              <a:t> − </a:t>
            </a:r>
            <a:pPr indent="0" marL="0">
              <a:buNone/>
            </a:pPr>
            <a:r>
              <a:rPr lang="en-US" sz="1300" i="1" dirty="0">
                <a:solidFill>
                  <a:schemeClr val="tx1"/>
                </a:solidFill>
              </a:rPr>
              <a:t>y</a:t>
            </a:r>
            <a:pPr indent="0" marL="0">
              <a:buNone/>
            </a:pPr>
            <a:r>
              <a:rPr lang="en-US" sz="1300" dirty="0">
                <a:solidFill>
                  <a:schemeClr val="tx1"/>
                </a:solidFill>
              </a:rPr>
              <a:t>). </a:t>
            </a:r>
            <a:pPr indent="0" marL="0">
              <a:buNone/>
            </a:pPr>
            <a:r>
              <a:rPr lang="en-US" sz="1300" b="1" dirty="0">
                <a:solidFill>
                  <a:schemeClr val="tx2"/>
                </a:solidFill>
              </a:rPr>
              <a:t>Who runs is sorted by the weight, and the order flips with the sign of the public error.</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214275"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the theory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2026-10-26T12:13:11Z</dcterms:created>
  <dcterms:modified xsi:type="dcterms:W3CDTF">2026-10-26T12:13:11Z</dcterms:modified>
</cp:coreProperties>
</file>