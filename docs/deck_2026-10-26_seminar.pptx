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alk" id="{d061bb27-4095-886e-165e-b563fb8b262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Backup" id="{5ad53b63-3548-5fb3-d4e7-ef6c82fad52c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title is the chapter title; change for the seminar if you like. ~0.5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~1.5 min. Theory (Diamond–Dybvig) says runs can happen; it is silent on who runs first and how a run spreads. Optional visual: a historical photo of a bank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 min. N = 1,000 depositors on a small-world network; one bank that sells assets at a discount when cash runs short (fire-sale bank). Each tick a depositor sees neighbours' withdrawals and the public news, blends them with a private signal, and withdraws if that pays. Reference bank: deposits log-normal (sigma 2.5), each capped at 1% of the total; CARA 0.1; partial withdrawals allowed. The diagram is the technical ODD overview: walk the right-hand column (warm-up, world, shock, tick loop) and skip the formulas.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Individualists put little weight on others (neighbours and public news) and more on their own information; collectivists the reverse. In the model: weight on the social side lambda; pairs shown in the figures (I, C): (0.1, 0.9) = large difference, (0.2, 0.8) = medium, (0.3, 0.5) = small. Type comes from a cultural warm-up on the network: the top mu share become individualists. Colours used throughout: orange = individualists, blue = collectivists.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 min. Collectivists jump from 0.15 to 0.93 once 20–35% of neighbours are out and reach 1.0; individualists plateau at ~0.25–0.30. Slopes: C 0.80, I 0.22 (difference +0.58, t 16.7). Lambda pairs pooled; reference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 min. Large difference (0.1, 0.9): 0.67 at mu 0 -&gt; 0.08 at mu 1; medium (0.2, 0.8) similar; small (0.3, 0.5): 0.25 -&gt; 0.09. Monotone, no interior peak. The difference between types matters most when collectivists dominate; lines converge at mu &gt;= 0.75. Includes pure cells (mu 0 and 1). If asked about Ch 1's non-monotonic prediction (P6): see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~2.5 min. Large difference (0.1, 0.9): outdated pessimistic 0.48, none 0.31, accurate 0.29, outdated middling (y0 0.5) 0.18, outdated optimistic 0.16. Accurate news barely changes failure; stale optimistic halves it; stale pessimistic raises it by half. Small difference (0.3, 0.5) barely moves (0.09–0.15). All mu. Policy framing: the information environment (right to reassure), not sorting depositors by type.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 min. Lambda pairs pooled. Uncapped (sigma 2.5) 0.61 -&gt; 0.11; capped at 1% 0.51 -&gt; 0.08; similar sizes (sigma 1) 0.50 -&gt; 0.08. Capping brings failure down to the no-concentration level at every mu. The mu gradient is the same in all three: culture's effect does not depend on concentration. One spoken sentence on what 'capped at 1%' means (no single depositor holds more than 1% of the bank).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~1.5 min. Ch 1's theory predicts: optimistic news -&gt; individualists run more than collectivists; pessimistic -&gt; collectivists run more. The lines rise through zero as predicted. Large difference reaches about ±0.1; small stays flat. Pre-registered tests: 3 of 4 support, on all three versions of the bank (r1k pooled: G1' +0.033, G4' -0.031, G2a' +0.093, Holm-significant; G3 counts against). Option: make this one sentence and move the figure to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 min. Next steps from the outline: super-individuals (match how Celsius's largest depositors exit), deposit insurance and the reserve ratio on the fire-sale bank, topology and learning, and the full parameter sweep (stale public signal + no-signal baseline; CARA 0.1; sigma reported).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types withdraw less as mu rises; collectivists above individualists at every mixed mu for the two wide gaps; nearly identical at (0.3, 0.5). Technical labels.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r1k pooled: G1' +0.033, G4' -0.031, G2a' +0.093, all Holm-significant; G2b ordering holds. G3 +0.0034 pooled but (0.3, 0.5) wrong-signed in every bank -&gt; counts against. G3c (post hoc, channel-isolated) +0.019, right-signed in every pair. 3 of 4 confirmatory tests support, in all three banks.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Theta-blend only: +0.14 (Ch 1's sign). Head-count only: -0.07 (opposite). Both: +0.02. The two channels pull in opposite directions; Ch 1's sign survives, damped by herding.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Celsius falls from ~0.86 (D1–D5 band 0.82–0.90) to 0.35 (top 0.1%); the ABM stays at 0.93–1.00. The model does not yet reproduce how large depositors exit. Next: super-individuals.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Vault bank, earlier specification (chapter Fig 1). For questions about Ch 1's P6. NOTE: this figure is also monotone decreasing; check the outline's claim that the earlier non-monotonic result was on the vault bank before using it for P6.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F1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642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Slide title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1064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Name, affiliation, date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1F1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0"/>
            <a:ext cx="11064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Slide title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63040"/>
            <a:ext cx="1106424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Your text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148840"/>
            <a:ext cx="5303520" cy="4023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Your text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309360" y="2148840"/>
            <a:ext cx="5303520" cy="4023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Your text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gure + takeawa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595360" y="1554480"/>
            <a:ext cx="3017520" cy="45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Your takeaway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gur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 Bank Run Model for the Twentieth Century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Walter Stover · George Mason University · 26 October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puzzle: who runs, and how a run spreads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463040"/>
            <a:ext cx="11064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model in one picture</a:t>
            </a:r>
            <a:endParaRPr lang="en-US" sz="3200" dirty="0"/>
          </a:p>
        </p:txBody>
      </p:sp>
      <p:pic>
        <p:nvPicPr>
          <p:cNvPr id="3" name="Model overview" descr="Model overview: depositors on a social network with a bank; each run draws fundamentals and signals, a shock hits, then depositors observe neighbours and news, form beliefs, and decide whether to withdraw, tick by tick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6479" y="1417320"/>
            <a:ext cx="4816723" cy="4892040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1" type="body" hasCustomPrompt="1"/>
          </p:nvPr>
        </p:nvSpPr>
        <p:spPr>
          <a:xfrm>
            <a:off x="8595360" y="1554480"/>
            <a:ext cx="30175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Individualists and collectivists: who listens to whom</a:t>
            </a:r>
            <a:endParaRPr lang="en-US" sz="3200" dirty="0"/>
          </a:p>
        </p:txBody>
      </p:sp>
      <p:sp>
        <p:nvSpPr>
          <p:cNvPr id="3" name="Individualists header"/>
          <p:cNvSpPr txBox="1"/>
          <p:nvPr/>
        </p:nvSpPr>
        <p:spPr>
          <a:xfrm>
            <a:off x="548640" y="15087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Individualists</a:t>
            </a:r>
            <a:endParaRPr lang="en-US" sz="2200" dirty="0"/>
          </a:p>
        </p:txBody>
      </p:sp>
      <p:sp>
        <p:nvSpPr>
          <p:cNvPr id="4" name="Collectivists header"/>
          <p:cNvSpPr txBox="1"/>
          <p:nvPr/>
        </p:nvSpPr>
        <p:spPr>
          <a:xfrm>
            <a:off x="6309360" y="15087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Collectivists</a:t>
            </a:r>
            <a:endParaRPr lang="en-US" sz="2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2148840"/>
            <a:ext cx="53035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309360" y="2148840"/>
            <a:ext cx="53035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Collectivists herd</a:t>
            </a:r>
            <a:endParaRPr lang="en-US" sz="3200" dirty="0"/>
          </a:p>
        </p:txBody>
      </p:sp>
      <p:pic>
        <p:nvPicPr>
          <p:cNvPr id="3" name="Chance of withdrawing by share of neighbours who have withdrawn" descr="Chance of withdrawing by share of neighbours who have withdrawn: collectivists jump to near 1 once 20 to 35 percent of neighbours are out; individualists level off near 0.25 to 0.3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248" y="1417320"/>
            <a:ext cx="7677184" cy="4892040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1" type="body" hasCustomPrompt="1"/>
          </p:nvPr>
        </p:nvSpPr>
        <p:spPr>
          <a:xfrm>
            <a:off x="8595360" y="1554480"/>
            <a:ext cx="30175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More individualists, fewer failures</a:t>
            </a:r>
            <a:endParaRPr lang="en-US" sz="3200" dirty="0"/>
          </a:p>
        </p:txBody>
      </p:sp>
      <p:pic>
        <p:nvPicPr>
          <p:cNvPr id="3" name="Chance the bank fails by share of individualists" descr="Chance the bank fails by share of individualists: falls from about 0.67 with no individualists to about 0.08 with all individualists for the large difference; the small difference line is flatte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085" y="1417320"/>
            <a:ext cx="7341510" cy="4892040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1" type="body" hasCustomPrompt="1"/>
          </p:nvPr>
        </p:nvSpPr>
        <p:spPr>
          <a:xfrm>
            <a:off x="8595360" y="1554480"/>
            <a:ext cx="30175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Outdated news cuts both ways</a:t>
            </a:r>
            <a:endParaRPr lang="en-US" sz="3200" dirty="0"/>
          </a:p>
        </p:txBody>
      </p:sp>
      <p:pic>
        <p:nvPicPr>
          <p:cNvPr id="3" name="Chance the bank fails by kind of public news" descr="Chance the bank fails by kind of public news: outdated pessimistic news raises it to about 0.48, accurate news barely changes it from no news (0.29 vs 0.31), outdated optimistic news lowers it to about 0.16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5896"/>
            <a:ext cx="7772400" cy="3694888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1" type="body" hasCustomPrompt="1"/>
          </p:nvPr>
        </p:nvSpPr>
        <p:spPr>
          <a:xfrm>
            <a:off x="8595360" y="1554480"/>
            <a:ext cx="30175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Capping the largest deposits</a:t>
            </a:r>
            <a:endParaRPr lang="en-US" sz="3200" dirty="0"/>
          </a:p>
        </p:txBody>
      </p:sp>
      <p:pic>
        <p:nvPicPr>
          <p:cNvPr id="3" name="Chance the bank fails by share of individualists for three deposit-size distributions" descr="Chance the bank fails by share of individualists for three deposit-size distributions: uncapped large deposits fail most often; capped at 1 percent matches deposits similar in size; all fall with more individualis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085" y="1417320"/>
            <a:ext cx="7341510" cy="4892040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1" type="body" hasCustomPrompt="1"/>
          </p:nvPr>
        </p:nvSpPr>
        <p:spPr>
          <a:xfrm>
            <a:off x="8595360" y="1554480"/>
            <a:ext cx="30175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Does the model hold up?</a:t>
            </a:r>
            <a:endParaRPr lang="en-US" sz="3200" dirty="0"/>
          </a:p>
        </p:txBody>
      </p:sp>
      <p:pic>
        <p:nvPicPr>
          <p:cNvPr id="3" name="Individualists' run rate minus collectivists', relative to no news, against how far public news is from the truth" descr="Individualists' run rate minus collectivists', relative to no news, against how far public news is from the truth: rises from negative when news is too pessimistic to positive when too optimistic, more steeply for larger differences between typ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0917" y="1417320"/>
            <a:ext cx="7647846" cy="4892040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1" type="body" hasCustomPrompt="1"/>
          </p:nvPr>
        </p:nvSpPr>
        <p:spPr>
          <a:xfrm>
            <a:off x="8595360" y="1554480"/>
            <a:ext cx="30175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Takeaways and next steps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463040"/>
            <a:ext cx="11064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Backup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Who withdraws, by type and mix</a:t>
            </a:r>
            <a:endParaRPr lang="en-US" sz="3200" dirty="0"/>
          </a:p>
        </p:txBody>
      </p:sp>
      <p:pic>
        <p:nvPicPr>
          <p:cNvPr id="3" name="Share who withdraw by individualist share, three panels by lambda pair" descr="Share who withdraw by individualist share, three panels by lambda pair: collectivists above individualists at every mixed share for the two wide gap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8290"/>
            <a:ext cx="11064240" cy="46101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pre-registered tests, three versions of the bank</a:t>
            </a:r>
            <a:endParaRPr lang="en-US" sz="3200" dirty="0"/>
          </a:p>
        </p:txBody>
      </p:sp>
      <p:pic>
        <p:nvPicPr>
          <p:cNvPr id="3" name="Forest plot of five tests (G1', G4', G2a', G3, G3c) across three bank versions with pooled estimates and per-pair markers." descr="Forest plot of five tests (G1', G4', G2a', G3, G3c) across three bank versions with pooled estimates and per-pair marke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379" y="1417320"/>
            <a:ext cx="10670762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Which channel carries culture</a:t>
            </a:r>
            <a:endParaRPr lang="en-US" sz="3200" dirty="0"/>
          </a:p>
        </p:txBody>
      </p:sp>
      <p:pic>
        <p:nvPicPr>
          <p:cNvPr id="3" name="Who runs in failed runs with optimistic news when lambda applies only to the neighbour blend, only to the news blend, or both" descr="Who runs in failed runs with optimistic news when lambda applies only to the neighbour blend, only to the news blend, or both: positive, negative, small positiv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7905" y="1417320"/>
            <a:ext cx="874571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Matching Celsius: how large depositors exit</a:t>
            </a:r>
            <a:endParaRPr lang="en-US" sz="3200" dirty="0"/>
          </a:p>
        </p:txBody>
      </p:sp>
      <p:pic>
        <p:nvPicPr>
          <p:cNvPr id="3" name="Share of exits that withdraw everything at once by depositor size" descr="Share of exits that withdraw everything at once by depositor size: Celsius falls from about 0.86 to 0.35 for the largest; the model stays at 0.93 to 1.0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1660" y="1417320"/>
            <a:ext cx="7778199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Earlier specification (vault bank): failure by mix</a:t>
            </a:r>
            <a:endParaRPr lang="en-US" sz="3200" dirty="0"/>
          </a:p>
        </p:txBody>
      </p:sp>
      <p:pic>
        <p:nvPicPr>
          <p:cNvPr id="3" name="Earlier vault-bank specification" descr="Earlier vault-bank specification: probability of a run falls with the share of individualists for all three signal-weighting gap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59768" y="1417320"/>
            <a:ext cx="7441984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3 Seminar">
  <a:themeElements>
    <a:clrScheme name="Ch3 Seminar">
      <a:dk1>
        <a:srgbClr val="1F1F1D"/>
      </a:dk1>
      <a:lt1>
        <a:srgbClr val="FFFFFF"/>
      </a:lt1>
      <a:dk2>
        <a:srgbClr val="52514E"/>
      </a:dk2>
      <a:lt2>
        <a:srgbClr val="F0EFEC"/>
      </a:lt2>
      <a:accent1>
        <a:srgbClr val="EB6834"/>
      </a:accent1>
      <a:accent2>
        <a:srgbClr val="2A78D6"/>
      </a:accent2>
      <a:accent3>
        <a:srgbClr val="6B6A66"/>
      </a:accent3>
      <a:accent4>
        <a:srgbClr val="A9A8A3"/>
      </a:accent4>
      <a:accent5>
        <a:srgbClr val="8A8985"/>
      </a:accent5>
      <a:accent6>
        <a:srgbClr val="1F1F1D"/>
      </a:accent6>
      <a:hlink>
        <a:srgbClr val="2A78D6"/>
      </a:hlink>
      <a:folHlink>
        <a:srgbClr val="6B6A66"/>
      </a:folHlink>
    </a:clrScheme>
    <a:fontScheme name="Ch3 Seminar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 3 seminar, 2026-10-26</dc:title>
  <dc:subject>PptxGenJS Presentation</dc:subject>
  <dc:creator>Walter Stover</dc:creator>
  <cp:lastModifiedBy>Walter Stover</cp:lastModifiedBy>
  <cp:revision>1</cp:revision>
  <dcterms:created xsi:type="dcterms:W3CDTF">2026-10-25T15:52:08Z</dcterms:created>
  <dcterms:modified xsi:type="dcterms:W3CDTF">2026-10-25T15:52:08Z</dcterms:modified>
</cp:coreProperties>
</file>