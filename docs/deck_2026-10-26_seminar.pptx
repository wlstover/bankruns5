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95e3b42-6817-3d83-12bd-e2c827b8ce7f}">
          <p14:sldIdLst>
            <p14:sldId id="256"/>
            <p14:sldId id="257"/>
            <p14:sldId id="258"/>
            <p14:sldId id="259"/>
            <p14:sldId id="260"/>
            <p14:sldId id="262"/>
          </p14:sldIdLst>
        </p14:section>
        <p14:section name="The model" id="{1445559a-9fef-cd07-96c5-9e716de719f2}">
          <p14:sldIdLst>
            <p14:sldId id="263"/>
            <p14:sldId id="264"/>
          </p14:sldIdLst>
        </p14:section>
        <p14:section name="Results" id="{5952e06b-c898-3c48-8730-6571701602d6}">
          <p14:sldIdLst>
            <p14:sldId id="265"/>
            <p14:sldId id="266"/>
            <p14:sldId id="267"/>
            <p14:sldId id="268"/>
            <p14:sldId id="269"/>
          </p14:sldIdLst>
        </p14:section>
        <p14:section name="Validation" id="{22546429-4435-0580-b38e-7a7d4cf27411}">
          <p14:sldIdLst>
            <p14:sldId id="270"/>
          </p14:sldIdLst>
        </p14:section>
        <p14:section name="Close" id="{7855dd14-854f-0d15-547b-8ea7af6c6d9f}">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card. ~0.2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card. ~0.1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ctr" indent="0" marL="0">
              <a:buNone/>
              <a:defRPr lang="en-US" sz="3400" b="1" dirty="0">
                <a:solidFill>
                  <a:schemeClr val="bg1"/>
                </a:solidFill>
              </a:defRPr>
            </a:lvl1pPr>
          </a:lstStyle>
          <a:p>
            <a:pPr algn="ctr"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algn="ctr" indent="0" marL="0">
              <a:buNone/>
              <a:defRPr lang="en-US" sz="1800" dirty="0">
                <a:solidFill>
                  <a:schemeClr val="accent4"/>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ctr" indent="0" marL="0">
              <a:buNone/>
              <a:defRPr lang="en-US" sz="2400" b="1" dirty="0">
                <a:solidFill>
                  <a:schemeClr val="tx2"/>
                </a:solidFill>
              </a:defRPr>
            </a:lvl1pPr>
          </a:lstStyle>
          <a:p>
            <a:pPr algn="ctr"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ctr" indent="0" marL="0">
              <a:buNone/>
              <a:defRPr lang="en-US" sz="3200" b="1" dirty="0">
                <a:solidFill>
                  <a:schemeClr val="bg1"/>
                </a:solidFill>
              </a:defRPr>
            </a:lvl1pPr>
          </a:lstStyle>
          <a:p>
            <a:pPr algn="ctr"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ctr"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algn="ctr" indent="0" marL="0">
              <a:buNone/>
            </a:pPr>
            <a:r>
              <a:rPr lang="en-US" sz="1800" dirty="0">
                <a:solidFill>
                  <a:schemeClr val="accent4"/>
                </a:solidFill>
              </a:rPr>
              <a:t>Markets and Society 2026</a:t>
            </a:r>
            <a:endParaRPr lang="en-US" sz="1800" dirty="0"/>
          </a:p>
          <a:p>
            <a:pPr algn="ctr" indent="0" marL="0">
              <a:buNone/>
            </a:pPr>
            <a:r>
              <a:rPr lang="en-US" sz="1800" dirty="0">
                <a:solidFill>
                  <a:schemeClr val="accent4"/>
                </a:solidFill>
              </a:rPr>
              <a:t>Walter Stover  ·  George Mason University  ·  26 October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Luck of the draw, and location</a:t>
            </a:r>
            <a:endParaRPr lang="en-US" sz="2400" dirty="0"/>
          </a:p>
        </p:txBody>
      </p:sp>
      <p:sp>
        <p:nvSpPr>
          <p:cNvPr id="3"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4"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5"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6"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Cultural economics: a source of stable weights</a:t>
            </a:r>
            <a:endParaRPr lang="en-US" sz="2400" dirty="0"/>
          </a:p>
        </p:txBody>
      </p:sp>
      <p:sp>
        <p:nvSpPr>
          <p:cNvPr id="3" name="step-items"/>
          <p:cNvSpPr txBox="1"/>
          <p:nvPr/>
        </p:nvSpPr>
        <p:spPr>
          <a:xfrm>
            <a:off x="457200" y="1188720"/>
            <a:ext cx="8229600" cy="30175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weights. </a:t>
            </a:r>
            <a:pPr indent="0" marL="0">
              <a:spcAft>
                <a:spcPts val="900"/>
              </a:spcAft>
              <a:buNone/>
            </a:pPr>
            <a:r>
              <a:rPr lang="en-US" sz="1400" dirty="0">
                <a:solidFill>
                  <a:schemeClr val="tx1"/>
                </a:solidFill>
              </a:rPr>
              <a:t>Cultural values pass largely unchanged from parents to children (Guiso, Sapienza, Zingales; Bazzi et al.).</a:t>
            </a:r>
            <a:endParaRPr lang="en-US" sz="1400" dirty="0"/>
          </a:p>
          <a:p>
            <a:pPr marL="177800" indent="-177800">
              <a:spcAft>
                <a:spcPts val="900"/>
              </a:spcAft>
              <a:buSzPct val="100000"/>
              <a:buChar char="•"/>
            </a:pPr>
            <a:r>
              <a:rPr lang="en-US" sz="1400" b="1" dirty="0">
                <a:solidFill>
                  <a:schemeClr val="tx1"/>
                </a:solidFill>
              </a:rPr>
              <a:t>Individualism </a:t>
            </a:r>
            <a:pPr indent="0" marL="0">
              <a:spcAft>
                <a:spcPts val="900"/>
              </a:spcAft>
              <a:buNone/>
            </a:pPr>
            <a:r>
              <a:rPr lang="en-US" sz="1400" dirty="0">
                <a:solidFill>
                  <a:schemeClr val="tx1"/>
                </a:solidFill>
              </a:rPr>
              <a:t>as 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we can observe the weight instead of assuming it.</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ctr"/>
          <a:lstStyle/>
          <a:p>
            <a:pPr algn="ctr" indent="0" marL="0">
              <a:buNone/>
            </a:pPr>
            <a:r>
              <a:rPr lang="en-US" sz="3200" b="1" dirty="0">
                <a:solidFill>
                  <a:schemeClr val="bg1"/>
                </a:solidFill>
              </a:rPr>
              <a:t>An agent-based bank run model</a:t>
            </a:r>
            <a:endParaRPr lang="en-US" sz="3200" dirty="0"/>
          </a:p>
        </p:txBody>
      </p:sp>
      <p:sp>
        <p:nvSpPr>
          <p:cNvPr id="4"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algn="ctr" indent="0" marL="0">
              <a:buNone/>
            </a:pP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one weight on two signals</a:t>
            </a:r>
            <a:endParaRPr lang="en-US" sz="2400" dirty="0"/>
          </a:p>
        </p:txBody>
      </p:sp>
      <p:sp>
        <p:nvSpPr>
          <p:cNvPr id="3" name="eq"/>
          <p:cNvSpPr txBox="1"/>
          <p:nvPr/>
        </p:nvSpPr>
        <p:spPr>
          <a:xfrm>
            <a:off x="640080" y="123444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4" name="types"/>
          <p:cNvSpPr txBox="1"/>
          <p:nvPr/>
        </p:nvSpPr>
        <p:spPr>
          <a:xfrm>
            <a:off x="457200" y="2240280"/>
            <a:ext cx="8229600" cy="685800"/>
          </a:xfrm>
          <a:prstGeom prst="rect">
            <a:avLst/>
          </a:prstGeom>
          <a:noFill/>
          <a:ln/>
        </p:spPr>
        <p:txBody>
          <a:bodyPr wrap="square" lIns="0" tIns="0" rIns="0" bIns="0" rtlCol="0" anchor="ctr"/>
          <a:lstStyle/>
          <a:p>
            <a:pPr algn="ctr" indent="0" marL="0">
              <a:buNone/>
            </a:pPr>
            <a:r>
              <a:rPr lang="en-US" sz="3000" b="1" dirty="0">
                <a:solidFill>
                  <a:srgbClr val="D62828"/>
                </a:solidFill>
                <a:latin typeface="Cambria" pitchFamily="34" charset="0"/>
                <a:ea typeface="Cambria" pitchFamily="34" charset="-122"/>
                <a:cs typeface="Cambria" pitchFamily="34" charset="-120"/>
              </a:rPr>
              <a:t>Individualists </a:t>
            </a:r>
            <a:pPr algn="ctr" indent="0" marL="0">
              <a:buNone/>
            </a:pPr>
            <a:r>
              <a:rPr lang="en-US" sz="3000" dirty="0">
                <a:solidFill>
                  <a:schemeClr val="tx2"/>
                </a:solidFill>
                <a:latin typeface="Cambria" pitchFamily="34" charset="0"/>
                <a:ea typeface="Cambria" pitchFamily="34" charset="-122"/>
                <a:cs typeface="Cambria" pitchFamily="34" charset="-120"/>
              </a:rPr>
              <a:t>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&lt;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b="1" dirty="0">
                <a:solidFill>
                  <a:srgbClr val="2A78D6"/>
                </a:solidFill>
                <a:latin typeface="Cambria" pitchFamily="34" charset="0"/>
                <a:ea typeface="Cambria" pitchFamily="34" charset="-122"/>
                <a:cs typeface="Cambria" pitchFamily="34" charset="-120"/>
              </a:rPr>
              <a:t> collectivists</a:t>
            </a:r>
            <a:endParaRPr lang="en-US" sz="3000" dirty="0"/>
          </a:p>
        </p:txBody>
      </p:sp>
      <p:sp>
        <p:nvSpPr>
          <p:cNvPr id="5" name="eq2"/>
          <p:cNvSpPr txBox="1"/>
          <p:nvPr/>
        </p:nvSpPr>
        <p:spPr>
          <a:xfrm>
            <a:off x="640080" y="324612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a:t>
            </a:r>
            <a:endParaRPr lang="en-US" sz="3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Individualists and collectivists: who listens to whom</a:t>
            </a:r>
            <a:endParaRPr lang="en-US" sz="2400" dirty="0"/>
          </a:p>
        </p:txBody>
      </p:sp>
      <p:sp>
        <p:nvSpPr>
          <p:cNvPr id="3"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D62828"/>
                </a:solidFill>
              </a:rPr>
              <a:t>Individualists</a:t>
            </a:r>
            <a:endParaRPr lang="en-US" sz="1800" dirty="0"/>
          </a:p>
        </p:txBody>
      </p:sp>
      <p:sp>
        <p:nvSpPr>
          <p:cNvPr id="4"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5"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6"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7" name="pairs-head"/>
          <p:cNvSpPr txBox="1"/>
          <p:nvPr/>
        </p:nvSpPr>
        <p:spPr>
          <a:xfrm>
            <a:off x="457200" y="3886200"/>
            <a:ext cx="8229600" cy="329184"/>
          </a:xfrm>
          <a:prstGeom prst="rect">
            <a:avLst/>
          </a:prstGeom>
          <a:noFill/>
          <a:ln/>
        </p:spPr>
        <p:txBody>
          <a:bodyPr wrap="square" lIns="0" tIns="0" rIns="0" bIns="0" rtlCol="0" anchor="ctr"/>
          <a:lstStyle/>
          <a:p>
            <a:pPr algn="ctr" indent="0" marL="0">
              <a:buNone/>
            </a:pPr>
            <a:r>
              <a:rPr lang="en-US" sz="1300" b="1" dirty="0">
                <a:solidFill>
                  <a:schemeClr val="tx2"/>
                </a:solidFill>
              </a:rPr>
              <a:t>Signal interpretation gap</a:t>
            </a:r>
            <a:endParaRPr lang="en-US" sz="1300" dirty="0"/>
          </a:p>
        </p:txBody>
      </p:sp>
      <p:sp>
        <p:nvSpPr>
          <p:cNvPr id="8" name="chip"/>
          <p:cNvSpPr/>
          <p:nvPr/>
        </p:nvSpPr>
        <p:spPr>
          <a:xfrm>
            <a:off x="2057400" y="3429000"/>
            <a:ext cx="914400" cy="329184"/>
          </a:xfrm>
          <a:prstGeom prst="roundRect">
            <a:avLst>
              <a:gd name="adj" fmla="val 16667"/>
            </a:avLst>
          </a:prstGeom>
          <a:solidFill>
            <a:schemeClr val="tx2"/>
          </a:solidFill>
          <a:ln w="12700">
            <a:solidFill>
              <a:schemeClr val="tx2"/>
            </a:solidFill>
            <a:prstDash val="solid"/>
          </a:ln>
        </p:spPr>
      </p:sp>
      <p:sp>
        <p:nvSpPr>
          <p:cNvPr id="9" name="chip-label"/>
          <p:cNvSpPr txBox="1"/>
          <p:nvPr/>
        </p:nvSpPr>
        <p:spPr>
          <a:xfrm>
            <a:off x="2057400" y="342900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0" name="pair-label"/>
          <p:cNvSpPr txBox="1"/>
          <p:nvPr/>
        </p:nvSpPr>
        <p:spPr>
          <a:xfrm>
            <a:off x="301752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wide gap</a:t>
            </a:r>
            <a:endParaRPr lang="en-US" sz="1200" dirty="0"/>
          </a:p>
        </p:txBody>
      </p:sp>
      <p:sp>
        <p:nvSpPr>
          <p:cNvPr id="11" name="chip"/>
          <p:cNvSpPr/>
          <p:nvPr/>
        </p:nvSpPr>
        <p:spPr>
          <a:xfrm>
            <a:off x="3794760" y="3429000"/>
            <a:ext cx="914400" cy="329184"/>
          </a:xfrm>
          <a:prstGeom prst="roundRect">
            <a:avLst>
              <a:gd name="adj" fmla="val 16667"/>
            </a:avLst>
          </a:prstGeom>
          <a:solidFill>
            <a:schemeClr val="accent3"/>
          </a:solidFill>
          <a:ln w="12700">
            <a:solidFill>
              <a:schemeClr val="accent3"/>
            </a:solidFill>
            <a:prstDash val="solid"/>
          </a:ln>
        </p:spPr>
      </p:sp>
      <p:sp>
        <p:nvSpPr>
          <p:cNvPr id="12" name="chip-label"/>
          <p:cNvSpPr txBox="1"/>
          <p:nvPr/>
        </p:nvSpPr>
        <p:spPr>
          <a:xfrm>
            <a:off x="3794760" y="342900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3" name="pair-label"/>
          <p:cNvSpPr txBox="1"/>
          <p:nvPr/>
        </p:nvSpPr>
        <p:spPr>
          <a:xfrm>
            <a:off x="475488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medium</a:t>
            </a:r>
            <a:endParaRPr lang="en-US" sz="1200" dirty="0"/>
          </a:p>
        </p:txBody>
      </p:sp>
      <p:sp>
        <p:nvSpPr>
          <p:cNvPr id="14" name="chip"/>
          <p:cNvSpPr/>
          <p:nvPr/>
        </p:nvSpPr>
        <p:spPr>
          <a:xfrm>
            <a:off x="5532120" y="3429000"/>
            <a:ext cx="914400" cy="329184"/>
          </a:xfrm>
          <a:prstGeom prst="roundRect">
            <a:avLst>
              <a:gd name="adj" fmla="val 16667"/>
            </a:avLst>
          </a:prstGeom>
          <a:solidFill>
            <a:schemeClr val="accent4"/>
          </a:solidFill>
          <a:ln w="12700">
            <a:solidFill>
              <a:schemeClr val="accent4"/>
            </a:solidFill>
            <a:prstDash val="solid"/>
          </a:ln>
        </p:spPr>
      </p:sp>
      <p:sp>
        <p:nvSpPr>
          <p:cNvPr id="15" name="chip-label"/>
          <p:cNvSpPr txBox="1"/>
          <p:nvPr/>
        </p:nvSpPr>
        <p:spPr>
          <a:xfrm>
            <a:off x="5532120" y="342900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6" name="pair-label"/>
          <p:cNvSpPr txBox="1"/>
          <p:nvPr/>
        </p:nvSpPr>
        <p:spPr>
          <a:xfrm>
            <a:off x="649224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narrow</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ctr"/>
          <a:lstStyle/>
          <a:p>
            <a:pPr algn="ctr" indent="0" marL="0">
              <a:buNone/>
            </a:pPr>
            <a:r>
              <a:rPr lang="en-US" sz="3200" b="1" dirty="0">
                <a:solidFill>
                  <a:schemeClr val="bg1"/>
                </a:solidFill>
              </a:rPr>
              <a:t>Results</a:t>
            </a:r>
            <a:endParaRPr lang="en-US" sz="3200" dirty="0"/>
          </a:p>
        </p:txBody>
      </p:sp>
      <p:sp>
        <p:nvSpPr>
          <p:cNvPr id="4"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algn="ctr" indent="0" marL="0">
              <a:buNone/>
            </a:pP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1738480" y="1005840"/>
            <a:ext cx="5667040"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1821553" y="1005840"/>
            <a:ext cx="5500893"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730766" y="1005840"/>
            <a:ext cx="7682469"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1711391" y="1005840"/>
            <a:ext cx="5721218"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Takeaways and next steps</a:t>
            </a:r>
            <a:endParaRPr lang="en-US" sz="2400" dirty="0"/>
          </a:p>
        </p:txBody>
      </p:sp>
      <p:sp>
        <p:nvSpPr>
          <p:cNvPr id="3" name="take-head"/>
          <p:cNvSpPr txBox="1"/>
          <p:nvPr/>
        </p:nvSpPr>
        <p:spPr>
          <a:xfrm>
            <a:off x="457200" y="1051560"/>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1:  </a:t>
            </a:r>
            <a:pPr indent="0" marL="0">
              <a:buNone/>
            </a:pPr>
            <a:r>
              <a:rPr lang="en-US" sz="1300" b="1" dirty="0">
                <a:solidFill>
                  <a:schemeClr val="tx2"/>
                </a:solidFill>
              </a:rPr>
              <a:t>Sorting follows the news</a:t>
            </a:r>
            <a:endParaRPr lang="en-US" sz="1300" dirty="0"/>
          </a:p>
        </p:txBody>
      </p:sp>
      <p:sp>
        <p:nvSpPr>
          <p:cNvPr id="4" name="take-body"/>
          <p:cNvSpPr txBox="1"/>
          <p:nvPr/>
        </p:nvSpPr>
        <p:spPr>
          <a:xfrm>
            <a:off x="3291840" y="1051560"/>
            <a:ext cx="5394960" cy="530352"/>
          </a:xfrm>
          <a:prstGeom prst="rect">
            <a:avLst/>
          </a:prstGeom>
          <a:noFill/>
          <a:ln/>
        </p:spPr>
        <p:txBody>
          <a:bodyPr wrap="square" lIns="0" tIns="0" rIns="0" bIns="0" rtlCol="0" anchor="ctr"/>
          <a:lstStyle/>
          <a:p>
            <a:pPr indent="0" marL="0">
              <a:buNone/>
            </a:pPr>
            <a:r>
              <a:rPr lang="en-US" sz="1200" dirty="0">
                <a:solidFill>
                  <a:schemeClr val="tx1"/>
                </a:solidFill>
              </a:rPr>
              <a:t>Optimistic public news makes individualists run relatively more; pessimistic news, collectivists.</a:t>
            </a:r>
            <a:endParaRPr lang="en-US" sz="1200" dirty="0"/>
          </a:p>
        </p:txBody>
      </p:sp>
      <p:sp>
        <p:nvSpPr>
          <p:cNvPr id="5" name="take-head"/>
          <p:cNvSpPr txBox="1"/>
          <p:nvPr/>
        </p:nvSpPr>
        <p:spPr>
          <a:xfrm>
            <a:off x="457200" y="1627632"/>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2:  </a:t>
            </a:r>
            <a:pPr indent="0" marL="0">
              <a:buNone/>
            </a:pPr>
            <a:r>
              <a:rPr lang="en-US" sz="1300" b="1" dirty="0">
                <a:solidFill>
                  <a:schemeClr val="tx2"/>
                </a:solidFill>
              </a:rPr>
              <a:t>Collectivists herd</a:t>
            </a:r>
            <a:endParaRPr lang="en-US" sz="1300" dirty="0"/>
          </a:p>
        </p:txBody>
      </p:sp>
      <p:sp>
        <p:nvSpPr>
          <p:cNvPr id="6" name="take-body"/>
          <p:cNvSpPr txBox="1"/>
          <p:nvPr/>
        </p:nvSpPr>
        <p:spPr>
          <a:xfrm>
            <a:off x="3291840" y="1627632"/>
            <a:ext cx="5394960" cy="530352"/>
          </a:xfrm>
          <a:prstGeom prst="rect">
            <a:avLst/>
          </a:prstGeom>
          <a:noFill/>
          <a:ln/>
        </p:spPr>
        <p:txBody>
          <a:bodyPr wrap="square" lIns="0" tIns="0" rIns="0" bIns="0" rtlCol="0" anchor="ctr"/>
          <a:lstStyle/>
          <a:p>
            <a:pPr indent="0" marL="0">
              <a:buNone/>
            </a:pPr>
            <a:r>
              <a:rPr lang="en-US" sz="1200" dirty="0">
                <a:solidFill>
                  <a:schemeClr val="tx1"/>
                </a:solidFill>
              </a:rPr>
              <a:t>Their chance of withdrawing jumps from 0.15 to 0.93 once 20–35% of neighbours are out; individualists level off near 0.3.</a:t>
            </a:r>
            <a:endParaRPr lang="en-US" sz="1200" dirty="0"/>
          </a:p>
        </p:txBody>
      </p:sp>
      <p:sp>
        <p:nvSpPr>
          <p:cNvPr id="7" name="take-head"/>
          <p:cNvSpPr txBox="1"/>
          <p:nvPr/>
        </p:nvSpPr>
        <p:spPr>
          <a:xfrm>
            <a:off x="457200" y="2203704"/>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3:  </a:t>
            </a:r>
            <a:pPr indent="0" marL="0">
              <a:buNone/>
            </a:pPr>
            <a:r>
              <a:rPr lang="en-US" sz="1300" b="1" dirty="0">
                <a:solidFill>
                  <a:schemeClr val="tx2"/>
                </a:solidFill>
              </a:rPr>
              <a:t>More individualists, fewer failures</a:t>
            </a:r>
            <a:endParaRPr lang="en-US" sz="1300" dirty="0"/>
          </a:p>
        </p:txBody>
      </p:sp>
      <p:sp>
        <p:nvSpPr>
          <p:cNvPr id="8" name="take-body"/>
          <p:cNvSpPr txBox="1"/>
          <p:nvPr/>
        </p:nvSpPr>
        <p:spPr>
          <a:xfrm>
            <a:off x="3291840" y="2203704"/>
            <a:ext cx="5394960" cy="530352"/>
          </a:xfrm>
          <a:prstGeom prst="rect">
            <a:avLst/>
          </a:prstGeom>
          <a:noFill/>
          <a:ln/>
        </p:spPr>
        <p:txBody>
          <a:bodyPr wrap="square" lIns="0" tIns="0" rIns="0" bIns="0" rtlCol="0" anchor="ctr"/>
          <a:lstStyle/>
          <a:p>
            <a:pPr indent="0" marL="0">
              <a:buNone/>
            </a:pPr>
            <a:r>
              <a:rPr lang="en-US" sz="1200" dirty="0">
                <a:solidFill>
                  <a:schemeClr val="tx1"/>
                </a:solidFill>
              </a:rPr>
              <a:t>P(fail) falls from 0.67 to 0.08 as the individualist share goes from 0 to 1.</a:t>
            </a:r>
            <a:endParaRPr lang="en-US" sz="1200" dirty="0"/>
          </a:p>
        </p:txBody>
      </p:sp>
      <p:sp>
        <p:nvSpPr>
          <p:cNvPr id="9" name="take-head"/>
          <p:cNvSpPr txBox="1"/>
          <p:nvPr/>
        </p:nvSpPr>
        <p:spPr>
          <a:xfrm>
            <a:off x="457200" y="2779776"/>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4:  </a:t>
            </a:r>
            <a:pPr indent="0" marL="0">
              <a:buNone/>
            </a:pPr>
            <a:r>
              <a:rPr lang="en-US" sz="1300" b="1" dirty="0">
                <a:solidFill>
                  <a:schemeClr val="tx2"/>
                </a:solidFill>
              </a:rPr>
              <a:t>Stale news cuts both ways</a:t>
            </a:r>
            <a:endParaRPr lang="en-US" sz="1300" dirty="0"/>
          </a:p>
        </p:txBody>
      </p:sp>
      <p:sp>
        <p:nvSpPr>
          <p:cNvPr id="10" name="take-body"/>
          <p:cNvSpPr txBox="1"/>
          <p:nvPr/>
        </p:nvSpPr>
        <p:spPr>
          <a:xfrm>
            <a:off x="3291840" y="2779776"/>
            <a:ext cx="5394960" cy="530352"/>
          </a:xfrm>
          <a:prstGeom prst="rect">
            <a:avLst/>
          </a:prstGeom>
          <a:noFill/>
          <a:ln/>
        </p:spPr>
        <p:txBody>
          <a:bodyPr wrap="square" lIns="0" tIns="0" rIns="0" bIns="0" rtlCol="0" anchor="ctr"/>
          <a:lstStyle/>
          <a:p>
            <a:pPr indent="0" marL="0">
              <a:buNone/>
            </a:pPr>
            <a:r>
              <a:rPr lang="en-US" sz="1200" dirty="0">
                <a:solidFill>
                  <a:schemeClr val="tx1"/>
                </a:solidFill>
              </a:rPr>
              <a:t>A stale optimistic signal halves failure, a stale pessimistic one raises it by half. Accurate news barely moves it.</a:t>
            </a:r>
            <a:endParaRPr lang="en-US" sz="1200" dirty="0"/>
          </a:p>
        </p:txBody>
      </p:sp>
      <p:sp>
        <p:nvSpPr>
          <p:cNvPr id="11" name="take-head"/>
          <p:cNvSpPr txBox="1"/>
          <p:nvPr/>
        </p:nvSpPr>
        <p:spPr>
          <a:xfrm>
            <a:off x="457200" y="3355848"/>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5:  </a:t>
            </a:r>
            <a:pPr indent="0" marL="0">
              <a:buNone/>
            </a:pPr>
            <a:r>
              <a:rPr lang="en-US" sz="1300" b="1" dirty="0">
                <a:solidFill>
                  <a:schemeClr val="tx2"/>
                </a:solidFill>
              </a:rPr>
              <a:t>Capping the largest deposits</a:t>
            </a:r>
            <a:endParaRPr lang="en-US" sz="1300" dirty="0"/>
          </a:p>
        </p:txBody>
      </p:sp>
      <p:sp>
        <p:nvSpPr>
          <p:cNvPr id="12" name="take-body"/>
          <p:cNvSpPr txBox="1"/>
          <p:nvPr/>
        </p:nvSpPr>
        <p:spPr>
          <a:xfrm>
            <a:off x="3291840" y="3355848"/>
            <a:ext cx="5394960" cy="530352"/>
          </a:xfrm>
          <a:prstGeom prst="rect">
            <a:avLst/>
          </a:prstGeom>
          <a:noFill/>
          <a:ln/>
        </p:spPr>
        <p:txBody>
          <a:bodyPr wrap="square" lIns="0" tIns="0" rIns="0" bIns="0" rtlCol="0" anchor="ctr"/>
          <a:lstStyle/>
          <a:p>
            <a:pPr indent="0" marL="0">
              <a:buNone/>
            </a:pPr>
            <a:r>
              <a:rPr lang="en-US" sz="1200" dirty="0">
                <a:solidFill>
                  <a:schemeClr val="tx1"/>
                </a:solidFill>
              </a:rPr>
              <a:t>A 1% cap brings failure down to the no-concentration bank’s level; the culture gradient is unchanged.</a:t>
            </a:r>
            <a:endParaRPr lang="en-US" sz="1200" dirty="0"/>
          </a:p>
        </p:txBody>
      </p:sp>
      <p:sp>
        <p:nvSpPr>
          <p:cNvPr id="13" name="take-head"/>
          <p:cNvSpPr txBox="1"/>
          <p:nvPr/>
        </p:nvSpPr>
        <p:spPr>
          <a:xfrm>
            <a:off x="457200" y="3931920"/>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6:  </a:t>
            </a:r>
            <a:pPr indent="0" marL="0">
              <a:buNone/>
            </a:pPr>
            <a:r>
              <a:rPr lang="en-US" sz="1300" b="1" dirty="0">
                <a:solidFill>
                  <a:schemeClr val="tx2"/>
                </a:solidFill>
              </a:rPr>
              <a:t>Not yet matched</a:t>
            </a:r>
            <a:endParaRPr lang="en-US" sz="1300" dirty="0"/>
          </a:p>
        </p:txBody>
      </p:sp>
      <p:sp>
        <p:nvSpPr>
          <p:cNvPr id="14" name="take-body"/>
          <p:cNvSpPr txBox="1"/>
          <p:nvPr/>
        </p:nvSpPr>
        <p:spPr>
          <a:xfrm>
            <a:off x="3291840" y="3931920"/>
            <a:ext cx="5394960" cy="530352"/>
          </a:xfrm>
          <a:prstGeom prst="rect">
            <a:avLst/>
          </a:prstGeom>
          <a:noFill/>
          <a:ln/>
        </p:spPr>
        <p:txBody>
          <a:bodyPr wrap="square" lIns="0" tIns="0" rIns="0" bIns="0" rtlCol="0" anchor="ctr"/>
          <a:lstStyle/>
          <a:p>
            <a:pPr indent="0" marL="0">
              <a:buNone/>
            </a:pPr>
            <a:r>
              <a:rPr lang="en-US" sz="1200" dirty="0">
                <a:solidFill>
                  <a:schemeClr val="tx1"/>
                </a:solidFill>
              </a:rPr>
              <a:t>How large depositors exit in real runs.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2026-10-26T12:49:45Z</dcterms:created>
  <dcterms:modified xsi:type="dcterms:W3CDTF">2026-10-26T12:49:45Z</dcterms:modified>
</cp:coreProperties>
</file>