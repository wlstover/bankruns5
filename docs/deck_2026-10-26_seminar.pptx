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6dfd1a-c677-eda8-d4b3-acbc1cb46f82}">
          <p14:sldIdLst>
            <p14:sldId id="256"/>
            <p14:sldId id="257"/>
            <p14:sldId id="258"/>
            <p14:sldId id="259"/>
            <p14:sldId id="260"/>
            <p14:sldId id="261"/>
            <p14:sldId id="262"/>
            <p14:sldId id="263"/>
            <p14:sldId id="264"/>
            <p14:sldId id="265"/>
          </p14:sldIdLst>
        </p14:section>
        <p14:section name="The model" id="{574aeb74-a2c1-471e-74f9-2577ad5000f3}">
          <p14:sldIdLst>
            <p14:sldId id="266"/>
            <p14:sldId id="267"/>
          </p14:sldIdLst>
        </p14:section>
        <p14:section name="Results" id="{8f4bd9b0-6480-5c00-f3fa-b2d08b25b632}">
          <p14:sldIdLst>
            <p14:sldId id="268"/>
            <p14:sldId id="269"/>
            <p14:sldId id="270"/>
            <p14:sldId id="271"/>
          </p14:sldIdLst>
        </p14:section>
        <p14:section name="Validation" id="{88d0649b-6dbb-0d9b-576e-a7a7298cb198}">
          <p14:sldIdLst>
            <p14:sldId id="272"/>
          </p14:sldIdLst>
        </p14:section>
        <p14:section name="Close" id="{d1a86f69-0ecc-a79f-6f5d-4115012b9caf}">
          <p14:sldIdLst>
            <p14:sldId id="273"/>
          </p14:sldIdLst>
        </p14:section>
        <p14:section name="Backup" id="{d32d1c94-2944-21c6-83f2-769a6ed9eade}">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Theory (Diamond–Dybvig) says runs can happen; it is silent on who runs first and how a run spreads. Optional visual: a historical photo of a bank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and when. Dispersion: Goldstein-Pauzner's noisy private signal, the device that gives Diamond-Dybvig an equilibrium-selection mechanism; depositors are ex ante identical, so the order is luck. Delivery: the network and media literature; the order is position. Both are consistent with identical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public-signal papers answer the question with the Bayesian precision ratio: the weight on y is tau_y over tau_x plus tau_y. Two consequences: the weight is uniform across depositors, so there is no who; and it vanishes as the private signal gets precise. Both are at odds with what panics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Counterexamples. In each case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relaxes dispersion, delivery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dispersion of the signal (Goldstein-Pauzner: same signal technology, different draws, which selects the equilibrium), heterogeneity in delivery (who hears it, from whom, when: Kelly-O Grada, Iyer-Puri, Cookson et al.), heterogeneity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 and how a run spreads</a:t>
            </a:r>
            <a:endParaRPr lang="en-US" sz="2400" dirty="0"/>
          </a:p>
        </p:txBody>
      </p:sp>
      <p:sp>
        <p:nvSpPr>
          <p:cNvPr id="3" name="card-Diamond–Dybvig"/>
          <p:cNvSpPr/>
          <p:nvPr/>
        </p:nvSpPr>
        <p:spPr>
          <a:xfrm>
            <a:off x="457200" y="1051560"/>
            <a:ext cx="2651760" cy="1463040"/>
          </a:xfrm>
          <a:prstGeom prst="roundRect">
            <a:avLst>
              <a:gd name="adj" fmla="val 5000"/>
            </a:avLst>
          </a:prstGeom>
          <a:solidFill>
            <a:schemeClr val="bg2"/>
          </a:solidFill>
          <a:ln w="12700">
            <a:solidFill>
              <a:schemeClr val="bg2"/>
            </a:solidFill>
            <a:prstDash val="solid"/>
          </a:ln>
        </p:spPr>
      </p:sp>
      <p:sp>
        <p:nvSpPr>
          <p:cNvPr id="4" name="card-head"/>
          <p:cNvSpPr txBox="1"/>
          <p:nvPr/>
        </p:nvSpPr>
        <p:spPr>
          <a:xfrm>
            <a:off x="594360" y="1143000"/>
            <a:ext cx="2377440" cy="292608"/>
          </a:xfrm>
          <a:prstGeom prst="rect">
            <a:avLst/>
          </a:prstGeom>
          <a:noFill/>
          <a:ln/>
        </p:spPr>
        <p:txBody>
          <a:bodyPr wrap="square" lIns="0" tIns="0" rIns="0" bIns="0" rtlCol="0" anchor="ctr"/>
          <a:lstStyle/>
          <a:p>
            <a:pPr indent="0" marL="0">
              <a:buNone/>
            </a:pPr>
            <a:r>
              <a:rPr lang="en-US" sz="1300" b="1" dirty="0">
                <a:solidFill>
                  <a:schemeClr val="tx2"/>
                </a:solidFill>
              </a:rPr>
              <a:t>Diamond–Dybvig</a:t>
            </a:r>
            <a:endParaRPr lang="en-US" sz="1300" dirty="0"/>
          </a:p>
        </p:txBody>
      </p:sp>
      <p:sp>
        <p:nvSpPr>
          <p:cNvPr id="5" name="card-body"/>
          <p:cNvSpPr txBox="1"/>
          <p:nvPr/>
        </p:nvSpPr>
        <p:spPr>
          <a:xfrm>
            <a:off x="594360" y="1463040"/>
            <a:ext cx="2377440" cy="960120"/>
          </a:xfrm>
          <a:prstGeom prst="rect">
            <a:avLst/>
          </a:prstGeom>
          <a:noFill/>
          <a:ln/>
        </p:spPr>
        <p:txBody>
          <a:bodyPr wrap="square" lIns="0" tIns="0" rIns="0" bIns="0" rtlCol="0" anchor="t"/>
          <a:lstStyle/>
          <a:p>
            <a:pPr indent="0" marL="0">
              <a:buNone/>
            </a:pPr>
            <a:r>
              <a:rPr lang="en-US" sz="1150" dirty="0">
                <a:solidFill>
                  <a:schemeClr val="tx1"/>
                </a:solidFill>
              </a:rPr>
              <a:t>A run is an equilibrium. The theory says runs can happen; it says nothing about who runs first or how a run spreads.</a:t>
            </a:r>
            <a:endParaRPr lang="en-US" sz="1150" dirty="0"/>
          </a:p>
        </p:txBody>
      </p:sp>
      <p:sp>
        <p:nvSpPr>
          <p:cNvPr id="6" name="card-Chapter 1: theory"/>
          <p:cNvSpPr/>
          <p:nvPr/>
        </p:nvSpPr>
        <p:spPr>
          <a:xfrm>
            <a:off x="3246120" y="1051560"/>
            <a:ext cx="2651760" cy="1463040"/>
          </a:xfrm>
          <a:prstGeom prst="roundRect">
            <a:avLst>
              <a:gd name="adj" fmla="val 5000"/>
            </a:avLst>
          </a:prstGeom>
          <a:solidFill>
            <a:schemeClr val="bg2"/>
          </a:solidFill>
          <a:ln w="12700">
            <a:solidFill>
              <a:schemeClr val="bg2"/>
            </a:solidFill>
            <a:prstDash val="solid"/>
          </a:ln>
        </p:spPr>
      </p:sp>
      <p:sp>
        <p:nvSpPr>
          <p:cNvPr id="7" name="card-head"/>
          <p:cNvSpPr txBox="1"/>
          <p:nvPr/>
        </p:nvSpPr>
        <p:spPr>
          <a:xfrm>
            <a:off x="3383280" y="1143000"/>
            <a:ext cx="2377440" cy="292608"/>
          </a:xfrm>
          <a:prstGeom prst="rect">
            <a:avLst/>
          </a:prstGeom>
          <a:noFill/>
          <a:ln/>
        </p:spPr>
        <p:txBody>
          <a:bodyPr wrap="square" lIns="0" tIns="0" rIns="0" bIns="0" rtlCol="0" anchor="ctr"/>
          <a:lstStyle/>
          <a:p>
            <a:pPr indent="0" marL="0">
              <a:buNone/>
            </a:pPr>
            <a:r>
              <a:rPr lang="en-US" sz="1300" b="1" dirty="0">
                <a:solidFill>
                  <a:schemeClr val="tx2"/>
                </a:solidFill>
              </a:rPr>
              <a:t>Chapter 1: theory</a:t>
            </a:r>
            <a:endParaRPr lang="en-US" sz="1300" dirty="0"/>
          </a:p>
        </p:txBody>
      </p:sp>
      <p:sp>
        <p:nvSpPr>
          <p:cNvPr id="8" name="card-body"/>
          <p:cNvSpPr txBox="1"/>
          <p:nvPr/>
        </p:nvSpPr>
        <p:spPr>
          <a:xfrm>
            <a:off x="3383280" y="1463040"/>
            <a:ext cx="2377440" cy="960120"/>
          </a:xfrm>
          <a:prstGeom prst="rect">
            <a:avLst/>
          </a:prstGeom>
          <a:noFill/>
          <a:ln/>
        </p:spPr>
        <p:txBody>
          <a:bodyPr wrap="square" lIns="0" tIns="0" rIns="0" bIns="0" rtlCol="0" anchor="t"/>
          <a:lstStyle/>
          <a:p>
            <a:pPr indent="0" marL="0">
              <a:buNone/>
            </a:pPr>
            <a:r>
              <a:rPr lang="en-US" sz="1150" dirty="0">
                <a:solidFill>
                  <a:schemeClr val="tx1"/>
                </a:solidFill>
              </a:rPr>
              <a:t>Depositors differ in how much they weigh their own information against public news and what others do. That difference predicts who moves first, and in which direction, given the news.</a:t>
            </a:r>
            <a:endParaRPr lang="en-US" sz="1150" dirty="0"/>
          </a:p>
        </p:txBody>
      </p:sp>
      <p:sp>
        <p:nvSpPr>
          <p:cNvPr id="9" name="card-Chapter 2: Celsius"/>
          <p:cNvSpPr/>
          <p:nvPr/>
        </p:nvSpPr>
        <p:spPr>
          <a:xfrm>
            <a:off x="6035040" y="1051560"/>
            <a:ext cx="2651760" cy="1463040"/>
          </a:xfrm>
          <a:prstGeom prst="roundRect">
            <a:avLst>
              <a:gd name="adj" fmla="val 5000"/>
            </a:avLst>
          </a:prstGeom>
          <a:solidFill>
            <a:schemeClr val="bg2"/>
          </a:solidFill>
          <a:ln w="12700">
            <a:solidFill>
              <a:schemeClr val="bg2"/>
            </a:solidFill>
            <a:prstDash val="solid"/>
          </a:ln>
        </p:spPr>
      </p:sp>
      <p:sp>
        <p:nvSpPr>
          <p:cNvPr id="10" name="card-head"/>
          <p:cNvSpPr txBox="1"/>
          <p:nvPr/>
        </p:nvSpPr>
        <p:spPr>
          <a:xfrm>
            <a:off x="6172200" y="1143000"/>
            <a:ext cx="2377440" cy="292608"/>
          </a:xfrm>
          <a:prstGeom prst="rect">
            <a:avLst/>
          </a:prstGeom>
          <a:noFill/>
          <a:ln/>
        </p:spPr>
        <p:txBody>
          <a:bodyPr wrap="square" lIns="0" tIns="0" rIns="0" bIns="0" rtlCol="0" anchor="ctr"/>
          <a:lstStyle/>
          <a:p>
            <a:pPr indent="0" marL="0">
              <a:buNone/>
            </a:pPr>
            <a:r>
              <a:rPr lang="en-US" sz="1300" b="1" dirty="0">
                <a:solidFill>
                  <a:schemeClr val="tx2"/>
                </a:solidFill>
              </a:rPr>
              <a:t>Chapter 2: Celsius</a:t>
            </a:r>
            <a:endParaRPr lang="en-US" sz="1300" dirty="0"/>
          </a:p>
        </p:txBody>
      </p:sp>
      <p:sp>
        <p:nvSpPr>
          <p:cNvPr id="11" name="card-body"/>
          <p:cNvSpPr txBox="1"/>
          <p:nvPr/>
        </p:nvSpPr>
        <p:spPr>
          <a:xfrm>
            <a:off x="6172200" y="1463040"/>
            <a:ext cx="2377440" cy="960120"/>
          </a:xfrm>
          <a:prstGeom prst="rect">
            <a:avLst/>
          </a:prstGeom>
          <a:noFill/>
          <a:ln/>
        </p:spPr>
        <p:txBody>
          <a:bodyPr wrap="square" lIns="0" tIns="0" rIns="0" bIns="0" rtlCol="0" anchor="t"/>
          <a:lstStyle/>
          <a:p>
            <a:pPr indent="0" marL="0">
              <a:buNone/>
            </a:pPr>
            <a:r>
              <a:rPr lang="en-US" sz="1150" dirty="0">
                <a:solidFill>
                  <a:schemeClr val="tx1"/>
                </a:solidFill>
              </a:rPr>
              <a:t>Those differences show up in real withdrawals. But one platform and one shock cannot vary the mix of depositors or the information they received.</a:t>
            </a:r>
            <a:endParaRPr lang="en-US" sz="1150" dirty="0"/>
          </a:p>
        </p:txBody>
      </p:sp>
      <p:sp>
        <p:nvSpPr>
          <p:cNvPr id="12" name="ch3"/>
          <p:cNvSpPr/>
          <p:nvPr/>
        </p:nvSpPr>
        <p:spPr>
          <a:xfrm>
            <a:off x="457200" y="2651760"/>
            <a:ext cx="8229600" cy="868680"/>
          </a:xfrm>
          <a:prstGeom prst="roundRect">
            <a:avLst>
              <a:gd name="adj" fmla="val 8421"/>
            </a:avLst>
          </a:prstGeom>
          <a:solidFill>
            <a:schemeClr val="accent4"/>
          </a:solidFill>
          <a:ln w="12700">
            <a:solidFill>
              <a:schemeClr val="accent4"/>
            </a:solidFill>
            <a:prstDash val="solid"/>
          </a:ln>
        </p:spPr>
      </p:sp>
      <p:sp>
        <p:nvSpPr>
          <p:cNvPr id="13" name="ch3-text"/>
          <p:cNvSpPr txBox="1"/>
          <p:nvPr/>
        </p:nvSpPr>
        <p:spPr>
          <a:xfrm>
            <a:off x="594360" y="2697480"/>
            <a:ext cx="7955280" cy="777240"/>
          </a:xfrm>
          <a:prstGeom prst="rect">
            <a:avLst/>
          </a:prstGeom>
          <a:noFill/>
          <a:ln/>
        </p:spPr>
        <p:txBody>
          <a:bodyPr wrap="square" lIns="0" tIns="0" rIns="0" bIns="0" rtlCol="0" anchor="ctr"/>
          <a:lstStyle/>
          <a:p>
            <a:pPr indent="0" marL="0">
              <a:buNone/>
            </a:pPr>
            <a:r>
              <a:rPr lang="en-US" sz="1250" b="1" dirty="0">
                <a:solidFill>
                  <a:schemeClr val="accent1"/>
                </a:solidFill>
              </a:rPr>
              <a:t>Chapter 3, this talk: </a:t>
            </a:r>
            <a:pPr indent="0" marL="0">
              <a:buNone/>
            </a:pPr>
            <a:r>
              <a:rPr lang="en-US" sz="1250" dirty="0">
                <a:solidFill>
                  <a:schemeClr val="tx1"/>
                </a:solidFill>
              </a:rPr>
              <a:t>a population of interacting depositors in which the mix of types, the public signal, deposit concentration and the bank’s contract can each be varied. Does the theory’s mechanism survive there?</a:t>
            </a:r>
            <a:endParaRPr lang="en-US" sz="1250" dirty="0"/>
          </a:p>
        </p:txBody>
      </p:sp>
      <p:sp>
        <p:nvSpPr>
          <p:cNvPr id="14" name="def-D"/>
          <p:cNvSpPr/>
          <p:nvPr/>
        </p:nvSpPr>
        <p:spPr>
          <a:xfrm>
            <a:off x="457200" y="3657600"/>
            <a:ext cx="4023360" cy="914400"/>
          </a:xfrm>
          <a:prstGeom prst="roundRect">
            <a:avLst>
              <a:gd name="adj" fmla="val 8000"/>
            </a:avLst>
          </a:prstGeom>
          <a:solidFill>
            <a:schemeClr val="bg2"/>
          </a:solidFill>
          <a:ln w="12700">
            <a:solidFill>
              <a:schemeClr val="bg2"/>
            </a:solidFill>
            <a:prstDash val="solid"/>
          </a:ln>
        </p:spPr>
      </p:sp>
      <p:sp>
        <p:nvSpPr>
          <p:cNvPr id="15" name="def-big"/>
          <p:cNvSpPr txBox="1"/>
          <p:nvPr/>
        </p:nvSpPr>
        <p:spPr>
          <a:xfrm>
            <a:off x="594360" y="3703320"/>
            <a:ext cx="118872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D</a:t>
            </a:r>
            <a:endParaRPr lang="en-US" sz="2400" dirty="0"/>
          </a:p>
        </p:txBody>
      </p:sp>
      <p:sp>
        <p:nvSpPr>
          <p:cNvPr id="16" name="def-label"/>
          <p:cNvSpPr txBox="1"/>
          <p:nvPr/>
        </p:nvSpPr>
        <p:spPr>
          <a:xfrm>
            <a:off x="1828800" y="3703320"/>
            <a:ext cx="2560320" cy="822960"/>
          </a:xfrm>
          <a:prstGeom prst="rect">
            <a:avLst/>
          </a:prstGeom>
          <a:noFill/>
          <a:ln/>
        </p:spPr>
        <p:txBody>
          <a:bodyPr wrap="square" lIns="0" tIns="0" rIns="0" bIns="0" rtlCol="0" anchor="ctr"/>
          <a:lstStyle/>
          <a:p>
            <a:pPr indent="0" marL="0">
              <a:buNone/>
            </a:pPr>
            <a:r>
              <a:rPr lang="en-US" sz="1100" dirty="0">
                <a:solidFill>
                  <a:schemeClr val="accent3"/>
                </a:solidFill>
              </a:rPr>
              <a:t>share of individualists who withdraw minus share of collectivists, among depositors the shock did not hit</a:t>
            </a:r>
            <a:endParaRPr lang="en-US" sz="1100" dirty="0"/>
          </a:p>
        </p:txBody>
      </p:sp>
      <p:sp>
        <p:nvSpPr>
          <p:cNvPr id="17" name="def-P(fail)"/>
          <p:cNvSpPr/>
          <p:nvPr/>
        </p:nvSpPr>
        <p:spPr>
          <a:xfrm>
            <a:off x="4663440" y="3657600"/>
            <a:ext cx="4023360" cy="914400"/>
          </a:xfrm>
          <a:prstGeom prst="roundRect">
            <a:avLst>
              <a:gd name="adj" fmla="val 8000"/>
            </a:avLst>
          </a:prstGeom>
          <a:solidFill>
            <a:schemeClr val="bg2"/>
          </a:solidFill>
          <a:ln w="12700">
            <a:solidFill>
              <a:schemeClr val="bg2"/>
            </a:solidFill>
            <a:prstDash val="solid"/>
          </a:ln>
        </p:spPr>
      </p:sp>
      <p:sp>
        <p:nvSpPr>
          <p:cNvPr id="18" name="def-big"/>
          <p:cNvSpPr txBox="1"/>
          <p:nvPr/>
        </p:nvSpPr>
        <p:spPr>
          <a:xfrm>
            <a:off x="4800600" y="3703320"/>
            <a:ext cx="118872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P(fail)</a:t>
            </a:r>
            <a:endParaRPr lang="en-US" sz="2400" dirty="0"/>
          </a:p>
        </p:txBody>
      </p:sp>
      <p:sp>
        <p:nvSpPr>
          <p:cNvPr id="19" name="def-label"/>
          <p:cNvSpPr txBox="1"/>
          <p:nvPr/>
        </p:nvSpPr>
        <p:spPr>
          <a:xfrm>
            <a:off x="6035040" y="3703320"/>
            <a:ext cx="2560320" cy="822960"/>
          </a:xfrm>
          <a:prstGeom prst="rect">
            <a:avLst/>
          </a:prstGeom>
          <a:noFill/>
          <a:ln/>
        </p:spPr>
        <p:txBody>
          <a:bodyPr wrap="square" lIns="0" tIns="0" rIns="0" bIns="0" rtlCol="0" anchor="ctr"/>
          <a:lstStyle/>
          <a:p>
            <a:pPr indent="0" marL="0">
              <a:buNone/>
            </a:pPr>
            <a:r>
              <a:rPr lang="en-US" sz="1100" dirty="0">
                <a:solidFill>
                  <a:schemeClr val="accent3"/>
                </a:solidFill>
              </a:rPr>
              <a:t>share of runs that end with the bank failing</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Two mechanisms the literature has used</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Who runs, and when, has been answered two ways: by luck and by position.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Dispersion. </a:t>
            </a:r>
            <a:pPr indent="0" marL="0">
              <a:spcAft>
                <a:spcPts val="900"/>
              </a:spcAft>
              <a:buNone/>
            </a:pPr>
            <a:r>
              <a:rPr lang="en-US" sz="1400" dirty="0">
                <a:solidFill>
                  <a:schemeClr val="tx1"/>
                </a:solidFill>
              </a:rPr>
              <a:t>Goldstein–Pauzner give every depositor a noisy draw of the same signal. The draw breaks common knowledge and selects the equilibrium. Who runs first is whoever drew low.</a:t>
            </a:r>
            <a:endParaRPr lang="en-US" sz="1400" dirty="0"/>
          </a:p>
          <a:p>
            <a:pPr marL="177800" indent="-177800">
              <a:spcAft>
                <a:spcPts val="900"/>
              </a:spcAft>
              <a:buSzPct val="100000"/>
              <a:buChar char="•"/>
            </a:pPr>
            <a:r>
              <a:rPr lang="en-US" sz="1400" b="1" dirty="0">
                <a:solidFill>
                  <a:schemeClr val="tx1"/>
                </a:solidFill>
              </a:rPr>
              <a:t>Delivery. </a:t>
            </a:r>
            <a:pPr indent="0" marL="0">
              <a:spcAft>
                <a:spcPts val="900"/>
              </a:spcAft>
              <a:buNone/>
            </a:pPr>
            <a:r>
              <a:rPr lang="en-US" sz="1400" dirty="0">
                <a:solidFill>
                  <a:schemeClr val="tx1"/>
                </a:solidFill>
              </a:rPr>
              <a:t>Networks and media decide who hears what, from whom, when (Kelly–Ó Gráda, Iyer–Puri, Cookson et al.). Who runs first is whoever sits nearest the source.</a:t>
            </a:r>
            <a:endParaRPr lang="en-US" sz="1400" dirty="0"/>
          </a:p>
          <a:p>
            <a:pPr marL="177800" indent="-177800">
              <a:spcAft>
                <a:spcPts val="900"/>
              </a:spcAft>
              <a:buSzPct val="100000"/>
              <a:buChar char="•"/>
            </a:pPr>
            <a:r>
              <a:rPr lang="en-US" sz="1400" b="1" dirty="0">
                <a:solidFill>
                  <a:schemeClr val="tx1"/>
                </a:solidFill>
              </a:rPr>
              <a:t>Both are fruitful. </a:t>
            </a:r>
            <a:pPr indent="0" marL="0">
              <a:spcAft>
                <a:spcPts val="900"/>
              </a:spcAft>
              <a:buNone/>
            </a:pPr>
            <a:r>
              <a:rPr lang="en-US" sz="1400" dirty="0">
                <a:solidFill>
                  <a:schemeClr val="tx1"/>
                </a:solidFill>
              </a:rPr>
              <a:t>Neither says anything about the depositor: the same Bayesian, with the same prior, sits at every node.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How the theory answers it: the Bayesian precision ratio</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Weight on the public signal = its precision relative to the private one. The same for everyone, and vanishing.</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The same for everyone. </a:t>
            </a:r>
            <a:pPr indent="0" marL="0">
              <a:spcAft>
                <a:spcPts val="900"/>
              </a:spcAft>
              <a:buNone/>
            </a:pPr>
            <a:r>
              <a:rPr lang="en-US" sz="1400" dirty="0">
                <a:solidFill>
                  <a:schemeClr val="tx1"/>
                </a:solidFill>
              </a:rPr>
              <a:t>Two depositors with the same signals form the same belief. There is no ‘who’.</a:t>
            </a:r>
            <a:endParaRPr lang="en-US" sz="1400" dirty="0"/>
          </a:p>
          <a:p>
            <a:pPr marL="177800" indent="-177800">
              <a:spcAft>
                <a:spcPts val="900"/>
              </a:spcAft>
              <a:buSzPct val="100000"/>
              <a:buChar char="•"/>
            </a:pPr>
            <a:r>
              <a:rPr lang="en-US" sz="1400" b="1" dirty="0">
                <a:solidFill>
                  <a:schemeClr val="tx1"/>
                </a:solidFill>
              </a:rPr>
              <a:t>Vanishing. </a:t>
            </a:r>
            <a:pPr indent="0" marL="0">
              <a:spcAft>
                <a:spcPts val="900"/>
              </a:spcAft>
              <a:buNone/>
            </a:pPr>
            <a:r>
              <a:rPr lang="en-US" sz="1400" dirty="0">
                <a:solidFill>
                  <a:schemeClr val="tx1"/>
                </a:solidFill>
              </a:rPr>
              <a:t>As private information sharpens, the weight on the public line goes to zero. The public signal matters only while depositors know little.</a:t>
            </a:r>
            <a:endParaRPr lang="en-US" sz="1400" dirty="0"/>
          </a:p>
          <a:p>
            <a:pPr marL="177800" indent="-177800">
              <a:spcAft>
                <a:spcPts val="900"/>
              </a:spcAft>
              <a:buSzPct val="100000"/>
              <a:buChar char="•"/>
            </a:pPr>
            <a:r>
              <a:rPr lang="en-US" sz="1400" b="1" dirty="0">
                <a:solidFill>
                  <a:schemeClr val="tx1"/>
                </a:solidFill>
              </a:rPr>
              <a:t>What it predicts about a panic. </a:t>
            </a:r>
            <a:pPr indent="0" marL="0">
              <a:spcAft>
                <a:spcPts val="900"/>
              </a:spcAft>
              <a:buNone/>
            </a:pPr>
            <a:r>
              <a:rPr lang="en-US" sz="1400" dirty="0">
                <a:solidFill>
                  <a:schemeClr val="tx1"/>
                </a:solidFill>
              </a:rPr>
              <a:t>Any sorting between depositors is noise, and official communication stops mattering just when depositors are paying most attention.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Panics do not look like that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7" name="step-foot"/>
          <p:cNvSpPr txBox="1"/>
          <p:nvPr/>
        </p:nvSpPr>
        <p:spPr>
          <a:xfrm>
            <a:off x="1005840" y="4251960"/>
            <a:ext cx="768096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who runs first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7</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Dispersion (a private draw per depositor), delivery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dispersed, delivered, interpreted</a:t>
            </a:r>
            <a:endParaRPr lang="en-US" sz="2400" dirty="0"/>
          </a:p>
        </p:txBody>
      </p:sp>
      <p:pic>
        <p:nvPicPr>
          <p:cNvPr id="3" name="ladder" descr="Three panels. Dispersed: one bank fundamental sends a noisy private signal to each depositor, who line up from run to stay. Delivered: a network in which the signal has reached some depositors from a first hearer and not others. Interpreted: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91840"/>
            <a:ext cx="4441927"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One bank that sells its long asset at a discount when cash runs short (a fire-sale bank)</a:t>
            </a:r>
            <a:endParaRPr lang="en-US" sz="1200" dirty="0"/>
          </a:p>
          <a:p>
            <a:pPr marL="177800" indent="-177800">
              <a:spcAft>
                <a:spcPts val="500"/>
              </a:spcAft>
              <a:buSzPct val="100000"/>
              <a:buChar char="•"/>
            </a:pPr>
            <a:r>
              <a:rPr lang="en-US" sz="1200" dirty="0">
                <a:solidFill>
                  <a:schemeClr val="tx1"/>
                </a:solidFill>
              </a:rPr>
              <a:t>Each tick a depositor sees neighbours’ withdrawals and the public news, blends them with a private signal, and withdraws if that pays</a:t>
            </a:r>
            <a:endParaRPr lang="en-US" sz="1200" dirty="0"/>
          </a:p>
          <a:p>
            <a:pPr marL="177800" indent="-177800">
              <a:spcAft>
                <a:spcPts val="500"/>
              </a:spcAft>
              <a:buSzPct val="100000"/>
              <a:buChar char="•"/>
            </a:pPr>
            <a:r>
              <a:rPr lang="en-US" sz="1200" dirty="0">
                <a:solidFill>
                  <a:schemeClr val="tx1"/>
                </a:solidFill>
              </a:rPr>
              <a:t>A public signal can be absent, accurate, or outdated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2026-10-26T00:32:32Z</dcterms:created>
  <dcterms:modified xsi:type="dcterms:W3CDTF">2026-10-26T00:32:32Z</dcterms:modified>
</cp:coreProperties>
</file>