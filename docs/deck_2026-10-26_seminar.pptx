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31b4b43-cc7b-a765-080a-d9a077638ad3}">
          <p14:sldIdLst>
            <p14:sldId id="256"/>
            <p14:sldId id="257"/>
            <p14:sldId id="258"/>
            <p14:sldId id="259"/>
            <p14:sldId id="260"/>
            <p14:sldId id="261"/>
          </p14:sldIdLst>
        </p14:section>
        <p14:section name="The model" id="{faf00e54-99fc-53f9-bf89-6aa0b06ea64b}">
          <p14:sldIdLst>
            <p14:sldId id="262"/>
            <p14:sldId id="263"/>
          </p14:sldIdLst>
        </p14:section>
        <p14:section name="Results" id="{894820f3-bf2a-f6b6-9132-e67141ad8e4b}">
          <p14:sldIdLst>
            <p14:sldId id="264"/>
            <p14:sldId id="265"/>
            <p14:sldId id="266"/>
            <p14:sldId id="267"/>
          </p14:sldIdLst>
        </p14:section>
        <p14:section name="Validation" id="{036d2c08-b55b-bd46-5cac-90c69a365efd}">
          <p14:sldIdLst>
            <p14:sldId id="268"/>
          </p14:sldIdLst>
        </p14:section>
        <p14:section name="Close" id="{a489903a-90e9-33d8-223f-0f1c5356b2eb}">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question only becomes askable once a public signal sits next to the private one (Morris-Shin 2002, Hellwig 2002, Angeletos-Werning 2006); Diamond-Dybvig has no signal and Goldstein-Pauzner one. The screenshot is the question as a panic poses it: the public line (Becker: stay calm, that's my ask) against private evidence (VCs telling portfolio companies to move money out, the share price). Same shape at Celsius 2022 (Mashinsky on 11 June: do you know even one person who has a problem withdrawing? Why spread FUD and misinformation; withdrawals paused the next day) and Northern Rock 2007 (Bank of England support announced; queues outside the branches; a customer in the queue: we thought we would do what everyone else is doing). In each case depositors split on which to trust, and the interesting fact is who moved on which. If asked how the theory answers it: the Bayesian precision ratio, the weight on y is tau_y over tau_x plus tau_y, the same for everyone and vanishing as private information sharpens; so sorting is noise and official communication stops mattering just when depositors pay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whole model in one line: a depositor blends what they are told with what they see, and the blend weight is a disposition, not a precision calculation (Chapter 1 writes it omega; the simulation writes it lambda). Subtracting the two types' estimates gives the wedge (lambda_C minus lambda_I)(x minus y): with the same pair of signals, the individualist's estimate is lower whenever private evidence is worse than the public line, so individualists run on a wider set of signals when the news is stale-optimistic, and the inclusion reverses when the news is stale-pessimistic. That is the sorting prediction the simulation tests. In the simulation, the public side is what neighbours do and what the news says, and lambda is drawn per agent in a cultural warm-up. Next: the simulation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Talk through the diagram. Left: N = 1,000 depositors, deposits log-normal (sigma 2.5) capped at 1% of the total (Celsius's largest account); types I and C from the warm-up; a Newman-Watts network; the fire-sale bank (reserves rD in cash, the rest plus equity in a long asset sold at a 60% haircut if cash runs short; it fails at period 2 if cash plus the asset at R(theta) is below its promises); theta uniform per run and a public signal that is absent, accurate or stale. Middle and right: warm-up, draw the world, shock, then the tick loop: observe neighbours and the news, blend each with your own information using lambda, value staying against withdrawing (a fraction, partial withdrawals allowed) by Monte Carlo, act. 25 initialisations x 10 draws per cell. Outcomes: D = individualists' minus collectivists' withdrawal share among those not hit by the shock; P(fail) = share of runs that fail. Risk aversion is in the model (CARA) but not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ctr" indent="0" marL="0">
              <a:buNone/>
              <a:defRPr lang="en-US" sz="3400" b="1" dirty="0">
                <a:solidFill>
                  <a:schemeClr val="bg1"/>
                </a:solidFill>
              </a:defRPr>
            </a:lvl1pPr>
          </a:lstStyle>
          <a:p>
            <a:pPr algn="ctr"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algn="ctr" indent="0" marL="0">
              <a:buNone/>
              <a:defRPr lang="en-US" sz="1800" dirty="0">
                <a:solidFill>
                  <a:schemeClr val="accent4"/>
                </a:solidFill>
              </a:defRPr>
            </a:lvl1pPr>
          </a:lstStyle>
          <a:p>
            <a:pPr algn="ct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ctr" indent="0" marL="0">
              <a:buNone/>
              <a:defRPr lang="en-US" sz="2400" b="1" dirty="0">
                <a:solidFill>
                  <a:schemeClr val="tx2"/>
                </a:solidFill>
              </a:defRPr>
            </a:lvl1pPr>
          </a:lstStyle>
          <a:p>
            <a:pPr algn="ctr"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Agent-based Diamond–Dybvig with cultural heterogeneity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ctr" indent="0" marL="0">
              <a:buNone/>
              <a:defRPr lang="en-US" sz="3200" b="1" dirty="0">
                <a:solidFill>
                  <a:schemeClr val="bg1"/>
                </a:solidFill>
              </a:defRPr>
            </a:lvl1pPr>
          </a:lstStyle>
          <a:p>
            <a:pPr algn="ctr"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ctr" indent="0" marL="0">
              <a:buNone/>
            </a:pPr>
            <a:r>
              <a:rPr lang="en-US" sz="3400" b="1" dirty="0">
                <a:solidFill>
                  <a:schemeClr val="bg1"/>
                </a:solidFill>
              </a:rPr>
              <a:t>Agent-based Diamond–Dybvig with cultural heterogeneity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algn="ctr" indent="0" marL="0">
              <a:buNone/>
            </a:pPr>
            <a:r>
              <a:rPr lang="en-US" sz="1800" dirty="0">
                <a:solidFill>
                  <a:schemeClr val="accent4"/>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Luck of the draw, and location</a:t>
            </a:r>
            <a:endParaRPr lang="en-US" sz="2400" dirty="0"/>
          </a:p>
        </p:txBody>
      </p:sp>
      <p:sp>
        <p:nvSpPr>
          <p:cNvPr id="3" name="mech-0"/>
          <p:cNvSpPr/>
          <p:nvPr/>
        </p:nvSpPr>
        <p:spPr>
          <a:xfrm>
            <a:off x="457200" y="1051560"/>
            <a:ext cx="4023360" cy="2514600"/>
          </a:xfrm>
          <a:prstGeom prst="roundRect">
            <a:avLst>
              <a:gd name="adj" fmla="val 2909"/>
            </a:avLst>
          </a:prstGeom>
          <a:solidFill>
            <a:schemeClr val="bg2"/>
          </a:solidFill>
          <a:ln w="12700">
            <a:solidFill>
              <a:schemeClr val="bg2"/>
            </a:solidFill>
            <a:prstDash val="solid"/>
          </a:ln>
        </p:spPr>
      </p:sp>
      <p:sp>
        <p:nvSpPr>
          <p:cNvPr id="4"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5"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6" name="mech-1"/>
          <p:cNvSpPr/>
          <p:nvPr/>
        </p:nvSpPr>
        <p:spPr>
          <a:xfrm>
            <a:off x="4663440" y="1051560"/>
            <a:ext cx="4023360" cy="2514600"/>
          </a:xfrm>
          <a:prstGeom prst="roundRect">
            <a:avLst>
              <a:gd name="adj" fmla="val 2909"/>
            </a:avLst>
          </a:prstGeom>
          <a:solidFill>
            <a:schemeClr val="bg2"/>
          </a:solidFill>
          <a:ln w="12700">
            <a:solidFill>
              <a:schemeClr val="bg2"/>
            </a:solidFill>
            <a:prstDash val="solid"/>
          </a:ln>
        </p:spPr>
      </p:sp>
      <p:sp>
        <p:nvSpPr>
          <p:cNvPr id="7"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8"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Variation in interpretation</a:t>
            </a:r>
            <a:endParaRPr lang="en-US" sz="2400" dirty="0"/>
          </a:p>
        </p:txBody>
      </p:sp>
      <p:sp>
        <p:nvSpPr>
          <p:cNvPr id="3" name="lead"/>
          <p:cNvSpPr txBox="1"/>
          <p:nvPr/>
        </p:nvSpPr>
        <p:spPr>
          <a:xfrm>
            <a:off x="457200" y="1051560"/>
            <a:ext cx="3200400" cy="2011680"/>
          </a:xfrm>
          <a:prstGeom prst="rect">
            <a:avLst/>
          </a:prstGeom>
          <a:noFill/>
          <a:ln/>
        </p:spPr>
        <p:txBody>
          <a:bodyPr wrap="square" lIns="0" tIns="0" rIns="0" bIns="0" rtlCol="0" anchor="t"/>
          <a:lstStyle/>
          <a:p>
            <a:pPr indent="0" marL="0">
              <a:buNone/>
            </a:pPr>
            <a:r>
              <a:rPr lang="en-US" sz="1800" b="1" dirty="0">
                <a:solidFill>
                  <a:schemeClr val="tx2"/>
                </a:solidFill>
              </a:rPr>
              <a:t>When there are two signals, which signal does a depositor act on, and in what proportion?</a:t>
            </a:r>
            <a:endParaRPr lang="en-US" sz="1800" dirty="0"/>
          </a:p>
        </p:txBody>
      </p:sp>
      <p:pic>
        <p:nvPicPr>
          <p:cNvPr id="4" name="svb" descr="Screenshot of a TechCrunch article of 9 March 2023 headlined Silicon Valley Bank’s shares are tanking as a mess unfolds, with an embedded link Venture firms are advising portfolio companies to move money out of SVB, and a paragraph quoting CEO Greg Becker asking venture clients to stay calm, that’s my ask.">    </p:cNvPr>
          <p:cNvPicPr>
            <a:picLocks noChangeAspect="1"/>
          </p:cNvPicPr>
          <p:nvPr/>
        </p:nvPicPr>
        <p:blipFill>
          <a:blip r:embed="rId1"/>
          <a:stretch>
            <a:fillRect/>
          </a:stretch>
        </p:blipFill>
        <p:spPr>
          <a:xfrm>
            <a:off x="4399453" y="1051560"/>
            <a:ext cx="3728375" cy="3474720"/>
          </a:xfrm>
          <a:prstGeom prst="rect">
            <a:avLst/>
          </a:prstGeom>
        </p:spPr>
      </p:pic>
      <p:sp>
        <p:nvSpPr>
          <p:cNvPr id="5" name="caption"/>
          <p:cNvSpPr txBox="1"/>
          <p:nvPr/>
        </p:nvSpPr>
        <p:spPr>
          <a:xfrm>
            <a:off x="4399453" y="4572000"/>
            <a:ext cx="3728375" cy="274320"/>
          </a:xfrm>
          <a:prstGeom prst="rect">
            <a:avLst/>
          </a:prstGeom>
          <a:noFill/>
          <a:ln/>
        </p:spPr>
        <p:txBody>
          <a:bodyPr wrap="square" lIns="0" tIns="0" rIns="0" bIns="0" rtlCol="0" anchor="ctr"/>
          <a:lstStyle/>
          <a:p>
            <a:pPr indent="0" marL="0">
              <a:buNone/>
            </a:pPr>
            <a:r>
              <a:rPr lang="en-US" sz="1000" i="1" dirty="0">
                <a:solidFill>
                  <a:schemeClr val="accent3"/>
                </a:solidFill>
              </a:rPr>
              <a:t>TechCrunch, 9 March 2023. Screenshot, techcrunch.com.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Cultural economics: a source of stable weights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one weight on two signals</a:t>
            </a:r>
            <a:endParaRPr lang="en-US" sz="2400" dirty="0"/>
          </a:p>
        </p:txBody>
      </p:sp>
      <p:sp>
        <p:nvSpPr>
          <p:cNvPr id="3" name="eq"/>
          <p:cNvSpPr txBox="1"/>
          <p:nvPr/>
        </p:nvSpPr>
        <p:spPr>
          <a:xfrm>
            <a:off x="640080" y="123444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  +  (1 −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endParaRPr lang="en-US" sz="3000" dirty="0"/>
          </a:p>
        </p:txBody>
      </p:sp>
      <p:sp>
        <p:nvSpPr>
          <p:cNvPr id="4" name="types"/>
          <p:cNvSpPr txBox="1"/>
          <p:nvPr/>
        </p:nvSpPr>
        <p:spPr>
          <a:xfrm>
            <a:off x="457200" y="2240280"/>
            <a:ext cx="8229600" cy="685800"/>
          </a:xfrm>
          <a:prstGeom prst="rect">
            <a:avLst/>
          </a:prstGeom>
          <a:noFill/>
          <a:ln/>
        </p:spPr>
        <p:txBody>
          <a:bodyPr wrap="square" lIns="0" tIns="0" rIns="0" bIns="0" rtlCol="0" anchor="ctr"/>
          <a:lstStyle/>
          <a:p>
            <a:pPr algn="ctr" indent="0" marL="0">
              <a:buNone/>
            </a:pPr>
            <a:r>
              <a:rPr lang="en-US" sz="3000" b="1" dirty="0">
                <a:solidFill>
                  <a:srgbClr val="EB6834"/>
                </a:solidFill>
                <a:latin typeface="Cambria" pitchFamily="34" charset="0"/>
                <a:ea typeface="Cambria" pitchFamily="34" charset="-122"/>
                <a:cs typeface="Cambria" pitchFamily="34" charset="-120"/>
              </a:rPr>
              <a:t>Individualists </a:t>
            </a:r>
            <a:pPr algn="ctr" indent="0" marL="0">
              <a:buNone/>
            </a:pPr>
            <a:r>
              <a:rPr lang="en-US" sz="3000" dirty="0">
                <a:solidFill>
                  <a:schemeClr val="tx2"/>
                </a:solidFill>
                <a:latin typeface="Cambria" pitchFamily="34" charset="0"/>
                <a:ea typeface="Cambria" pitchFamily="34" charset="-122"/>
                <a:cs typeface="Cambria" pitchFamily="34" charset="-120"/>
              </a:rPr>
              <a:t>λ</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&lt;  λ</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b="1" dirty="0">
                <a:solidFill>
                  <a:srgbClr val="2A78D6"/>
                </a:solidFill>
                <a:latin typeface="Cambria" pitchFamily="34" charset="0"/>
                <a:ea typeface="Cambria" pitchFamily="34" charset="-122"/>
                <a:cs typeface="Cambria" pitchFamily="34" charset="-120"/>
              </a:rPr>
              <a:t> collectivists</a:t>
            </a:r>
            <a:endParaRPr lang="en-US" sz="3000" dirty="0"/>
          </a:p>
        </p:txBody>
      </p:sp>
      <p:sp>
        <p:nvSpPr>
          <p:cNvPr id="5" name="eq2"/>
          <p:cNvSpPr txBox="1"/>
          <p:nvPr/>
        </p:nvSpPr>
        <p:spPr>
          <a:xfrm>
            <a:off x="640080" y="324612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a:t>
            </a:r>
            <a:endParaRPr lang="en-US" sz="3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in one picture</a:t>
            </a:r>
            <a:endParaRPr lang="en-US" sz="2400" dirty="0"/>
          </a:p>
        </p:txBody>
      </p:sp>
      <p:pic>
        <p:nvPicPr>
          <p:cNvPr id="3" name="odd" descr="Model overview in three columns. Entities: depositors with log-normal deposits capped at 1% of the total, a type and a private signal; a Newman–Watts network; a bank with reserves, a long asset that sells at a discount when cash runs short, and a return that rises with the fundamental; the environment draws the fundamental and a public signal. Schedule: cultural warm-up, draw the run’s world, an exogenous shock, then a tick loop in which each banked depositor observes neighbours and the public signal, forms beliefs with weight λ on the social side, values staying against withdrawing by Monte Carlo, and acts; then period 2 settles the bank and the run is recorded.">    </p:cNvPr>
          <p:cNvPicPr>
            <a:picLocks noChangeAspect="1"/>
          </p:cNvPicPr>
          <p:nvPr/>
        </p:nvPicPr>
        <p:blipFill>
          <a:blip r:embed="rId1"/>
          <a:stretch>
            <a:fillRect/>
          </a:stretch>
        </p:blipFill>
        <p:spPr>
          <a:xfrm>
            <a:off x="755294" y="960120"/>
            <a:ext cx="7633411" cy="365760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Individualists and collectivists: who listens to whom</a:t>
            </a:r>
            <a:endParaRPr lang="en-US" sz="2400" dirty="0"/>
          </a:p>
        </p:txBody>
      </p:sp>
      <p:sp>
        <p:nvSpPr>
          <p:cNvPr id="3" name="type-Individualists"/>
          <p:cNvSpPr/>
          <p:nvPr/>
        </p:nvSpPr>
        <p:spPr>
          <a:xfrm>
            <a:off x="457200" y="1051560"/>
            <a:ext cx="4023360" cy="2377440"/>
          </a:xfrm>
          <a:prstGeom prst="roundRect">
            <a:avLst>
              <a:gd name="adj" fmla="val 3077"/>
            </a:avLst>
          </a:prstGeom>
          <a:solidFill>
            <a:schemeClr val="bg2"/>
          </a:solidFill>
          <a:ln w="12700">
            <a:solidFill>
              <a:schemeClr val="bg2"/>
            </a:solidFill>
            <a:prstDash val="solid"/>
          </a:ln>
        </p:spPr>
      </p:sp>
      <p:sp>
        <p:nvSpPr>
          <p:cNvPr id="4"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5"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6" name="type-Collectivists"/>
          <p:cNvSpPr/>
          <p:nvPr/>
        </p:nvSpPr>
        <p:spPr>
          <a:xfrm>
            <a:off x="4663440" y="1051560"/>
            <a:ext cx="4023360" cy="2377440"/>
          </a:xfrm>
          <a:prstGeom prst="roundRect">
            <a:avLst>
              <a:gd name="adj" fmla="val 3077"/>
            </a:avLst>
          </a:prstGeom>
          <a:solidFill>
            <a:schemeClr val="bg2"/>
          </a:solidFill>
          <a:ln w="12700">
            <a:solidFill>
              <a:schemeClr val="bg2"/>
            </a:solidFill>
            <a:prstDash val="solid"/>
          </a:ln>
        </p:spPr>
      </p:sp>
      <p:sp>
        <p:nvSpPr>
          <p:cNvPr id="7"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8"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9" name="pairs-head"/>
          <p:cNvSpPr txBox="1"/>
          <p:nvPr/>
        </p:nvSpPr>
        <p:spPr>
          <a:xfrm>
            <a:off x="457200" y="3611880"/>
            <a:ext cx="4572000" cy="274320"/>
          </a:xfrm>
          <a:prstGeom prst="rect">
            <a:avLst/>
          </a:prstGeom>
          <a:noFill/>
          <a:ln/>
        </p:spPr>
        <p:txBody>
          <a:bodyPr wrap="square" lIns="0" tIns="0" rIns="0" bIns="0" rtlCol="0" anchor="ctr"/>
          <a:lstStyle/>
          <a:p>
            <a:pPr indent="0" marL="0">
              <a:buNone/>
            </a:pPr>
            <a:r>
              <a:rPr lang="en-US" sz="1100" b="1" dirty="0">
                <a:solidFill>
                  <a:schemeClr val="accent3"/>
                </a:solidFill>
              </a:rPr>
              <a:t>Three pairs (λ individualist, λ collectivist) in the figures</a:t>
            </a:r>
            <a:endParaRPr lang="en-US" sz="1100" dirty="0"/>
          </a:p>
        </p:txBody>
      </p:sp>
      <p:sp>
        <p:nvSpPr>
          <p:cNvPr id="10" name="chip"/>
          <p:cNvSpPr/>
          <p:nvPr/>
        </p:nvSpPr>
        <p:spPr>
          <a:xfrm>
            <a:off x="457200" y="3931920"/>
            <a:ext cx="914400" cy="329184"/>
          </a:xfrm>
          <a:prstGeom prst="roundRect">
            <a:avLst>
              <a:gd name="adj" fmla="val 16667"/>
            </a:avLst>
          </a:prstGeom>
          <a:solidFill>
            <a:schemeClr val="tx2"/>
          </a:solidFill>
          <a:ln w="12700">
            <a:solidFill>
              <a:schemeClr val="tx2"/>
            </a:solidFill>
            <a:prstDash val="solid"/>
          </a:ln>
        </p:spPr>
      </p:sp>
      <p:sp>
        <p:nvSpPr>
          <p:cNvPr id="11" name="chip-label"/>
          <p:cNvSpPr txBox="1"/>
          <p:nvPr/>
        </p:nvSpPr>
        <p:spPr>
          <a:xfrm>
            <a:off x="4572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2" name="pair-label"/>
          <p:cNvSpPr txBox="1"/>
          <p:nvPr/>
        </p:nvSpPr>
        <p:spPr>
          <a:xfrm>
            <a:off x="14173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wide gap</a:t>
            </a:r>
            <a:endParaRPr lang="en-US" sz="1100" dirty="0"/>
          </a:p>
        </p:txBody>
      </p:sp>
      <p:sp>
        <p:nvSpPr>
          <p:cNvPr id="13" name="chip"/>
          <p:cNvSpPr/>
          <p:nvPr/>
        </p:nvSpPr>
        <p:spPr>
          <a:xfrm>
            <a:off x="2057400" y="3931920"/>
            <a:ext cx="914400" cy="329184"/>
          </a:xfrm>
          <a:prstGeom prst="roundRect">
            <a:avLst>
              <a:gd name="adj" fmla="val 16667"/>
            </a:avLst>
          </a:prstGeom>
          <a:solidFill>
            <a:schemeClr val="accent3"/>
          </a:solidFill>
          <a:ln w="12700">
            <a:solidFill>
              <a:schemeClr val="accent3"/>
            </a:solidFill>
            <a:prstDash val="solid"/>
          </a:ln>
        </p:spPr>
      </p:sp>
      <p:sp>
        <p:nvSpPr>
          <p:cNvPr id="14" name="chip-label"/>
          <p:cNvSpPr txBox="1"/>
          <p:nvPr/>
        </p:nvSpPr>
        <p:spPr>
          <a:xfrm>
            <a:off x="20574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5" name="pair-label"/>
          <p:cNvSpPr txBox="1"/>
          <p:nvPr/>
        </p:nvSpPr>
        <p:spPr>
          <a:xfrm>
            <a:off x="30175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medium</a:t>
            </a:r>
            <a:endParaRPr lang="en-US" sz="1100" dirty="0"/>
          </a:p>
        </p:txBody>
      </p:sp>
      <p:sp>
        <p:nvSpPr>
          <p:cNvPr id="16" name="chip"/>
          <p:cNvSpPr/>
          <p:nvPr/>
        </p:nvSpPr>
        <p:spPr>
          <a:xfrm>
            <a:off x="3657600" y="3931920"/>
            <a:ext cx="914400" cy="329184"/>
          </a:xfrm>
          <a:prstGeom prst="roundRect">
            <a:avLst>
              <a:gd name="adj" fmla="val 16667"/>
            </a:avLst>
          </a:prstGeom>
          <a:solidFill>
            <a:schemeClr val="accent4"/>
          </a:solidFill>
          <a:ln w="12700">
            <a:solidFill>
              <a:schemeClr val="accent4"/>
            </a:solidFill>
            <a:prstDash val="solid"/>
          </a:ln>
        </p:spPr>
      </p:sp>
      <p:sp>
        <p:nvSpPr>
          <p:cNvPr id="17" name="chip-label"/>
          <p:cNvSpPr txBox="1"/>
          <p:nvPr/>
        </p:nvSpPr>
        <p:spPr>
          <a:xfrm>
            <a:off x="3657600" y="393192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8" name="pair-label"/>
          <p:cNvSpPr txBox="1"/>
          <p:nvPr/>
        </p:nvSpPr>
        <p:spPr>
          <a:xfrm>
            <a:off x="46177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narrow</a:t>
            </a:r>
            <a:endParaRPr lang="en-US" sz="1100" dirty="0"/>
          </a:p>
        </p:txBody>
      </p:sp>
      <p:sp>
        <p:nvSpPr>
          <p:cNvPr id="19" name="mu-note"/>
          <p:cNvSpPr txBox="1"/>
          <p:nvPr/>
        </p:nvSpPr>
        <p:spPr>
          <a:xfrm>
            <a:off x="5303520" y="3611880"/>
            <a:ext cx="3383280" cy="822960"/>
          </a:xfrm>
          <a:prstGeom prst="rect">
            <a:avLst/>
          </a:prstGeom>
          <a:noFill/>
          <a:ln/>
        </p:spPr>
        <p:txBody>
          <a:bodyPr wrap="square" lIns="0" tIns="0" rIns="0" bIns="0" rtlCol="0" anchor="t"/>
          <a:lstStyle/>
          <a:p>
            <a:pPr indent="0" marL="0">
              <a:buNone/>
            </a:pPr>
            <a:r>
              <a:rPr lang="en-US" sz="1100" dirty="0">
                <a:solidFill>
                  <a:schemeClr val="accent3"/>
                </a:solidFill>
              </a:rPr>
              <a:t>The share of individualists μ is set by a cultural warm-up on the network. </a:t>
            </a:r>
            <a:pPr indent="0" marL="0">
              <a:buNone/>
            </a:pPr>
            <a:r>
              <a:rPr lang="en-US" sz="1100" b="1" dirty="0">
                <a:solidFill>
                  <a:srgbClr val="EB6834"/>
                </a:solidFill>
              </a:rPr>
              <a:t>Orange = individualists</a:t>
            </a:r>
            <a:pPr indent="0" marL="0">
              <a:buNone/>
            </a:pPr>
            <a:r>
              <a:rPr lang="en-US" sz="1100" dirty="0">
                <a:solidFill>
                  <a:schemeClr val="accent3"/>
                </a:solidFill>
              </a:rPr>
              <a:t>, </a:t>
            </a:r>
            <a:pPr indent="0" marL="0">
              <a:buNone/>
            </a:pPr>
            <a:r>
              <a:rPr lang="en-US" sz="1100" b="1" dirty="0">
                <a:solidFill>
                  <a:srgbClr val="2A78D6"/>
                </a:solidFill>
              </a:rPr>
              <a:t>blue = collectivists</a:t>
            </a:r>
            <a:pPr indent="0" marL="0">
              <a:buNone/>
            </a:pPr>
            <a:r>
              <a:rPr lang="en-US" sz="1100" dirty="0">
                <a:solidFill>
                  <a:schemeClr val="accent3"/>
                </a:solidFill>
              </a:rPr>
              <a:t> throughout.</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1738480" y="1005840"/>
            <a:ext cx="5667040"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1821553" y="1005840"/>
            <a:ext cx="5500893"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730766" y="1005840"/>
            <a:ext cx="7682469"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Varying the deposit-size distribution</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1861284" y="1005840"/>
            <a:ext cx="5421432"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1711391" y="1005840"/>
            <a:ext cx="5721218"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Takeaways and next steps</a:t>
            </a:r>
            <a:endParaRPr lang="en-US" sz="2400" dirty="0"/>
          </a:p>
        </p:txBody>
      </p:sp>
      <p:sp>
        <p:nvSpPr>
          <p:cNvPr id="3" name="take-0"/>
          <p:cNvSpPr/>
          <p:nvPr/>
        </p:nvSpPr>
        <p:spPr>
          <a:xfrm>
            <a:off x="457200" y="1051560"/>
            <a:ext cx="5760720" cy="512064"/>
          </a:xfrm>
          <a:prstGeom prst="roundRect">
            <a:avLst>
              <a:gd name="adj" fmla="val 14286"/>
            </a:avLst>
          </a:prstGeom>
          <a:solidFill>
            <a:schemeClr val="bg2"/>
          </a:solidFill>
          <a:ln w="12700">
            <a:solidFill>
              <a:schemeClr val="bg2"/>
            </a:solidFill>
            <a:prstDash val="solid"/>
          </a:ln>
        </p:spPr>
      </p:sp>
      <p:sp>
        <p:nvSpPr>
          <p:cNvPr id="4" name="chip"/>
          <p:cNvSpPr/>
          <p:nvPr/>
        </p:nvSpPr>
        <p:spPr>
          <a:xfrm>
            <a:off x="548640" y="1143000"/>
            <a:ext cx="329184" cy="329184"/>
          </a:xfrm>
          <a:prstGeom prst="roundRect">
            <a:avLst>
              <a:gd name="adj" fmla="val 16667"/>
            </a:avLst>
          </a:prstGeom>
          <a:solidFill>
            <a:schemeClr val="accent1"/>
          </a:solidFill>
          <a:ln w="12700">
            <a:solidFill>
              <a:schemeClr val="accent1"/>
            </a:solidFill>
            <a:prstDash val="solid"/>
          </a:ln>
        </p:spPr>
      </p:sp>
      <p:sp>
        <p:nvSpPr>
          <p:cNvPr id="5" name="chip-label"/>
          <p:cNvSpPr txBox="1"/>
          <p:nvPr/>
        </p:nvSpPr>
        <p:spPr>
          <a:xfrm>
            <a:off x="548640" y="114300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1</a:t>
            </a:r>
            <a:endParaRPr lang="en-US" sz="1100" dirty="0"/>
          </a:p>
        </p:txBody>
      </p:sp>
      <p:sp>
        <p:nvSpPr>
          <p:cNvPr id="6" name="take-head"/>
          <p:cNvSpPr txBox="1"/>
          <p:nvPr/>
        </p:nvSpPr>
        <p:spPr>
          <a:xfrm>
            <a:off x="987552" y="108813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Sorting follows the news</a:t>
            </a:r>
            <a:endParaRPr lang="en-US" sz="1100" dirty="0"/>
          </a:p>
        </p:txBody>
      </p:sp>
      <p:sp>
        <p:nvSpPr>
          <p:cNvPr id="7" name="take-body"/>
          <p:cNvSpPr txBox="1"/>
          <p:nvPr/>
        </p:nvSpPr>
        <p:spPr>
          <a:xfrm>
            <a:off x="2651760" y="1088136"/>
            <a:ext cx="3474720" cy="438912"/>
          </a:xfrm>
          <a:prstGeom prst="rect">
            <a:avLst/>
          </a:prstGeom>
          <a:noFill/>
          <a:ln/>
        </p:spPr>
        <p:txBody>
          <a:bodyPr wrap="square" lIns="0" tIns="0" rIns="0" bIns="0" rtlCol="0" anchor="ctr"/>
          <a:lstStyle/>
          <a:p>
            <a:pPr indent="0" marL="0">
              <a:buNone/>
            </a:pPr>
            <a:r>
              <a:rPr lang="en-US" sz="1000" dirty="0">
                <a:solidFill>
                  <a:schemeClr val="tx1"/>
                </a:solidFill>
              </a:rPr>
              <a:t>Optimistic public news makes individualists run relatively more; pessimistic news, collectivists. 3 of 4 pre-registered tests pass, in all three bank versions.</a:t>
            </a:r>
            <a:endParaRPr lang="en-US" sz="1000" dirty="0"/>
          </a:p>
        </p:txBody>
      </p:sp>
      <p:sp>
        <p:nvSpPr>
          <p:cNvPr id="8" name="take-1"/>
          <p:cNvSpPr/>
          <p:nvPr/>
        </p:nvSpPr>
        <p:spPr>
          <a:xfrm>
            <a:off x="457200" y="1636776"/>
            <a:ext cx="5760720" cy="512064"/>
          </a:xfrm>
          <a:prstGeom prst="roundRect">
            <a:avLst>
              <a:gd name="adj" fmla="val 14286"/>
            </a:avLst>
          </a:prstGeom>
          <a:solidFill>
            <a:schemeClr val="bg2"/>
          </a:solidFill>
          <a:ln w="12700">
            <a:solidFill>
              <a:schemeClr val="bg2"/>
            </a:solidFill>
            <a:prstDash val="solid"/>
          </a:ln>
        </p:spPr>
      </p:sp>
      <p:sp>
        <p:nvSpPr>
          <p:cNvPr id="9" name="chip"/>
          <p:cNvSpPr/>
          <p:nvPr/>
        </p:nvSpPr>
        <p:spPr>
          <a:xfrm>
            <a:off x="548640" y="1728216"/>
            <a:ext cx="329184" cy="329184"/>
          </a:xfrm>
          <a:prstGeom prst="roundRect">
            <a:avLst>
              <a:gd name="adj" fmla="val 16667"/>
            </a:avLst>
          </a:prstGeom>
          <a:solidFill>
            <a:schemeClr val="accent1"/>
          </a:solidFill>
          <a:ln w="12700">
            <a:solidFill>
              <a:schemeClr val="accent1"/>
            </a:solidFill>
            <a:prstDash val="solid"/>
          </a:ln>
        </p:spPr>
      </p:sp>
      <p:sp>
        <p:nvSpPr>
          <p:cNvPr id="10" name="chip-label"/>
          <p:cNvSpPr txBox="1"/>
          <p:nvPr/>
        </p:nvSpPr>
        <p:spPr>
          <a:xfrm>
            <a:off x="548640" y="1728216"/>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2</a:t>
            </a:r>
            <a:endParaRPr lang="en-US" sz="1100" dirty="0"/>
          </a:p>
        </p:txBody>
      </p:sp>
      <p:sp>
        <p:nvSpPr>
          <p:cNvPr id="11" name="take-head"/>
          <p:cNvSpPr txBox="1"/>
          <p:nvPr/>
        </p:nvSpPr>
        <p:spPr>
          <a:xfrm>
            <a:off x="987552" y="1673352"/>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Collectivists herd</a:t>
            </a:r>
            <a:endParaRPr lang="en-US" sz="1100" dirty="0"/>
          </a:p>
        </p:txBody>
      </p:sp>
      <p:sp>
        <p:nvSpPr>
          <p:cNvPr id="12" name="take-body"/>
          <p:cNvSpPr txBox="1"/>
          <p:nvPr/>
        </p:nvSpPr>
        <p:spPr>
          <a:xfrm>
            <a:off x="2651760" y="1673352"/>
            <a:ext cx="3474720" cy="438912"/>
          </a:xfrm>
          <a:prstGeom prst="rect">
            <a:avLst/>
          </a:prstGeom>
          <a:noFill/>
          <a:ln/>
        </p:spPr>
        <p:txBody>
          <a:bodyPr wrap="square" lIns="0" tIns="0" rIns="0" bIns="0" rtlCol="0" anchor="ctr"/>
          <a:lstStyle/>
          <a:p>
            <a:pPr indent="0" marL="0">
              <a:buNone/>
            </a:pPr>
            <a:r>
              <a:rPr lang="en-US" sz="1000" dirty="0">
                <a:solidFill>
                  <a:schemeClr val="tx1"/>
                </a:solidFill>
              </a:rPr>
              <a:t>Their chance of withdrawing jumps from 0.15 to 0.93 once 20–35% of neighbours are out; individualists level off near 0.3.</a:t>
            </a:r>
            <a:endParaRPr lang="en-US" sz="1000" dirty="0"/>
          </a:p>
        </p:txBody>
      </p:sp>
      <p:sp>
        <p:nvSpPr>
          <p:cNvPr id="13" name="take-2"/>
          <p:cNvSpPr/>
          <p:nvPr/>
        </p:nvSpPr>
        <p:spPr>
          <a:xfrm>
            <a:off x="457200" y="2221992"/>
            <a:ext cx="5760720" cy="512064"/>
          </a:xfrm>
          <a:prstGeom prst="roundRect">
            <a:avLst>
              <a:gd name="adj" fmla="val 14286"/>
            </a:avLst>
          </a:prstGeom>
          <a:solidFill>
            <a:schemeClr val="bg2"/>
          </a:solidFill>
          <a:ln w="12700">
            <a:solidFill>
              <a:schemeClr val="bg2"/>
            </a:solidFill>
            <a:prstDash val="solid"/>
          </a:ln>
        </p:spPr>
      </p:sp>
      <p:sp>
        <p:nvSpPr>
          <p:cNvPr id="14" name="chip"/>
          <p:cNvSpPr/>
          <p:nvPr/>
        </p:nvSpPr>
        <p:spPr>
          <a:xfrm>
            <a:off x="548640" y="2313432"/>
            <a:ext cx="329184" cy="329184"/>
          </a:xfrm>
          <a:prstGeom prst="roundRect">
            <a:avLst>
              <a:gd name="adj" fmla="val 16667"/>
            </a:avLst>
          </a:prstGeom>
          <a:solidFill>
            <a:schemeClr val="accent1"/>
          </a:solidFill>
          <a:ln w="12700">
            <a:solidFill>
              <a:schemeClr val="accent1"/>
            </a:solidFill>
            <a:prstDash val="solid"/>
          </a:ln>
        </p:spPr>
      </p:sp>
      <p:sp>
        <p:nvSpPr>
          <p:cNvPr id="15" name="chip-label"/>
          <p:cNvSpPr txBox="1"/>
          <p:nvPr/>
        </p:nvSpPr>
        <p:spPr>
          <a:xfrm>
            <a:off x="548640" y="23134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3</a:t>
            </a:r>
            <a:endParaRPr lang="en-US" sz="1100" dirty="0"/>
          </a:p>
        </p:txBody>
      </p:sp>
      <p:sp>
        <p:nvSpPr>
          <p:cNvPr id="16" name="take-head"/>
          <p:cNvSpPr txBox="1"/>
          <p:nvPr/>
        </p:nvSpPr>
        <p:spPr>
          <a:xfrm>
            <a:off x="987552" y="2258568"/>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More individualists, fewer failures</a:t>
            </a:r>
            <a:endParaRPr lang="en-US" sz="1100" dirty="0"/>
          </a:p>
        </p:txBody>
      </p:sp>
      <p:sp>
        <p:nvSpPr>
          <p:cNvPr id="17" name="take-body"/>
          <p:cNvSpPr txBox="1"/>
          <p:nvPr/>
        </p:nvSpPr>
        <p:spPr>
          <a:xfrm>
            <a:off x="2651760" y="2258568"/>
            <a:ext cx="3474720" cy="438912"/>
          </a:xfrm>
          <a:prstGeom prst="rect">
            <a:avLst/>
          </a:prstGeom>
          <a:noFill/>
          <a:ln/>
        </p:spPr>
        <p:txBody>
          <a:bodyPr wrap="square" lIns="0" tIns="0" rIns="0" bIns="0" rtlCol="0" anchor="ctr"/>
          <a:lstStyle/>
          <a:p>
            <a:pPr indent="0" marL="0">
              <a:buNone/>
            </a:pPr>
            <a:r>
              <a:rPr lang="en-US" sz="1000" dirty="0">
                <a:solidFill>
                  <a:schemeClr val="tx1"/>
                </a:solidFill>
              </a:rPr>
              <a:t>P(fail) falls from 0.67 to 0.08 as the individualist share goes from 0 to 1. Monotone; no interior peak.</a:t>
            </a:r>
            <a:endParaRPr lang="en-US" sz="1000" dirty="0"/>
          </a:p>
        </p:txBody>
      </p:sp>
      <p:sp>
        <p:nvSpPr>
          <p:cNvPr id="18" name="take-3"/>
          <p:cNvSpPr/>
          <p:nvPr/>
        </p:nvSpPr>
        <p:spPr>
          <a:xfrm>
            <a:off x="457200" y="2807208"/>
            <a:ext cx="5760720" cy="512064"/>
          </a:xfrm>
          <a:prstGeom prst="roundRect">
            <a:avLst>
              <a:gd name="adj" fmla="val 14286"/>
            </a:avLst>
          </a:prstGeom>
          <a:solidFill>
            <a:schemeClr val="bg2"/>
          </a:solidFill>
          <a:ln w="12700">
            <a:solidFill>
              <a:schemeClr val="bg2"/>
            </a:solidFill>
            <a:prstDash val="solid"/>
          </a:ln>
        </p:spPr>
      </p:sp>
      <p:sp>
        <p:nvSpPr>
          <p:cNvPr id="19" name="chip"/>
          <p:cNvSpPr/>
          <p:nvPr/>
        </p:nvSpPr>
        <p:spPr>
          <a:xfrm>
            <a:off x="548640" y="2898648"/>
            <a:ext cx="329184" cy="329184"/>
          </a:xfrm>
          <a:prstGeom prst="roundRect">
            <a:avLst>
              <a:gd name="adj" fmla="val 16667"/>
            </a:avLst>
          </a:prstGeom>
          <a:solidFill>
            <a:schemeClr val="accent1"/>
          </a:solidFill>
          <a:ln w="12700">
            <a:solidFill>
              <a:schemeClr val="accent1"/>
            </a:solidFill>
            <a:prstDash val="solid"/>
          </a:ln>
        </p:spPr>
      </p:sp>
      <p:sp>
        <p:nvSpPr>
          <p:cNvPr id="20" name="chip-label"/>
          <p:cNvSpPr txBox="1"/>
          <p:nvPr/>
        </p:nvSpPr>
        <p:spPr>
          <a:xfrm>
            <a:off x="548640" y="2898648"/>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4</a:t>
            </a:r>
            <a:endParaRPr lang="en-US" sz="1100" dirty="0"/>
          </a:p>
        </p:txBody>
      </p:sp>
      <p:sp>
        <p:nvSpPr>
          <p:cNvPr id="21" name="take-head"/>
          <p:cNvSpPr txBox="1"/>
          <p:nvPr/>
        </p:nvSpPr>
        <p:spPr>
          <a:xfrm>
            <a:off x="987552" y="2843784"/>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Stale news cuts both ways</a:t>
            </a:r>
            <a:endParaRPr lang="en-US" sz="1100" dirty="0"/>
          </a:p>
        </p:txBody>
      </p:sp>
      <p:sp>
        <p:nvSpPr>
          <p:cNvPr id="22" name="take-body"/>
          <p:cNvSpPr txBox="1"/>
          <p:nvPr/>
        </p:nvSpPr>
        <p:spPr>
          <a:xfrm>
            <a:off x="2651760" y="2843784"/>
            <a:ext cx="3474720" cy="438912"/>
          </a:xfrm>
          <a:prstGeom prst="rect">
            <a:avLst/>
          </a:prstGeom>
          <a:noFill/>
          <a:ln/>
        </p:spPr>
        <p:txBody>
          <a:bodyPr wrap="square" lIns="0" tIns="0" rIns="0" bIns="0" rtlCol="0" anchor="ctr"/>
          <a:lstStyle/>
          <a:p>
            <a:pPr indent="0" marL="0">
              <a:buNone/>
            </a:pPr>
            <a:r>
              <a:rPr lang="en-US" sz="1000" dirty="0">
                <a:solidFill>
                  <a:schemeClr val="tx1"/>
                </a:solidFill>
              </a:rPr>
              <a:t>A stale optimistic signal halves failure, a stale pessimistic one raises it by half. Accurate news barely moves it.</a:t>
            </a:r>
            <a:endParaRPr lang="en-US" sz="1000" dirty="0"/>
          </a:p>
        </p:txBody>
      </p:sp>
      <p:sp>
        <p:nvSpPr>
          <p:cNvPr id="23" name="take-4"/>
          <p:cNvSpPr/>
          <p:nvPr/>
        </p:nvSpPr>
        <p:spPr>
          <a:xfrm>
            <a:off x="457200" y="3392424"/>
            <a:ext cx="5760720" cy="512064"/>
          </a:xfrm>
          <a:prstGeom prst="roundRect">
            <a:avLst>
              <a:gd name="adj" fmla="val 14286"/>
            </a:avLst>
          </a:prstGeom>
          <a:solidFill>
            <a:schemeClr val="bg2"/>
          </a:solidFill>
          <a:ln w="12700">
            <a:solidFill>
              <a:schemeClr val="bg2"/>
            </a:solidFill>
            <a:prstDash val="solid"/>
          </a:ln>
        </p:spPr>
      </p:sp>
      <p:sp>
        <p:nvSpPr>
          <p:cNvPr id="24" name="chip"/>
          <p:cNvSpPr/>
          <p:nvPr/>
        </p:nvSpPr>
        <p:spPr>
          <a:xfrm>
            <a:off x="548640" y="3483864"/>
            <a:ext cx="329184" cy="329184"/>
          </a:xfrm>
          <a:prstGeom prst="roundRect">
            <a:avLst>
              <a:gd name="adj" fmla="val 16667"/>
            </a:avLst>
          </a:prstGeom>
          <a:solidFill>
            <a:schemeClr val="accent1"/>
          </a:solidFill>
          <a:ln w="12700">
            <a:solidFill>
              <a:schemeClr val="accent1"/>
            </a:solidFill>
            <a:prstDash val="solid"/>
          </a:ln>
        </p:spPr>
      </p:sp>
      <p:sp>
        <p:nvSpPr>
          <p:cNvPr id="25" name="chip-label"/>
          <p:cNvSpPr txBox="1"/>
          <p:nvPr/>
        </p:nvSpPr>
        <p:spPr>
          <a:xfrm>
            <a:off x="548640" y="3483864"/>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5</a:t>
            </a:r>
            <a:endParaRPr lang="en-US" sz="1100" dirty="0"/>
          </a:p>
        </p:txBody>
      </p:sp>
      <p:sp>
        <p:nvSpPr>
          <p:cNvPr id="26" name="take-head"/>
          <p:cNvSpPr txBox="1"/>
          <p:nvPr/>
        </p:nvSpPr>
        <p:spPr>
          <a:xfrm>
            <a:off x="987552" y="3429000"/>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Capping the largest deposits</a:t>
            </a:r>
            <a:endParaRPr lang="en-US" sz="1100" dirty="0"/>
          </a:p>
        </p:txBody>
      </p:sp>
      <p:sp>
        <p:nvSpPr>
          <p:cNvPr id="27" name="take-body"/>
          <p:cNvSpPr txBox="1"/>
          <p:nvPr/>
        </p:nvSpPr>
        <p:spPr>
          <a:xfrm>
            <a:off x="2651760" y="3429000"/>
            <a:ext cx="3474720" cy="438912"/>
          </a:xfrm>
          <a:prstGeom prst="rect">
            <a:avLst/>
          </a:prstGeom>
          <a:noFill/>
          <a:ln/>
        </p:spPr>
        <p:txBody>
          <a:bodyPr wrap="square" lIns="0" tIns="0" rIns="0" bIns="0" rtlCol="0" anchor="ctr"/>
          <a:lstStyle/>
          <a:p>
            <a:pPr indent="0" marL="0">
              <a:buNone/>
            </a:pPr>
            <a:r>
              <a:rPr lang="en-US" sz="1000" dirty="0">
                <a:solidFill>
                  <a:schemeClr val="tx1"/>
                </a:solidFill>
              </a:rPr>
              <a:t>A 1% cap brings failure down to the no-concentration bank’s level; the culture gradient is unchanged.</a:t>
            </a:r>
            <a:endParaRPr lang="en-US" sz="1000" dirty="0"/>
          </a:p>
        </p:txBody>
      </p:sp>
      <p:sp>
        <p:nvSpPr>
          <p:cNvPr id="28" name="take-5"/>
          <p:cNvSpPr/>
          <p:nvPr/>
        </p:nvSpPr>
        <p:spPr>
          <a:xfrm>
            <a:off x="457200" y="3977640"/>
            <a:ext cx="5760720" cy="512064"/>
          </a:xfrm>
          <a:prstGeom prst="roundRect">
            <a:avLst>
              <a:gd name="adj" fmla="val 14286"/>
            </a:avLst>
          </a:prstGeom>
          <a:solidFill>
            <a:schemeClr val="accent4"/>
          </a:solidFill>
          <a:ln w="12700">
            <a:solidFill>
              <a:schemeClr val="accent4"/>
            </a:solidFill>
            <a:prstDash val="solid"/>
          </a:ln>
        </p:spPr>
      </p:sp>
      <p:sp>
        <p:nvSpPr>
          <p:cNvPr id="29" name="chip"/>
          <p:cNvSpPr/>
          <p:nvPr/>
        </p:nvSpPr>
        <p:spPr>
          <a:xfrm>
            <a:off x="548640" y="4069080"/>
            <a:ext cx="329184" cy="329184"/>
          </a:xfrm>
          <a:prstGeom prst="roundRect">
            <a:avLst>
              <a:gd name="adj" fmla="val 16667"/>
            </a:avLst>
          </a:prstGeom>
          <a:solidFill>
            <a:schemeClr val="accent2"/>
          </a:solidFill>
          <a:ln w="12700">
            <a:solidFill>
              <a:schemeClr val="accent2"/>
            </a:solidFill>
            <a:prstDash val="solid"/>
          </a:ln>
        </p:spPr>
      </p:sp>
      <p:sp>
        <p:nvSpPr>
          <p:cNvPr id="30" name="chip-label"/>
          <p:cNvSpPr txBox="1"/>
          <p:nvPr/>
        </p:nvSpPr>
        <p:spPr>
          <a:xfrm>
            <a:off x="548640" y="406908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6</a:t>
            </a:r>
            <a:endParaRPr lang="en-US" sz="1100" dirty="0"/>
          </a:p>
        </p:txBody>
      </p:sp>
      <p:sp>
        <p:nvSpPr>
          <p:cNvPr id="31" name="take-head"/>
          <p:cNvSpPr txBox="1"/>
          <p:nvPr/>
        </p:nvSpPr>
        <p:spPr>
          <a:xfrm>
            <a:off x="987552" y="401421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Not yet matched</a:t>
            </a:r>
            <a:endParaRPr lang="en-US" sz="1100" dirty="0"/>
          </a:p>
        </p:txBody>
      </p:sp>
      <p:sp>
        <p:nvSpPr>
          <p:cNvPr id="32" name="take-body"/>
          <p:cNvSpPr txBox="1"/>
          <p:nvPr/>
        </p:nvSpPr>
        <p:spPr>
          <a:xfrm>
            <a:off x="2651760" y="4014216"/>
            <a:ext cx="3474720" cy="438912"/>
          </a:xfrm>
          <a:prstGeom prst="rect">
            <a:avLst/>
          </a:prstGeom>
          <a:noFill/>
          <a:ln/>
        </p:spPr>
        <p:txBody>
          <a:bodyPr wrap="square" lIns="0" tIns="0" rIns="0" bIns="0" rtlCol="0" anchor="ctr"/>
          <a:lstStyle/>
          <a:p>
            <a:pPr indent="0" marL="0">
              <a:buNone/>
            </a:pPr>
            <a:r>
              <a:rPr lang="en-US" sz="1000" dirty="0">
                <a:solidFill>
                  <a:schemeClr val="tx1"/>
                </a:solidFill>
              </a:rPr>
              <a:t>How Celsius’s largest depositors exit: one-shot share 0.35 there, 0.93 or more in the model.</a:t>
            </a:r>
            <a:endParaRPr lang="en-US" sz="1000" dirty="0"/>
          </a:p>
        </p:txBody>
      </p:sp>
      <p:sp>
        <p:nvSpPr>
          <p:cNvPr id="33" name="next"/>
          <p:cNvSpPr/>
          <p:nvPr/>
        </p:nvSpPr>
        <p:spPr>
          <a:xfrm>
            <a:off x="6400800" y="1051560"/>
            <a:ext cx="2286000" cy="3438144"/>
          </a:xfrm>
          <a:prstGeom prst="roundRect">
            <a:avLst>
              <a:gd name="adj" fmla="val 3200"/>
            </a:avLst>
          </a:prstGeom>
          <a:solidFill>
            <a:schemeClr val="bg2"/>
          </a:solidFill>
          <a:ln w="12700">
            <a:solidFill>
              <a:schemeClr val="bg2"/>
            </a:solidFill>
            <a:prstDash val="solid"/>
          </a:ln>
        </p:spPr>
      </p:sp>
      <p:sp>
        <p:nvSpPr>
          <p:cNvPr id="34" name="next-head"/>
          <p:cNvSpPr txBox="1"/>
          <p:nvPr/>
        </p:nvSpPr>
        <p:spPr>
          <a:xfrm>
            <a:off x="6537960" y="1143000"/>
            <a:ext cx="2011680" cy="320040"/>
          </a:xfrm>
          <a:prstGeom prst="rect">
            <a:avLst/>
          </a:prstGeom>
          <a:noFill/>
          <a:ln/>
        </p:spPr>
        <p:txBody>
          <a:bodyPr wrap="square" lIns="0" tIns="0" rIns="0" bIns="0" rtlCol="0" anchor="ctr"/>
          <a:lstStyle/>
          <a:p>
            <a:pPr indent="0" marL="0">
              <a:buNone/>
            </a:pPr>
            <a:r>
              <a:rPr lang="en-US" sz="1300" b="1" dirty="0">
                <a:solidFill>
                  <a:schemeClr val="tx2"/>
                </a:solidFill>
              </a:rPr>
              <a:t>Next steps</a:t>
            </a:r>
            <a:endParaRPr lang="en-US" sz="1300" dirty="0"/>
          </a:p>
        </p:txBody>
      </p:sp>
      <p:sp>
        <p:nvSpPr>
          <p:cNvPr id="35" name="bullets"/>
          <p:cNvSpPr txBox="1"/>
          <p:nvPr/>
        </p:nvSpPr>
        <p:spPr>
          <a:xfrm>
            <a:off x="6537960" y="1508760"/>
            <a:ext cx="2011680" cy="292608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chemeClr val="tx1"/>
                </a:solidFill>
              </a:rPr>
              <a:t>Super-individuals, to match how the largest depositors exited Celsius</a:t>
            </a:r>
            <a:endParaRPr lang="en-US" sz="1100" dirty="0"/>
          </a:p>
          <a:p>
            <a:pPr marL="177800" indent="-177800">
              <a:spcAft>
                <a:spcPts val="700"/>
              </a:spcAft>
              <a:buSzPct val="100000"/>
              <a:buChar char="•"/>
            </a:pPr>
            <a:r>
              <a:rPr lang="en-US" sz="1100" dirty="0">
                <a:solidFill>
                  <a:schemeClr val="tx1"/>
                </a:solidFill>
              </a:rPr>
              <a:t>Deposit insurance and the reserve ratio on the fire-sale bank</a:t>
            </a:r>
            <a:endParaRPr lang="en-US" sz="1100" dirty="0"/>
          </a:p>
          <a:p>
            <a:pPr marL="177800" indent="-177800">
              <a:spcAft>
                <a:spcPts val="700"/>
              </a:spcAft>
              <a:buSzPct val="100000"/>
              <a:buChar char="•"/>
            </a:pPr>
            <a:r>
              <a:rPr lang="en-US" sz="1100" dirty="0">
                <a:solidFill>
                  <a:schemeClr val="tx1"/>
                </a:solidFill>
              </a:rPr>
              <a:t>Network topology and learning</a:t>
            </a:r>
            <a:endParaRPr lang="en-US" sz="1100" dirty="0"/>
          </a:p>
          <a:p>
            <a:pPr marL="177800" indent="-177800">
              <a:spcAft>
                <a:spcPts val="700"/>
              </a:spcAft>
              <a:buSzPct val="100000"/>
              <a:buChar char="•"/>
            </a:pPr>
            <a:r>
              <a:rPr lang="en-US" sz="1100" dirty="0">
                <a:solidFill>
                  <a:schemeClr val="tx1"/>
                </a:solidFill>
              </a:rPr>
              <a:t>Full sweep: stale public signal plus no-signal baseline, CARA 0.1, σ reported</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Agent-based Diamond–Dybvig with cultural heterogeneity</dc:title>
  <dc:subject>PptxGenJS Presentation</dc:subject>
  <dc:creator>Walter Stover</dc:creator>
  <cp:lastModifiedBy>Walter Stover</cp:lastModifiedBy>
  <cp:revision>1</cp:revision>
  <dcterms:created xsi:type="dcterms:W3CDTF">2026-10-26T12:31:54Z</dcterms:created>
  <dcterms:modified xsi:type="dcterms:W3CDTF">2026-10-26T12:31:54Z</dcterms:modified>
</cp:coreProperties>
</file>