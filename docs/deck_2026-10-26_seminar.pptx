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c0f1e0c-7c18-eb01-bf6a-11c8510f56ac}">
          <p14:sldIdLst>
            <p14:sldId id="256"/>
            <p14:sldId id="257"/>
            <p14:sldId id="258"/>
            <p14:sldId id="259"/>
            <p14:sldId id="260"/>
            <p14:sldId id="261"/>
          </p14:sldIdLst>
        </p14:section>
        <p14:section name="The model" id="{5c1b3cfd-5638-9a33-58d5-7f895a2e268f}">
          <p14:sldIdLst>
            <p14:sldId id="262"/>
            <p14:sldId id="263"/>
          </p14:sldIdLst>
        </p14:section>
        <p14:section name="Results" id="{bff05c9e-5350-fc9e-a1bc-a5ca9e23503c}">
          <p14:sldIdLst>
            <p14:sldId id="264"/>
            <p14:sldId id="265"/>
            <p14:sldId id="266"/>
            <p14:sldId id="267"/>
          </p14:sldIdLst>
        </p14:section>
        <p14:section name="Validation" id="{e569a8c1-abeb-152c-bec6-dd04644ace26}">
          <p14:sldIdLst>
            <p14:sldId id="268"/>
          </p14:sldIdLst>
        </p14:section>
        <p14:section name="Close" id="{b73275a0-fad0-4d42-c4db-b551958915af}">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Talk through the diagram. Left: N = 1,000 depositors, deposits log-normal (sigma 2.5) capped at 1% of the total (Celsius's largest account); types I and C from the warm-up; a Newman-Watts network; the fire-sale bank (reserves rD in cash, the rest plus equity in a long asset sold at a 60% haircut if cash runs short; it fails at period 2 if cash plus the asset at R(theta) is below its promises); theta uniform per run and a public signal that is absent, accurate or stale. Middle and right: warm-up, draw the world, shock, then the tick loop: observe neighbours and the news, blend each with your own information using lambda, value staying against withdrawing (a fraction, partial withdrawals allowed) by Monte Carlo, act. 25 initialisations x 10 draws per cell. Outcomes: D = individualists' minus collectivists' withdrawal share among those not hit by the shock; P(fail) = share of runs that fail. Risk aversion is in the model (CARA) but not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ctr" indent="0" marL="0">
              <a:buNone/>
              <a:defRPr lang="en-US" sz="3400" b="1" dirty="0">
                <a:solidFill>
                  <a:schemeClr val="bg1"/>
                </a:solidFill>
              </a:defRPr>
            </a:lvl1pPr>
          </a:lstStyle>
          <a:p>
            <a:pPr algn="ctr"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algn="ctr" indent="0" marL="0">
              <a:buNone/>
              <a:defRPr lang="en-US" sz="1800" dirty="0">
                <a:solidFill>
                  <a:schemeClr val="accent4"/>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ctr" indent="0" marL="0">
              <a:buNone/>
              <a:defRPr lang="en-US" sz="2400" b="1" dirty="0">
                <a:solidFill>
                  <a:schemeClr val="tx2"/>
                </a:solidFill>
              </a:defRPr>
            </a:lvl1pPr>
          </a:lstStyle>
          <a:p>
            <a:pPr algn="ctr"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ctr" indent="0" marL="0">
              <a:buNone/>
              <a:defRPr lang="en-US" sz="3200" b="1" dirty="0">
                <a:solidFill>
                  <a:schemeClr val="bg1"/>
                </a:solidFill>
              </a:defRPr>
            </a:lvl1pPr>
          </a:lstStyle>
          <a:p>
            <a:pPr algn="ctr"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ctr"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algn="ct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Who runs? 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one weight on two signals</a:t>
            </a:r>
            <a:endParaRPr lang="en-US" sz="2400" dirty="0"/>
          </a:p>
        </p:txBody>
      </p:sp>
      <p:sp>
        <p:nvSpPr>
          <p:cNvPr id="3" name="eq"/>
          <p:cNvSpPr txBox="1"/>
          <p:nvPr/>
        </p:nvSpPr>
        <p:spPr>
          <a:xfrm>
            <a:off x="640080" y="123444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4" name="types"/>
          <p:cNvSpPr txBox="1"/>
          <p:nvPr/>
        </p:nvSpPr>
        <p:spPr>
          <a:xfrm>
            <a:off x="457200" y="2240280"/>
            <a:ext cx="8229600" cy="685800"/>
          </a:xfrm>
          <a:prstGeom prst="rect">
            <a:avLst/>
          </a:prstGeom>
          <a:noFill/>
          <a:ln/>
        </p:spPr>
        <p:txBody>
          <a:bodyPr wrap="square" lIns="0" tIns="0" rIns="0" bIns="0" rtlCol="0" anchor="ctr"/>
          <a:lstStyle/>
          <a:p>
            <a:pPr algn="ctr" indent="0" marL="0">
              <a:buNone/>
            </a:pPr>
            <a:r>
              <a:rPr lang="en-US" sz="3000" b="1" dirty="0">
                <a:solidFill>
                  <a:srgbClr val="EB6834"/>
                </a:solidFill>
                <a:latin typeface="Cambria" pitchFamily="34" charset="0"/>
                <a:ea typeface="Cambria" pitchFamily="34" charset="-122"/>
                <a:cs typeface="Cambria" pitchFamily="34" charset="-120"/>
              </a:rPr>
              <a:t>Individualists </a:t>
            </a:r>
            <a:pPr algn="ctr" indent="0" marL="0">
              <a:buNone/>
            </a:pPr>
            <a:r>
              <a:rPr lang="en-US" sz="3000" dirty="0">
                <a:solidFill>
                  <a:schemeClr val="tx2"/>
                </a:solidFill>
                <a:latin typeface="Cambria" pitchFamily="34" charset="0"/>
                <a:ea typeface="Cambria" pitchFamily="34" charset="-122"/>
                <a:cs typeface="Cambria" pitchFamily="34" charset="-120"/>
              </a:rPr>
              <a:t>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&lt;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b="1" dirty="0">
                <a:solidFill>
                  <a:srgbClr val="2A78D6"/>
                </a:solidFill>
                <a:latin typeface="Cambria" pitchFamily="34" charset="0"/>
                <a:ea typeface="Cambria" pitchFamily="34" charset="-122"/>
                <a:cs typeface="Cambria" pitchFamily="34" charset="-120"/>
              </a:rPr>
              <a:t> collectivists</a:t>
            </a:r>
            <a:endParaRPr lang="en-US" sz="3000" dirty="0"/>
          </a:p>
        </p:txBody>
      </p:sp>
      <p:sp>
        <p:nvSpPr>
          <p:cNvPr id="5" name="eq2"/>
          <p:cNvSpPr txBox="1"/>
          <p:nvPr/>
        </p:nvSpPr>
        <p:spPr>
          <a:xfrm>
            <a:off x="640080" y="324612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C</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a:t>
            </a:r>
            <a:endParaRPr lang="en-US" sz="3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The model in one picture</a:t>
            </a:r>
            <a:endParaRPr lang="en-US" sz="2400" dirty="0"/>
          </a:p>
        </p:txBody>
      </p:sp>
      <p:pic>
        <p:nvPicPr>
          <p:cNvPr id="3" name="odd" descr="Model overview in three columns. Entities: depositors with log-normal deposits capped at 1% of the total, a type and a private signal; a Newman–Watts network; a bank with reserves, a long asset that sells at a discount when cash runs short, and a return that rises with the fundamental; the environment draws the fundamental and a public signal. Schedule: cultural warm-up, draw the run’s world, an exogenous shock, then a tick loop in which each banked depositor observes neighbours and the public signal, forms beliefs with weight λ on the social side, values staying against withdrawing by Monte Carlo, and acts; then period 2 settles the bank and the run is recorded.">    </p:cNvPr>
          <p:cNvPicPr>
            <a:picLocks noChangeAspect="1"/>
          </p:cNvPicPr>
          <p:nvPr/>
        </p:nvPicPr>
        <p:blipFill>
          <a:blip r:embed="rId1"/>
          <a:stretch>
            <a:fillRect/>
          </a:stretch>
        </p:blipFill>
        <p:spPr>
          <a:xfrm>
            <a:off x="755294" y="960120"/>
            <a:ext cx="7633411" cy="365760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Individualists and collectivists: who listens to whom</a:t>
            </a:r>
            <a:endParaRPr lang="en-US" sz="2400" dirty="0"/>
          </a:p>
        </p:txBody>
      </p:sp>
      <p:sp>
        <p:nvSpPr>
          <p:cNvPr id="3"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4"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5"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6"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7" name="pairs-head"/>
          <p:cNvSpPr txBox="1"/>
          <p:nvPr/>
        </p:nvSpPr>
        <p:spPr>
          <a:xfrm>
            <a:off x="457200" y="3886200"/>
            <a:ext cx="8229600" cy="329184"/>
          </a:xfrm>
          <a:prstGeom prst="rect">
            <a:avLst/>
          </a:prstGeom>
          <a:noFill/>
          <a:ln/>
        </p:spPr>
        <p:txBody>
          <a:bodyPr wrap="square" lIns="0" tIns="0" rIns="0" bIns="0" rtlCol="0" anchor="ctr"/>
          <a:lstStyle/>
          <a:p>
            <a:pPr algn="ctr" indent="0" marL="0">
              <a:buNone/>
            </a:pPr>
            <a:r>
              <a:rPr lang="en-US" sz="1300" b="1" dirty="0">
                <a:solidFill>
                  <a:schemeClr val="tx2"/>
                </a:solidFill>
              </a:rPr>
              <a:t>Signal interpretation gap</a:t>
            </a:r>
            <a:endParaRPr lang="en-US" sz="1300" dirty="0"/>
          </a:p>
        </p:txBody>
      </p:sp>
      <p:sp>
        <p:nvSpPr>
          <p:cNvPr id="8" name="chip"/>
          <p:cNvSpPr/>
          <p:nvPr/>
        </p:nvSpPr>
        <p:spPr>
          <a:xfrm>
            <a:off x="2057400" y="3429000"/>
            <a:ext cx="914400" cy="329184"/>
          </a:xfrm>
          <a:prstGeom prst="roundRect">
            <a:avLst>
              <a:gd name="adj" fmla="val 16667"/>
            </a:avLst>
          </a:prstGeom>
          <a:solidFill>
            <a:schemeClr val="tx2"/>
          </a:solidFill>
          <a:ln w="12700">
            <a:solidFill>
              <a:schemeClr val="tx2"/>
            </a:solidFill>
            <a:prstDash val="solid"/>
          </a:ln>
        </p:spPr>
      </p:sp>
      <p:sp>
        <p:nvSpPr>
          <p:cNvPr id="9" name="chip-label"/>
          <p:cNvSpPr txBox="1"/>
          <p:nvPr/>
        </p:nvSpPr>
        <p:spPr>
          <a:xfrm>
            <a:off x="205740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0" name="pair-label"/>
          <p:cNvSpPr txBox="1"/>
          <p:nvPr/>
        </p:nvSpPr>
        <p:spPr>
          <a:xfrm>
            <a:off x="301752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wide gap</a:t>
            </a:r>
            <a:endParaRPr lang="en-US" sz="1200" dirty="0"/>
          </a:p>
        </p:txBody>
      </p:sp>
      <p:sp>
        <p:nvSpPr>
          <p:cNvPr id="11" name="chip"/>
          <p:cNvSpPr/>
          <p:nvPr/>
        </p:nvSpPr>
        <p:spPr>
          <a:xfrm>
            <a:off x="3794760" y="3429000"/>
            <a:ext cx="914400" cy="329184"/>
          </a:xfrm>
          <a:prstGeom prst="roundRect">
            <a:avLst>
              <a:gd name="adj" fmla="val 16667"/>
            </a:avLst>
          </a:prstGeom>
          <a:solidFill>
            <a:schemeClr val="accent3"/>
          </a:solidFill>
          <a:ln w="12700">
            <a:solidFill>
              <a:schemeClr val="accent3"/>
            </a:solidFill>
            <a:prstDash val="solid"/>
          </a:ln>
        </p:spPr>
      </p:sp>
      <p:sp>
        <p:nvSpPr>
          <p:cNvPr id="12" name="chip-label"/>
          <p:cNvSpPr txBox="1"/>
          <p:nvPr/>
        </p:nvSpPr>
        <p:spPr>
          <a:xfrm>
            <a:off x="3794760" y="342900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3" name="pair-label"/>
          <p:cNvSpPr txBox="1"/>
          <p:nvPr/>
        </p:nvSpPr>
        <p:spPr>
          <a:xfrm>
            <a:off x="475488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medium</a:t>
            </a:r>
            <a:endParaRPr lang="en-US" sz="1200" dirty="0"/>
          </a:p>
        </p:txBody>
      </p:sp>
      <p:sp>
        <p:nvSpPr>
          <p:cNvPr id="14" name="chip"/>
          <p:cNvSpPr/>
          <p:nvPr/>
        </p:nvSpPr>
        <p:spPr>
          <a:xfrm>
            <a:off x="5532120" y="3429000"/>
            <a:ext cx="914400" cy="329184"/>
          </a:xfrm>
          <a:prstGeom prst="roundRect">
            <a:avLst>
              <a:gd name="adj" fmla="val 16667"/>
            </a:avLst>
          </a:prstGeom>
          <a:solidFill>
            <a:schemeClr val="accent4"/>
          </a:solidFill>
          <a:ln w="12700">
            <a:solidFill>
              <a:schemeClr val="accent4"/>
            </a:solidFill>
            <a:prstDash val="solid"/>
          </a:ln>
        </p:spPr>
      </p:sp>
      <p:sp>
        <p:nvSpPr>
          <p:cNvPr id="15" name="chip-label"/>
          <p:cNvSpPr txBox="1"/>
          <p:nvPr/>
        </p:nvSpPr>
        <p:spPr>
          <a:xfrm>
            <a:off x="5532120" y="342900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6" name="pair-label"/>
          <p:cNvSpPr txBox="1"/>
          <p:nvPr/>
        </p:nvSpPr>
        <p:spPr>
          <a:xfrm>
            <a:off x="6492240" y="3429000"/>
            <a:ext cx="777240" cy="329184"/>
          </a:xfrm>
          <a:prstGeom prst="rect">
            <a:avLst/>
          </a:prstGeom>
          <a:noFill/>
          <a:ln/>
        </p:spPr>
        <p:txBody>
          <a:bodyPr wrap="square" lIns="0" tIns="0" rIns="0" bIns="0" rtlCol="0" anchor="ctr"/>
          <a:lstStyle/>
          <a:p>
            <a:pPr indent="0" marL="0">
              <a:buNone/>
            </a:pPr>
            <a:r>
              <a:rPr lang="en-US" sz="1200" dirty="0">
                <a:solidFill>
                  <a:schemeClr val="accent3"/>
                </a:solidFill>
              </a:rPr>
              <a:t>narrow</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1738480" y="1005840"/>
            <a:ext cx="5667040"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1821553" y="1005840"/>
            <a:ext cx="5500893"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730766" y="1005840"/>
            <a:ext cx="7682469"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Varying the deposit-size distribution</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1861284" y="1005840"/>
            <a:ext cx="5421432"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1711391" y="1005840"/>
            <a:ext cx="5721218" cy="3611880"/>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ctr" indent="0" marL="0">
              <a:buNone/>
            </a:pPr>
            <a:r>
              <a:rPr lang="en-US" sz="2400" b="1" dirty="0">
                <a:solidFill>
                  <a:schemeClr val="tx2"/>
                </a:solidFill>
              </a:rPr>
              <a:t>Takeaways and next steps</a:t>
            </a:r>
            <a:endParaRPr lang="en-US" sz="2400" dirty="0"/>
          </a:p>
        </p:txBody>
      </p:sp>
      <p:sp>
        <p:nvSpPr>
          <p:cNvPr id="3" name="take-head"/>
          <p:cNvSpPr txBox="1"/>
          <p:nvPr/>
        </p:nvSpPr>
        <p:spPr>
          <a:xfrm>
            <a:off x="457200" y="105156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1:  </a:t>
            </a:r>
            <a:pPr indent="0" marL="0">
              <a:buNone/>
            </a:pPr>
            <a:r>
              <a:rPr lang="en-US" sz="1300" b="1" dirty="0">
                <a:solidFill>
                  <a:schemeClr val="tx2"/>
                </a:solidFill>
              </a:rPr>
              <a:t>Sorting follows the news</a:t>
            </a:r>
            <a:endParaRPr lang="en-US" sz="1300" dirty="0"/>
          </a:p>
        </p:txBody>
      </p:sp>
      <p:sp>
        <p:nvSpPr>
          <p:cNvPr id="4" name="take-body"/>
          <p:cNvSpPr txBox="1"/>
          <p:nvPr/>
        </p:nvSpPr>
        <p:spPr>
          <a:xfrm>
            <a:off x="3291840" y="1051560"/>
            <a:ext cx="5394960" cy="530352"/>
          </a:xfrm>
          <a:prstGeom prst="rect">
            <a:avLst/>
          </a:prstGeom>
          <a:noFill/>
          <a:ln/>
        </p:spPr>
        <p:txBody>
          <a:bodyPr wrap="square" lIns="0" tIns="0" rIns="0" bIns="0" rtlCol="0" anchor="ctr"/>
          <a:lstStyle/>
          <a:p>
            <a:pPr indent="0" marL="0">
              <a:buNone/>
            </a:pPr>
            <a:r>
              <a:rPr lang="en-US" sz="1200" dirty="0">
                <a:solidFill>
                  <a:schemeClr val="tx1"/>
                </a:solidFill>
              </a:rPr>
              <a:t>Optimistic public news makes individualists run relatively more; pessimistic news, collectivists.</a:t>
            </a:r>
            <a:endParaRPr lang="en-US" sz="1200" dirty="0"/>
          </a:p>
        </p:txBody>
      </p:sp>
      <p:sp>
        <p:nvSpPr>
          <p:cNvPr id="5" name="take-head"/>
          <p:cNvSpPr txBox="1"/>
          <p:nvPr/>
        </p:nvSpPr>
        <p:spPr>
          <a:xfrm>
            <a:off x="457200" y="1627632"/>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2:  </a:t>
            </a:r>
            <a:pPr indent="0" marL="0">
              <a:buNone/>
            </a:pPr>
            <a:r>
              <a:rPr lang="en-US" sz="1300" b="1" dirty="0">
                <a:solidFill>
                  <a:schemeClr val="tx2"/>
                </a:solidFill>
              </a:rPr>
              <a:t>Collectivists herd</a:t>
            </a:r>
            <a:endParaRPr lang="en-US" sz="1300" dirty="0"/>
          </a:p>
        </p:txBody>
      </p:sp>
      <p:sp>
        <p:nvSpPr>
          <p:cNvPr id="6" name="take-body"/>
          <p:cNvSpPr txBox="1"/>
          <p:nvPr/>
        </p:nvSpPr>
        <p:spPr>
          <a:xfrm>
            <a:off x="3291840" y="1627632"/>
            <a:ext cx="5394960" cy="530352"/>
          </a:xfrm>
          <a:prstGeom prst="rect">
            <a:avLst/>
          </a:prstGeom>
          <a:noFill/>
          <a:ln/>
        </p:spPr>
        <p:txBody>
          <a:bodyPr wrap="square" lIns="0" tIns="0" rIns="0" bIns="0" rtlCol="0" anchor="ctr"/>
          <a:lstStyle/>
          <a:p>
            <a:pPr indent="0" marL="0">
              <a:buNone/>
            </a:pPr>
            <a:r>
              <a:rPr lang="en-US" sz="1200" dirty="0">
                <a:solidFill>
                  <a:schemeClr val="tx1"/>
                </a:solidFill>
              </a:rPr>
              <a:t>Their chance of withdrawing jumps from 0.15 to 0.93 once 20–35% of neighbours are out; individualists level off near 0.3.</a:t>
            </a:r>
            <a:endParaRPr lang="en-US" sz="1200" dirty="0"/>
          </a:p>
        </p:txBody>
      </p:sp>
      <p:sp>
        <p:nvSpPr>
          <p:cNvPr id="7" name="take-head"/>
          <p:cNvSpPr txBox="1"/>
          <p:nvPr/>
        </p:nvSpPr>
        <p:spPr>
          <a:xfrm>
            <a:off x="457200" y="2203704"/>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3:  </a:t>
            </a:r>
            <a:pPr indent="0" marL="0">
              <a:buNone/>
            </a:pPr>
            <a:r>
              <a:rPr lang="en-US" sz="1300" b="1" dirty="0">
                <a:solidFill>
                  <a:schemeClr val="tx2"/>
                </a:solidFill>
              </a:rPr>
              <a:t>More individualists, fewer failures</a:t>
            </a:r>
            <a:endParaRPr lang="en-US" sz="1300" dirty="0"/>
          </a:p>
        </p:txBody>
      </p:sp>
      <p:sp>
        <p:nvSpPr>
          <p:cNvPr id="8" name="take-body"/>
          <p:cNvSpPr txBox="1"/>
          <p:nvPr/>
        </p:nvSpPr>
        <p:spPr>
          <a:xfrm>
            <a:off x="3291840" y="2203704"/>
            <a:ext cx="5394960" cy="530352"/>
          </a:xfrm>
          <a:prstGeom prst="rect">
            <a:avLst/>
          </a:prstGeom>
          <a:noFill/>
          <a:ln/>
        </p:spPr>
        <p:txBody>
          <a:bodyPr wrap="square" lIns="0" tIns="0" rIns="0" bIns="0" rtlCol="0" anchor="ctr"/>
          <a:lstStyle/>
          <a:p>
            <a:pPr indent="0" marL="0">
              <a:buNone/>
            </a:pPr>
            <a:r>
              <a:rPr lang="en-US" sz="1200" dirty="0">
                <a:solidFill>
                  <a:schemeClr val="tx1"/>
                </a:solidFill>
              </a:rPr>
              <a:t>P(fail) falls from 0.67 to 0.08 as the individualist share goes from 0 to 1.</a:t>
            </a:r>
            <a:endParaRPr lang="en-US" sz="1200" dirty="0"/>
          </a:p>
        </p:txBody>
      </p:sp>
      <p:sp>
        <p:nvSpPr>
          <p:cNvPr id="9" name="take-head"/>
          <p:cNvSpPr txBox="1"/>
          <p:nvPr/>
        </p:nvSpPr>
        <p:spPr>
          <a:xfrm>
            <a:off x="457200" y="2779776"/>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4:  </a:t>
            </a:r>
            <a:pPr indent="0" marL="0">
              <a:buNone/>
            </a:pPr>
            <a:r>
              <a:rPr lang="en-US" sz="1300" b="1" dirty="0">
                <a:solidFill>
                  <a:schemeClr val="tx2"/>
                </a:solidFill>
              </a:rPr>
              <a:t>Stale news cuts both ways</a:t>
            </a:r>
            <a:endParaRPr lang="en-US" sz="1300" dirty="0"/>
          </a:p>
        </p:txBody>
      </p:sp>
      <p:sp>
        <p:nvSpPr>
          <p:cNvPr id="10" name="take-body"/>
          <p:cNvSpPr txBox="1"/>
          <p:nvPr/>
        </p:nvSpPr>
        <p:spPr>
          <a:xfrm>
            <a:off x="3291840" y="2779776"/>
            <a:ext cx="5394960" cy="530352"/>
          </a:xfrm>
          <a:prstGeom prst="rect">
            <a:avLst/>
          </a:prstGeom>
          <a:noFill/>
          <a:ln/>
        </p:spPr>
        <p:txBody>
          <a:bodyPr wrap="square" lIns="0" tIns="0" rIns="0" bIns="0" rtlCol="0" anchor="ctr"/>
          <a:lstStyle/>
          <a:p>
            <a:pPr indent="0" marL="0">
              <a:buNone/>
            </a:pPr>
            <a:r>
              <a:rPr lang="en-US" sz="1200" dirty="0">
                <a:solidFill>
                  <a:schemeClr val="tx1"/>
                </a:solidFill>
              </a:rPr>
              <a:t>A stale optimistic signal halves failure, a stale pessimistic one raises it by half. Accurate news barely moves it.</a:t>
            </a:r>
            <a:endParaRPr lang="en-US" sz="1200" dirty="0"/>
          </a:p>
        </p:txBody>
      </p:sp>
      <p:sp>
        <p:nvSpPr>
          <p:cNvPr id="11" name="take-head"/>
          <p:cNvSpPr txBox="1"/>
          <p:nvPr/>
        </p:nvSpPr>
        <p:spPr>
          <a:xfrm>
            <a:off x="457200" y="3355848"/>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5:  </a:t>
            </a:r>
            <a:pPr indent="0" marL="0">
              <a:buNone/>
            </a:pPr>
            <a:r>
              <a:rPr lang="en-US" sz="1300" b="1" dirty="0">
                <a:solidFill>
                  <a:schemeClr val="tx2"/>
                </a:solidFill>
              </a:rPr>
              <a:t>Capping the largest deposits</a:t>
            </a:r>
            <a:endParaRPr lang="en-US" sz="1300" dirty="0"/>
          </a:p>
        </p:txBody>
      </p:sp>
      <p:sp>
        <p:nvSpPr>
          <p:cNvPr id="12" name="take-body"/>
          <p:cNvSpPr txBox="1"/>
          <p:nvPr/>
        </p:nvSpPr>
        <p:spPr>
          <a:xfrm>
            <a:off x="3291840" y="3355848"/>
            <a:ext cx="5394960" cy="530352"/>
          </a:xfrm>
          <a:prstGeom prst="rect">
            <a:avLst/>
          </a:prstGeom>
          <a:noFill/>
          <a:ln/>
        </p:spPr>
        <p:txBody>
          <a:bodyPr wrap="square" lIns="0" tIns="0" rIns="0" bIns="0" rtlCol="0" anchor="ctr"/>
          <a:lstStyle/>
          <a:p>
            <a:pPr indent="0" marL="0">
              <a:buNone/>
            </a:pPr>
            <a:r>
              <a:rPr lang="en-US" sz="1200" dirty="0">
                <a:solidFill>
                  <a:schemeClr val="tx1"/>
                </a:solidFill>
              </a:rPr>
              <a:t>A 1% cap brings failure down to the no-concentration bank’s level; the culture gradient is unchanged.</a:t>
            </a:r>
            <a:endParaRPr lang="en-US" sz="1200" dirty="0"/>
          </a:p>
        </p:txBody>
      </p:sp>
      <p:sp>
        <p:nvSpPr>
          <p:cNvPr id="13" name="take-head"/>
          <p:cNvSpPr txBox="1"/>
          <p:nvPr/>
        </p:nvSpPr>
        <p:spPr>
          <a:xfrm>
            <a:off x="457200" y="3931920"/>
            <a:ext cx="2743200" cy="530352"/>
          </a:xfrm>
          <a:prstGeom prst="rect">
            <a:avLst/>
          </a:prstGeom>
          <a:noFill/>
          <a:ln/>
        </p:spPr>
        <p:txBody>
          <a:bodyPr wrap="square" lIns="0" tIns="0" rIns="0" bIns="0" rtlCol="0" anchor="ctr"/>
          <a:lstStyle/>
          <a:p>
            <a:pPr indent="0" marL="0">
              <a:buNone/>
            </a:pPr>
            <a:r>
              <a:rPr lang="en-US" sz="1300" b="1" dirty="0">
                <a:solidFill>
                  <a:schemeClr val="accent1"/>
                </a:solidFill>
              </a:rPr>
              <a:t>6:  </a:t>
            </a:r>
            <a:pPr indent="0" marL="0">
              <a:buNone/>
            </a:pPr>
            <a:r>
              <a:rPr lang="en-US" sz="1300" b="1" dirty="0">
                <a:solidFill>
                  <a:schemeClr val="tx2"/>
                </a:solidFill>
              </a:rPr>
              <a:t>Not yet matched</a:t>
            </a:r>
            <a:endParaRPr lang="en-US" sz="1300" dirty="0"/>
          </a:p>
        </p:txBody>
      </p:sp>
      <p:sp>
        <p:nvSpPr>
          <p:cNvPr id="14" name="take-body"/>
          <p:cNvSpPr txBox="1"/>
          <p:nvPr/>
        </p:nvSpPr>
        <p:spPr>
          <a:xfrm>
            <a:off x="3291840" y="3931920"/>
            <a:ext cx="5394960" cy="530352"/>
          </a:xfrm>
          <a:prstGeom prst="rect">
            <a:avLst/>
          </a:prstGeom>
          <a:noFill/>
          <a:ln/>
        </p:spPr>
        <p:txBody>
          <a:bodyPr wrap="square" lIns="0" tIns="0" rIns="0" bIns="0" rtlCol="0" anchor="ctr"/>
          <a:lstStyle/>
          <a:p>
            <a:pPr indent="0" marL="0">
              <a:buNone/>
            </a:pPr>
            <a:r>
              <a:rPr lang="en-US" sz="1200" dirty="0">
                <a:solidFill>
                  <a:schemeClr val="tx1"/>
                </a:solidFill>
              </a:rPr>
              <a:t>How large depositors exit in real runs: one-shot share about 0.35 there, 0.93 or more in the model.</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2026-10-26T12:38:28Z</dcterms:created>
  <dcterms:modified xsi:type="dcterms:W3CDTF">2026-10-26T12:38:28Z</dcterms:modified>
</cp:coreProperties>
</file>