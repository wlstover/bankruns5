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f2f7b6-4f00-4256-6d0f-c1d03ed050ae}">
          <p14:sldIdLst>
            <p14:sldId id="256"/>
            <p14:sldId id="257"/>
            <p14:sldId id="258"/>
            <p14:sldId id="259"/>
            <p14:sldId id="260"/>
            <p14:sldId id="261"/>
          </p14:sldIdLst>
        </p14:section>
        <p14:section name="The model" id="{fd43a280-0a9c-5794-1f48-6c4092cc82ac}">
          <p14:sldIdLst>
            <p14:sldId id="262"/>
            <p14:sldId id="263"/>
          </p14:sldIdLst>
        </p14:section>
        <p14:section name="Results" id="{5817c6c6-979e-cd9b-7c08-d4bc68add732}">
          <p14:sldIdLst>
            <p14:sldId id="264"/>
            <p14:sldId id="265"/>
            <p14:sldId id="266"/>
            <p14:sldId id="267"/>
          </p14:sldIdLst>
        </p14:section>
        <p14:section name="Validation" id="{c6126056-7f46-5a0e-f527-b09765bb04a0}">
          <p14:sldIdLst>
            <p14:sldId id="268"/>
          </p14:sldIdLst>
        </p14:section>
        <p14:section name="Close" id="{0b49eb75-640f-46e7-aaea-4598aca7d471}">
          <p14:sldIdLst>
            <p14:sldId id="269"/>
          </p14:sldIdLst>
        </p14:section>
        <p14:section name="Backup" id="{8c1cda2f-6360-0d05-bcfb-be50caae211b}">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Raise the question only: who runs? Theory (Diamond–Dybvig) says runs can happen; it is silent on who runs first and how a run spreads. The screenshot: the FSB warned the G20 on 12 October 2026 that a fully reserved stablecoin can still face a redemption run. Even a regulator thinking about a modern run asks whether one happens, not who starts it. Alternative screenshot in figures/deck is not provided; the Nano Banc failure (25 September 2026, American Banker) was a capital failure, not a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two mechanisms the literature has used to answer who runs. Variation in the signal: Goldstein-Pauzner's noisy private draw (same technology, different draws), the device that gives Diamond-Dybvig an equilibrium-selection mechanism; depositors are ex ante identical, so who runs is luck. The model is static: for an intermediate fundamental a fraction runs (those below the threshold draw), not everyone or nobody; all-or-nothing is the zero-noise limit. Timing only enters with the network literature. Variation in location: networks and media; the order is position. Both are fruitful and both are consistent with identical processing: the same Bayesian, with the same prior, sits at every node. The third rung, variation in interpretation, is where this dissertation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question only becomes askable once a public signal sits next to the private one (Morris-Shin 2002, Hellwig 2002, Angeletos-Werning 2006); Diamond-Dybvig has no signal and Goldstein-Pauzner one. The screenshot is the question as a panic poses it: the public line (Becker: stay calm, that's my ask) against private evidence (VCs telling portfolio companies to move money out, the share price). Same shape at Celsius 2022 (Mashinsky on 11 June: do you know even one person who has a problem withdrawing? Why spread FUD and misinformation; withdrawals paused the next day) and Northern Rock 2007 (Bank of England support announced; queues outside the branches; a customer in the queue: we thought we would do what everyone else is doing). In each case depositors split on which to trust, and the interesting fact is who moved on which. If asked how the theory answers it: the Bayesian precision ratio, the weight on y is tau_y over tau_x plus tau_y, the same for everyone and vanishing as private information sharpens; so sorting is noise and official communication stops mattering just when depositors pay most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Cultural economics gives a source of the weight that satisfies the three things the model needs: heterogeneity, positivity, and stability with respect to the information environment. Individualism is the dimension that maps onto the private-versus-social weighting, and names make it measurable at the individual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whole model in one line: a depositor blends what they are told with what they see, and the blend weight is a disposition, not a precision calculation (Chapter 1 writes it omega; the simulation writes it lambda). Subtracting the two types' estimates gives the wedge (lambda_C minus lambda_I)(x minus y): with the same pair of signals, the individualist's estimate is lower whenever private evidence is worse than the public line, so individualists run on a wider set of signals when the news is stale-optimistic, and the inclusion reverses when the news is stale-pessimistic. That is the sorting prediction the simulation tests. In the simulation, the public side is what neighbours do and what the news says, and lambda is drawn per agent in a cultural warm-up. Next: the simulation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 = 1,000 depositors on a small-world network; one bank that sells assets at a discount when cash runs short (fire-sale bank). Each tick a depositor sees neighbours' withdrawals and the public news, blends them with a private signal, and withdraws if that pays. Reference bank: deposits log-normal (sigma 2.5), each capped at 1% of the total; CARA 0.1; partial withdrawals allowed. The diagram is the technical ODD overview: walk the right-hand column (warm-up, world, shock, tick loop) and skip the formulas.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Individualists put little weight on others (neighbours and public news) and more on their own information; collectivists the reverse. In the model: weight on the social side lambda; pairs shown in the figures (I, C): (0.1, 0.9) = large difference, (0.2, 0.8) = medium, (0.3, 0.5) = small. Type comes from a cultural warm-up on the network: the top mu share become individualists. Colours used throughout: orange = individualists, blue = collectivists.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Collectivists jump from 0.15 to 0.93 once 20–35% of neighbours are out and reach 1.0; individualists plateau at ~0.25–0.30. Slopes: C 0.80, I 0.22 (difference +0.58, t 16.7). Lambda pairs pooled; reference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Large difference (0.1, 0.9): 0.67 at mu 0 -&gt; 0.08 at mu 1; medium (0.2, 0.8) similar; small (0.3, 0.5): 0.25 -&gt; 0.09. Monotone, no interior peak. The difference between types matters most when collectivists dominate; lines converge at mu &gt;= 0.75. Includes pure cells (mu 0 and 1). If asked about Ch 1's non-monotonic prediction (P6): see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 Large difference (0.1, 0.9): outdated pessimistic 0.48, none 0.31, accurate 0.29, outdated middling (y0 0.5) 0.18, outdated optimistic 0.16. Accurate news barely changes failure; stale optimistic halves it; stale pessimistic raises it by half. Small difference (0.3, 0.5) barely moves (0.09–0.15). All mu. Policy framing: the information environment (right to reassure), not sorting depositors by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Lambda pairs pooled. Uncapped (sigma 2.5) 0.61 -&gt; 0.11; capped at 1% 0.51 -&gt; 0.08; similar sizes (sigma 1) 0.50 -&gt; 0.08. Capping brings failure down to the no-concentration level at every mu. The mu gradient is the same in all three: culture's effect does not depend on concentration. One spoken sentence on what 'capped at 1%' means (no single depositor holds more than 1% of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Ch 1's theory predicts: optimistic news -&gt; individualists run more than collectivists; pessimistic -&gt; collectivists run more. The lines rise through zero as predicted. Large difference reaches about ±0.1; small stays flat. Pre-registered tests: 3 of 4 support, on all three versions of the bank (r1k pooled: G1' +0.033, G4' -0.031, G2a' +0.093, Holm-significant; G3 counts against). Option: make this one sentence and move the figure to backup.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Next steps from the outline: super-individuals (match how Celsius's largest depositors exit), deposit insurance and the reserve ratio on the fire-sale bank, topology and learning, and the full parameter sweep (stale public signal + no-signal baseline; CARA 0.1; sigma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types withdraw less as mu rises; collectivists above individualists at every mixed mu for the two wide gaps; nearly identical at (0.3, 0.5). Technical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r1k pooled: G1' +0.033, G4' -0.031, G2a' +0.093, all Holm-significant; G2b ordering holds. G3 +0.0034 pooled but (0.3, 0.5) wrong-signed in every bank -&gt; counts against. G3c (post hoc, channel-isolated) +0.019, right-signed in every pair. 3 of 4 confirmatory tests support, in all three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Theta-blend only: +0.14 (Ch 1's sign). Head-count only: -0.07 (opposite). Both: +0.02. The two channels pull in opposite directions; Ch 1's sign survives, damped by herding.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Celsius falls from ~0.86 (D1–D5 band 0.82–0.90) to 0.35 (top 0.1%); the ABM stays at 0.93–1.00. The model does not yet reproduce how large depositors exit. Next: super-individuals.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Vault bank, earlier specification (chapter Fig 1). For questions about Ch 1's P6. This figure is also monotone decreasing: P6 (non-monotonic fragility) was predicted in Ch 1 and found in neither bank; the P6b placebo hump was null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rtlCol="0"/>
          <a:lstStyle>
            <a:lvl1pPr indent="0" marL="0">
              <a:buNone/>
              <a:defRPr lang="en-US" sz="1800" dirty="0">
                <a:solidFill>
                  <a:schemeClr val="accent4"/>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754880"/>
            <a:ext cx="5486400" cy="274320"/>
          </a:xfrm>
          <a:prstGeom prst="rect">
            <a:avLst/>
          </a:prstGeom>
          <a:noFill/>
          <a:ln/>
        </p:spPr>
        <p:txBody>
          <a:bodyPr wrap="square" lIns="0" tIns="0" rIns="0" bIns="0" rtlCol="0" anchor="ctr"/>
          <a:lstStyle/>
          <a:p>
            <a:pPr indent="0" marL="0">
              <a:buNone/>
            </a:pPr>
            <a:r>
              <a:rPr lang="en-US" sz="900" dirty="0">
                <a:solidFill>
                  <a:schemeClr val="accent3"/>
                </a:solidFill>
              </a:rPr>
              <a:t>Agent-based Diamond–Dybvig with cultural heterogeneity</a:t>
            </a:r>
            <a:endParaRPr lang="en-US" sz="9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rgbClr val="1621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rtlCol="0"/>
          <a:lstStyle>
            <a:lvl1pPr indent="0" marL="0">
              <a:buNone/>
              <a:defRPr lang="en-US" sz="1600" dirty="0">
                <a:solidFill>
                  <a:schemeClr val="accent4"/>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63040"/>
            <a:ext cx="8046720" cy="1463040"/>
          </a:xfrm>
          <a:prstGeom prst="rect">
            <a:avLst/>
          </a:prstGeom>
          <a:noFill/>
          <a:ln/>
        </p:spPr>
        <p:txBody>
          <a:bodyPr wrap="square" lIns="0" tIns="0" rIns="0" bIns="0" rtlCol="0" anchor="b"/>
          <a:lstStyle/>
          <a:p>
            <a:pPr algn="l" indent="0" marL="0">
              <a:buNone/>
            </a:pPr>
            <a:r>
              <a:rPr lang="en-US" sz="3400" b="1" dirty="0">
                <a:solidFill>
                  <a:schemeClr val="bg1"/>
                </a:solidFill>
              </a:rPr>
              <a:t>Agent-based Diamond–Dybvig with cultural heterogeneity</a:t>
            </a:r>
            <a:endParaRPr lang="en-US" sz="3400" dirty="0"/>
          </a:p>
        </p:txBody>
      </p:sp>
      <p:sp>
        <p:nvSpPr>
          <p:cNvPr id="3" name="Text 0"/>
          <p:cNvSpPr/>
          <p:nvPr>
            <p:ph idx="101" type="body" hasCustomPrompt="1"/>
          </p:nvPr>
        </p:nvSpPr>
        <p:spPr>
          <a:xfrm>
            <a:off x="548640" y="3017520"/>
            <a:ext cx="8046720" cy="1097280"/>
          </a:xfrm>
          <a:prstGeom prst="rect">
            <a:avLst/>
          </a:prstGeom>
          <a:noFill/>
          <a:ln/>
        </p:spPr>
        <p:txBody>
          <a:bodyPr wrap="square" lIns="0" tIns="0" rIns="0" bIns="0" rtlCol="0" anchor="t"/>
          <a:lstStyle/>
          <a:p>
            <a:pPr indent="0" marL="0">
              <a:buNone/>
            </a:pPr>
            <a:r>
              <a:rPr lang="en-US" sz="1800" dirty="0">
                <a:solidFill>
                  <a:schemeClr val="accent4"/>
                </a:solidFill>
              </a:rPr>
              <a:t>Walter Stover  ·  George Mason University  ·  26 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puzzle: who runs?</a:t>
            </a:r>
            <a:endParaRPr lang="en-US" sz="2400" dirty="0"/>
          </a:p>
        </p:txBody>
      </p:sp>
      <p:pic>
        <p:nvPicPr>
          <p:cNvPr id="3" name="news" descr="Screenshot of a CryptoSlate news article dated 12 October 2026: Global watchdog warns the $300 billion stablecoin market could face bank runs even with full reserves. The FSB says cross-border liquidity mismatches could trigger redemption crises and threaten dollar pegs as regulators prepare for G20 discussions.">    </p:cNvPr>
          <p:cNvPicPr>
            <a:picLocks noChangeAspect="1"/>
          </p:cNvPicPr>
          <p:nvPr/>
        </p:nvPicPr>
        <p:blipFill>
          <a:blip r:embed="rId1"/>
          <a:stretch>
            <a:fillRect/>
          </a:stretch>
        </p:blipFill>
        <p:spPr>
          <a:xfrm>
            <a:off x="2414267" y="1051560"/>
            <a:ext cx="4315465" cy="3337560"/>
          </a:xfrm>
          <a:prstGeom prst="rect">
            <a:avLst/>
          </a:prstGeom>
        </p:spPr>
      </p:pic>
      <p:sp>
        <p:nvSpPr>
          <p:cNvPr id="4" name="caption"/>
          <p:cNvSpPr txBox="1"/>
          <p:nvPr/>
        </p:nvSpPr>
        <p:spPr>
          <a:xfrm>
            <a:off x="2414267" y="4434840"/>
            <a:ext cx="4315465" cy="274320"/>
          </a:xfrm>
          <a:prstGeom prst="rect">
            <a:avLst/>
          </a:prstGeom>
          <a:noFill/>
          <a:ln/>
        </p:spPr>
        <p:txBody>
          <a:bodyPr wrap="square" lIns="0" tIns="0" rIns="0" bIns="0" rtlCol="0" anchor="ctr"/>
          <a:lstStyle/>
          <a:p>
            <a:pPr indent="0" marL="0">
              <a:buNone/>
            </a:pPr>
            <a:r>
              <a:rPr lang="en-US" sz="1000" i="1" dirty="0">
                <a:solidFill>
                  <a:schemeClr val="accent3"/>
                </a:solidFill>
              </a:rPr>
              <a:t>CryptoSlate, 12 October 2026, on the Financial Stability Board’s note to the G20. Screenshot, cryptoslate.com.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runs? Luck of the draw, and location</a:t>
            </a:r>
            <a:endParaRPr lang="en-US" sz="2400" dirty="0"/>
          </a:p>
        </p:txBody>
      </p:sp>
      <p:sp>
        <p:nvSpPr>
          <p:cNvPr id="3" name="mech-0"/>
          <p:cNvSpPr/>
          <p:nvPr/>
        </p:nvSpPr>
        <p:spPr>
          <a:xfrm>
            <a:off x="457200" y="1051560"/>
            <a:ext cx="4023360" cy="2514600"/>
          </a:xfrm>
          <a:prstGeom prst="roundRect">
            <a:avLst>
              <a:gd name="adj" fmla="val 2909"/>
            </a:avLst>
          </a:prstGeom>
          <a:solidFill>
            <a:schemeClr val="bg2"/>
          </a:solidFill>
          <a:ln w="12700">
            <a:solidFill>
              <a:schemeClr val="bg2"/>
            </a:solidFill>
            <a:prstDash val="solid"/>
          </a:ln>
        </p:spPr>
      </p:sp>
      <p:sp>
        <p:nvSpPr>
          <p:cNvPr id="4" name="mech-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the signal</a:t>
            </a:r>
            <a:endParaRPr lang="en-US" sz="1800" dirty="0"/>
          </a:p>
        </p:txBody>
      </p:sp>
      <p:sp>
        <p:nvSpPr>
          <p:cNvPr id="5" name="bullets"/>
          <p:cNvSpPr txBox="1"/>
          <p:nvPr/>
        </p:nvSpPr>
        <p:spPr>
          <a:xfrm>
            <a:off x="64008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Goldstein–Pauzner: every depositor gets a noisy draw of the same signal</a:t>
            </a:r>
            <a:endParaRPr lang="en-US" sz="1400" dirty="0"/>
          </a:p>
          <a:p>
            <a:pPr marL="177800" indent="-177800">
              <a:spcAft>
                <a:spcPts val="800"/>
              </a:spcAft>
              <a:buSzPct val="100000"/>
              <a:buChar char="•"/>
            </a:pPr>
            <a:r>
              <a:rPr lang="en-US" sz="1400" dirty="0">
                <a:solidFill>
                  <a:schemeClr val="tx1"/>
                </a:solidFill>
              </a:rPr>
              <a:t>The draw breaks common knowledge and selects the equilibrium</a:t>
            </a:r>
            <a:endParaRPr lang="en-US" sz="1400" dirty="0"/>
          </a:p>
          <a:p>
            <a:pPr marL="177800" indent="-177800">
              <a:spcAft>
                <a:spcPts val="800"/>
              </a:spcAft>
              <a:buSzPct val="100000"/>
              <a:buChar char="•"/>
            </a:pPr>
            <a:r>
              <a:rPr lang="en-US" sz="1400" dirty="0">
                <a:solidFill>
                  <a:schemeClr val="tx1"/>
                </a:solidFill>
              </a:rPr>
              <a:t>Who runs: whoever drew low</a:t>
            </a:r>
            <a:endParaRPr lang="en-US" sz="1400" dirty="0"/>
          </a:p>
          <a:p>
            <a:pPr marL="177800" indent="-177800">
              <a:spcAft>
                <a:spcPts val="800"/>
              </a:spcAft>
              <a:buSzPct val="100000"/>
              <a:buChar char="•"/>
            </a:pPr>
            <a:r>
              <a:rPr lang="en-US" sz="1400" dirty="0">
                <a:solidFill>
                  <a:schemeClr val="tx1"/>
                </a:solidFill>
              </a:rPr>
              <a:t>Everyone decides at once, so there is no first</a:t>
            </a:r>
            <a:endParaRPr lang="en-US" sz="1400" dirty="0"/>
          </a:p>
        </p:txBody>
      </p:sp>
      <p:sp>
        <p:nvSpPr>
          <p:cNvPr id="6" name="mech-1"/>
          <p:cNvSpPr/>
          <p:nvPr/>
        </p:nvSpPr>
        <p:spPr>
          <a:xfrm>
            <a:off x="4663440" y="1051560"/>
            <a:ext cx="4023360" cy="2514600"/>
          </a:xfrm>
          <a:prstGeom prst="roundRect">
            <a:avLst>
              <a:gd name="adj" fmla="val 2909"/>
            </a:avLst>
          </a:prstGeom>
          <a:solidFill>
            <a:schemeClr val="bg2"/>
          </a:solidFill>
          <a:ln w="12700">
            <a:solidFill>
              <a:schemeClr val="bg2"/>
            </a:solidFill>
            <a:prstDash val="solid"/>
          </a:ln>
        </p:spPr>
      </p:sp>
      <p:sp>
        <p:nvSpPr>
          <p:cNvPr id="7" name="mech-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chemeClr val="accent1"/>
                </a:solidFill>
              </a:rPr>
              <a:t>Variation in location</a:t>
            </a:r>
            <a:endParaRPr lang="en-US" sz="1800" dirty="0"/>
          </a:p>
        </p:txBody>
      </p:sp>
      <p:sp>
        <p:nvSpPr>
          <p:cNvPr id="8" name="bullets"/>
          <p:cNvSpPr txBox="1"/>
          <p:nvPr/>
        </p:nvSpPr>
        <p:spPr>
          <a:xfrm>
            <a:off x="4846320" y="1600200"/>
            <a:ext cx="3657600" cy="18745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Networks and media decide who hears what, from whom, when</a:t>
            </a:r>
            <a:endParaRPr lang="en-US" sz="1400" dirty="0"/>
          </a:p>
          <a:p>
            <a:pPr marL="177800" indent="-177800">
              <a:spcAft>
                <a:spcPts val="800"/>
              </a:spcAft>
              <a:buSzPct val="100000"/>
              <a:buChar char="•"/>
            </a:pPr>
            <a:r>
              <a:rPr lang="en-US" sz="1400" dirty="0">
                <a:solidFill>
                  <a:schemeClr val="tx1"/>
                </a:solidFill>
              </a:rPr>
              <a:t>Kelly–Ó Gráda, Iyer–Puri, Cookson et al.</a:t>
            </a:r>
            <a:endParaRPr lang="en-US" sz="1400" dirty="0"/>
          </a:p>
          <a:p>
            <a:pPr marL="177800" indent="-177800">
              <a:spcAft>
                <a:spcPts val="800"/>
              </a:spcAft>
              <a:buSzPct val="100000"/>
              <a:buChar char="•"/>
            </a:pPr>
            <a:r>
              <a:rPr lang="en-US" sz="1400" dirty="0">
                <a:solidFill>
                  <a:schemeClr val="tx1"/>
                </a:solidFill>
              </a:rPr>
              <a:t>Who runs first: whoever sits nearest the source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Variation in interpretation</a:t>
            </a:r>
            <a:endParaRPr lang="en-US" sz="2400" dirty="0"/>
          </a:p>
        </p:txBody>
      </p:sp>
      <p:sp>
        <p:nvSpPr>
          <p:cNvPr id="3" name="lead"/>
          <p:cNvSpPr txBox="1"/>
          <p:nvPr/>
        </p:nvSpPr>
        <p:spPr>
          <a:xfrm>
            <a:off x="457200" y="1051560"/>
            <a:ext cx="3200400" cy="2011680"/>
          </a:xfrm>
          <a:prstGeom prst="rect">
            <a:avLst/>
          </a:prstGeom>
          <a:noFill/>
          <a:ln/>
        </p:spPr>
        <p:txBody>
          <a:bodyPr wrap="square" lIns="0" tIns="0" rIns="0" bIns="0" rtlCol="0" anchor="t"/>
          <a:lstStyle/>
          <a:p>
            <a:pPr indent="0" marL="0">
              <a:buNone/>
            </a:pPr>
            <a:r>
              <a:rPr lang="en-US" sz="1800" b="1" dirty="0">
                <a:solidFill>
                  <a:schemeClr val="tx2"/>
                </a:solidFill>
              </a:rPr>
              <a:t>When there are two signals, which signal does a depositor act on, and in what proportion?</a:t>
            </a:r>
            <a:endParaRPr lang="en-US" sz="1800" dirty="0"/>
          </a:p>
        </p:txBody>
      </p:sp>
      <p:pic>
        <p:nvPicPr>
          <p:cNvPr id="4" name="svb" descr="Screenshot of a TechCrunch article of 9 March 2023 headlined Silicon Valley Bank’s shares are tanking as a mess unfolds, with an embedded link Venture firms are advising portfolio companies to move money out of SVB, and a paragraph quoting CEO Greg Becker asking venture clients to stay calm, that’s my ask.">    </p:cNvPr>
          <p:cNvPicPr>
            <a:picLocks noChangeAspect="1"/>
          </p:cNvPicPr>
          <p:nvPr/>
        </p:nvPicPr>
        <p:blipFill>
          <a:blip r:embed="rId1"/>
          <a:stretch>
            <a:fillRect/>
          </a:stretch>
        </p:blipFill>
        <p:spPr>
          <a:xfrm>
            <a:off x="4399453" y="1051560"/>
            <a:ext cx="3728375" cy="3474720"/>
          </a:xfrm>
          <a:prstGeom prst="rect">
            <a:avLst/>
          </a:prstGeom>
        </p:spPr>
      </p:pic>
      <p:sp>
        <p:nvSpPr>
          <p:cNvPr id="5" name="caption"/>
          <p:cNvSpPr txBox="1"/>
          <p:nvPr/>
        </p:nvSpPr>
        <p:spPr>
          <a:xfrm>
            <a:off x="4399453" y="4572000"/>
            <a:ext cx="3728375" cy="274320"/>
          </a:xfrm>
          <a:prstGeom prst="rect">
            <a:avLst/>
          </a:prstGeom>
          <a:noFill/>
          <a:ln/>
        </p:spPr>
        <p:txBody>
          <a:bodyPr wrap="square" lIns="0" tIns="0" rIns="0" bIns="0" rtlCol="0" anchor="ctr"/>
          <a:lstStyle/>
          <a:p>
            <a:pPr indent="0" marL="0">
              <a:buNone/>
            </a:pPr>
            <a:r>
              <a:rPr lang="en-US" sz="1000" i="1" dirty="0">
                <a:solidFill>
                  <a:schemeClr val="accent3"/>
                </a:solidFill>
              </a:rPr>
              <a:t>TechCrunch, 9 March 2023. Screenshot, techcrunch.com.</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Cultural economics: a source of stable weights</a:t>
            </a:r>
            <a:endParaRPr lang="en-US" sz="2400" dirty="0"/>
          </a:p>
        </p:txBody>
      </p:sp>
      <p:sp>
        <p:nvSpPr>
          <p:cNvPr id="3" name="step-lead"/>
          <p:cNvSpPr txBox="1"/>
          <p:nvPr/>
        </p:nvSpPr>
        <p:spPr>
          <a:xfrm>
            <a:off x="457200" y="1051560"/>
            <a:ext cx="8229600" cy="868680"/>
          </a:xfrm>
          <a:prstGeom prst="rect">
            <a:avLst/>
          </a:prstGeom>
          <a:noFill/>
          <a:ln/>
        </p:spPr>
        <p:txBody>
          <a:bodyPr wrap="square" lIns="0" tIns="0" rIns="0" bIns="0" rtlCol="0" anchor="ctr"/>
          <a:lstStyle/>
          <a:p>
            <a:pPr indent="0" marL="0">
              <a:buNone/>
            </a:pPr>
            <a:r>
              <a:rPr lang="en-US" sz="1700" b="1" dirty="0">
                <a:solidFill>
                  <a:schemeClr val="tx2"/>
                </a:solidFill>
              </a:rPr>
              <a:t>Culture supplies a weight that differs across depositors, is set before the run, and does not move with the information environment.</a:t>
            </a:r>
            <a:endParaRPr lang="en-US" sz="1700" dirty="0"/>
          </a:p>
        </p:txBody>
      </p:sp>
      <p:sp>
        <p:nvSpPr>
          <p:cNvPr id="4" name="step-items"/>
          <p:cNvSpPr txBox="1"/>
          <p:nvPr/>
        </p:nvSpPr>
        <p:spPr>
          <a:xfrm>
            <a:off x="457200" y="2103120"/>
            <a:ext cx="8229600" cy="210312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Transmitted, not chosen. </a:t>
            </a:r>
            <a:pPr indent="0" marL="0">
              <a:spcAft>
                <a:spcPts val="900"/>
              </a:spcAft>
              <a:buNone/>
            </a:pPr>
            <a:r>
              <a:rPr lang="en-US" sz="1400" dirty="0">
                <a:solidFill>
                  <a:schemeClr val="tx1"/>
                </a:solidFill>
              </a:rPr>
              <a:t>Cultural values pass largely unchanged from parents to children (Guiso, Sapienza, Zingales; Bazzi et al.). The weight is a disposition, not a calculation.</a:t>
            </a:r>
            <a:endParaRPr lang="en-US" sz="1400" dirty="0"/>
          </a:p>
          <a:p>
            <a:pPr marL="177800" indent="-177800">
              <a:spcAft>
                <a:spcPts val="900"/>
              </a:spcAft>
              <a:buSzPct val="100000"/>
              <a:buChar char="•"/>
            </a:pPr>
            <a:r>
              <a:rPr lang="en-US" sz="1400" b="1" dirty="0">
                <a:solidFill>
                  <a:schemeClr val="tx1"/>
                </a:solidFill>
              </a:rPr>
              <a:t>Individualism is the right dimension. </a:t>
            </a:r>
            <a:pPr indent="0" marL="0">
              <a:spcAft>
                <a:spcPts val="900"/>
              </a:spcAft>
              <a:buNone/>
            </a:pPr>
            <a:r>
              <a:rPr lang="en-US" sz="1400" dirty="0">
                <a:solidFill>
                  <a:schemeClr val="tx1"/>
                </a:solidFill>
              </a:rPr>
              <a:t>Self-reliance against deference to the group (Hofstede) is the private-against-social weighting the model already contains (Gorodnichenko–Roland).</a:t>
            </a:r>
            <a:endParaRPr lang="en-US" sz="1400" dirty="0"/>
          </a:p>
          <a:p>
            <a:pPr marL="177800" indent="-177800">
              <a:spcAft>
                <a:spcPts val="900"/>
              </a:spcAft>
              <a:buSzPct val="100000"/>
              <a:buChar char="•"/>
            </a:pPr>
            <a:r>
              <a:rPr lang="en-US" sz="1400" b="1" dirty="0">
                <a:solidFill>
                  <a:schemeClr val="tx1"/>
                </a:solidFill>
              </a:rPr>
              <a:t>Measurable per depositor. </a:t>
            </a:r>
            <a:pPr indent="0" marL="0">
              <a:spcAft>
                <a:spcPts val="900"/>
              </a:spcAft>
              <a:buNone/>
            </a:pPr>
            <a:r>
              <a:rPr lang="en-US" sz="1400" dirty="0">
                <a:solidFill>
                  <a:schemeClr val="tx1"/>
                </a:solidFill>
              </a:rPr>
              <a:t>Given names carry it (Twenge et al.), so the weight can be observed, not assumed.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one weight on two signals</a:t>
            </a:r>
            <a:endParaRPr lang="en-US" sz="2400" dirty="0"/>
          </a:p>
        </p:txBody>
      </p:sp>
      <p:sp>
        <p:nvSpPr>
          <p:cNvPr id="3" name="eq-card"/>
          <p:cNvSpPr/>
          <p:nvPr/>
        </p:nvSpPr>
        <p:spPr>
          <a:xfrm>
            <a:off x="457200" y="1051560"/>
            <a:ext cx="8229600" cy="1143000"/>
          </a:xfrm>
          <a:prstGeom prst="roundRect">
            <a:avLst>
              <a:gd name="adj" fmla="val 6400"/>
            </a:avLst>
          </a:prstGeom>
          <a:solidFill>
            <a:schemeClr val="accent4"/>
          </a:solidFill>
          <a:ln w="12700">
            <a:solidFill>
              <a:schemeClr val="accent4"/>
            </a:solidFill>
            <a:prstDash val="solid"/>
          </a:ln>
        </p:spPr>
      </p:sp>
      <p:sp>
        <p:nvSpPr>
          <p:cNvPr id="4" name="eq"/>
          <p:cNvSpPr txBox="1"/>
          <p:nvPr/>
        </p:nvSpPr>
        <p:spPr>
          <a:xfrm>
            <a:off x="640080" y="1097280"/>
            <a:ext cx="7863840" cy="685800"/>
          </a:xfrm>
          <a:prstGeom prst="rect">
            <a:avLst/>
          </a:prstGeom>
          <a:noFill/>
          <a:ln/>
        </p:spPr>
        <p:txBody>
          <a:bodyPr wrap="square" lIns="0" tIns="0" rIns="0" bIns="0" rtlCol="0" anchor="ctr"/>
          <a:lstStyle/>
          <a:p>
            <a:pPr algn="ctr" indent="0" marL="0">
              <a:buNone/>
            </a:pPr>
            <a:r>
              <a:rPr lang="en-US" sz="3000" i="1" dirty="0">
                <a:solidFill>
                  <a:schemeClr val="tx2"/>
                </a:solidFill>
                <a:latin typeface="Cambria" pitchFamily="34" charset="0"/>
                <a:ea typeface="Cambria" pitchFamily="34" charset="-122"/>
                <a:cs typeface="Cambria" pitchFamily="34" charset="-120"/>
              </a:rPr>
              <a:t>ŝ</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y</a:t>
            </a:r>
            <a:pPr algn="ctr" indent="0" marL="0">
              <a:buNone/>
            </a:pPr>
            <a:r>
              <a:rPr lang="en-US" sz="3000" dirty="0">
                <a:solidFill>
                  <a:schemeClr val="tx2"/>
                </a:solidFill>
                <a:latin typeface="Cambria" pitchFamily="34" charset="0"/>
                <a:ea typeface="Cambria" pitchFamily="34" charset="-122"/>
                <a:cs typeface="Cambria" pitchFamily="34" charset="-120"/>
              </a:rPr>
              <a:t>  +  (1 − λ</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pPr algn="ctr" indent="0" marL="0">
              <a:buNone/>
            </a:pPr>
            <a:r>
              <a:rPr lang="en-US" sz="3000" dirty="0">
                <a:solidFill>
                  <a:schemeClr val="tx2"/>
                </a:solidFill>
                <a:latin typeface="Cambria" pitchFamily="34" charset="0"/>
                <a:ea typeface="Cambria" pitchFamily="34" charset="-122"/>
                <a:cs typeface="Cambria" pitchFamily="34" charset="-120"/>
              </a:rPr>
              <a:t>) · </a:t>
            </a:r>
            <a:pPr algn="ctr" indent="0" marL="0">
              <a:buNone/>
            </a:pPr>
            <a:r>
              <a:rPr lang="en-US" sz="3000" i="1" dirty="0">
                <a:solidFill>
                  <a:schemeClr val="tx2"/>
                </a:solidFill>
                <a:latin typeface="Cambria" pitchFamily="34" charset="0"/>
                <a:ea typeface="Cambria" pitchFamily="34" charset="-122"/>
                <a:cs typeface="Cambria" pitchFamily="34" charset="-120"/>
              </a:rPr>
              <a:t>x</a:t>
            </a:r>
            <a:pPr algn="ctr" indent="0" marL="0">
              <a:buNone/>
            </a:pPr>
            <a:r>
              <a:rPr lang="en-US" sz="3000" i="1" baseline="-40000" dirty="0">
                <a:solidFill>
                  <a:schemeClr val="tx2"/>
                </a:solidFill>
                <a:latin typeface="Cambria" pitchFamily="34" charset="0"/>
                <a:ea typeface="Cambria" pitchFamily="34" charset="-122"/>
                <a:cs typeface="Cambria" pitchFamily="34" charset="-120"/>
              </a:rPr>
              <a:t>i</a:t>
            </a:r>
            <a:endParaRPr lang="en-US" sz="3000" dirty="0"/>
          </a:p>
        </p:txBody>
      </p:sp>
      <p:sp>
        <p:nvSpPr>
          <p:cNvPr id="5" name="eq-sub"/>
          <p:cNvSpPr txBox="1"/>
          <p:nvPr/>
        </p:nvSpPr>
        <p:spPr>
          <a:xfrm>
            <a:off x="640080" y="1783080"/>
            <a:ext cx="7863840" cy="320040"/>
          </a:xfrm>
          <a:prstGeom prst="rect">
            <a:avLst/>
          </a:prstGeom>
          <a:noFill/>
          <a:ln/>
        </p:spPr>
        <p:txBody>
          <a:bodyPr wrap="square" lIns="0" tIns="0" rIns="0" bIns="0" rtlCol="0" anchor="ctr"/>
          <a:lstStyle/>
          <a:p>
            <a:pPr algn="ctr" indent="0" marL="0">
              <a:buNone/>
            </a:pPr>
            <a:r>
              <a:rPr lang="en-US" sz="1200" i="1" dirty="0">
                <a:solidFill>
                  <a:schemeClr val="accent3"/>
                </a:solidFill>
              </a:rPr>
              <a:t>the depositor’s estimate of the bank, compared with a threshold: run if it falls below</a:t>
            </a:r>
            <a:endParaRPr lang="en-US" sz="1200" dirty="0"/>
          </a:p>
        </p:txBody>
      </p:sp>
      <p:sp>
        <p:nvSpPr>
          <p:cNvPr id="6" name="term-0"/>
          <p:cNvSpPr/>
          <p:nvPr/>
        </p:nvSpPr>
        <p:spPr>
          <a:xfrm>
            <a:off x="457200" y="2331720"/>
            <a:ext cx="2651760" cy="1188720"/>
          </a:xfrm>
          <a:prstGeom prst="roundRect">
            <a:avLst>
              <a:gd name="adj" fmla="val 6154"/>
            </a:avLst>
          </a:prstGeom>
          <a:solidFill>
            <a:schemeClr val="bg2"/>
          </a:solidFill>
          <a:ln w="12700">
            <a:solidFill>
              <a:schemeClr val="bg2"/>
            </a:solidFill>
            <a:prstDash val="solid"/>
          </a:ln>
        </p:spPr>
      </p:sp>
      <p:sp>
        <p:nvSpPr>
          <p:cNvPr id="7" name="term-head"/>
          <p:cNvSpPr txBox="1"/>
          <p:nvPr/>
        </p:nvSpPr>
        <p:spPr>
          <a:xfrm>
            <a:off x="594360" y="2377440"/>
            <a:ext cx="2423160" cy="457200"/>
          </a:xfrm>
          <a:prstGeom prst="rect">
            <a:avLst/>
          </a:prstGeom>
          <a:noFill/>
          <a:ln/>
        </p:spPr>
        <p:txBody>
          <a:bodyPr wrap="square" lIns="0" tIns="0" rIns="0" bIns="0" rtlCol="0" anchor="ctr"/>
          <a:lstStyle/>
          <a:p>
            <a:pPr indent="0" marL="0">
              <a:buNone/>
            </a:pPr>
            <a:r>
              <a:rPr lang="en-US" sz="2200" i="1" dirty="0">
                <a:solidFill>
                  <a:schemeClr val="tx2"/>
                </a:solidFill>
                <a:latin typeface="Cambria" pitchFamily="34" charset="0"/>
                <a:ea typeface="Cambria" pitchFamily="34" charset="-122"/>
                <a:cs typeface="Cambria" pitchFamily="34" charset="-120"/>
              </a:rPr>
              <a:t>x</a:t>
            </a:r>
            <a:pPr indent="0" marL="0">
              <a:buNone/>
            </a:pPr>
            <a:r>
              <a:rPr lang="en-US" sz="2200" i="1" baseline="-40000" dirty="0">
                <a:solidFill>
                  <a:schemeClr val="tx2"/>
                </a:solidFill>
                <a:latin typeface="Cambria" pitchFamily="34" charset="0"/>
                <a:ea typeface="Cambria" pitchFamily="34" charset="-122"/>
                <a:cs typeface="Cambria" pitchFamily="34" charset="-120"/>
              </a:rPr>
              <a:t>i</a:t>
            </a:r>
            <a:pPr indent="0" marL="0">
              <a:buNone/>
            </a:pPr>
            <a:r>
              <a:rPr lang="en-US" sz="1250" b="1" dirty="0">
                <a:solidFill>
                  <a:schemeClr val="tx1"/>
                </a:solidFill>
              </a:rPr>
              <a:t>   what the depositor sees</a:t>
            </a:r>
            <a:endParaRPr lang="en-US" sz="2200" dirty="0"/>
          </a:p>
        </p:txBody>
      </p:sp>
      <p:sp>
        <p:nvSpPr>
          <p:cNvPr id="8" name="term-body"/>
          <p:cNvSpPr txBox="1"/>
          <p:nvPr/>
        </p:nvSpPr>
        <p:spPr>
          <a:xfrm>
            <a:off x="59436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private signal of the fundamental, one noisy draw each</a:t>
            </a:r>
            <a:endParaRPr lang="en-US" sz="1150" dirty="0"/>
          </a:p>
        </p:txBody>
      </p:sp>
      <p:sp>
        <p:nvSpPr>
          <p:cNvPr id="9" name="term-1"/>
          <p:cNvSpPr/>
          <p:nvPr/>
        </p:nvSpPr>
        <p:spPr>
          <a:xfrm>
            <a:off x="3246120" y="2331720"/>
            <a:ext cx="2651760" cy="1188720"/>
          </a:xfrm>
          <a:prstGeom prst="roundRect">
            <a:avLst>
              <a:gd name="adj" fmla="val 6154"/>
            </a:avLst>
          </a:prstGeom>
          <a:solidFill>
            <a:schemeClr val="bg2"/>
          </a:solidFill>
          <a:ln w="12700">
            <a:solidFill>
              <a:schemeClr val="bg2"/>
            </a:solidFill>
            <a:prstDash val="solid"/>
          </a:ln>
        </p:spPr>
      </p:sp>
      <p:sp>
        <p:nvSpPr>
          <p:cNvPr id="10" name="term-head"/>
          <p:cNvSpPr txBox="1"/>
          <p:nvPr/>
        </p:nvSpPr>
        <p:spPr>
          <a:xfrm>
            <a:off x="3383280" y="2377440"/>
            <a:ext cx="2423160" cy="457200"/>
          </a:xfrm>
          <a:prstGeom prst="rect">
            <a:avLst/>
          </a:prstGeom>
          <a:noFill/>
          <a:ln/>
        </p:spPr>
        <p:txBody>
          <a:bodyPr wrap="square" lIns="0" tIns="0" rIns="0" bIns="0" rtlCol="0" anchor="ctr"/>
          <a:lstStyle/>
          <a:p>
            <a:pPr indent="0" marL="0">
              <a:buNone/>
            </a:pPr>
            <a:r>
              <a:rPr lang="en-US" sz="2200" i="1" dirty="0">
                <a:solidFill>
                  <a:schemeClr val="accent3"/>
                </a:solidFill>
                <a:latin typeface="Cambria" pitchFamily="34" charset="0"/>
                <a:ea typeface="Cambria" pitchFamily="34" charset="-122"/>
                <a:cs typeface="Cambria" pitchFamily="34" charset="-120"/>
              </a:rPr>
              <a:t>y</a:t>
            </a:r>
            <a:pPr indent="0" marL="0">
              <a:buNone/>
            </a:pPr>
            <a:pPr indent="0" marL="0">
              <a:buNone/>
            </a:pPr>
            <a:r>
              <a:rPr lang="en-US" sz="1250" b="1" dirty="0">
                <a:solidFill>
                  <a:schemeClr val="tx1"/>
                </a:solidFill>
              </a:rPr>
              <a:t>   what the depositor is told</a:t>
            </a:r>
            <a:endParaRPr lang="en-US" sz="2200" dirty="0"/>
          </a:p>
        </p:txBody>
      </p:sp>
      <p:sp>
        <p:nvSpPr>
          <p:cNvPr id="11" name="term-body"/>
          <p:cNvSpPr txBox="1"/>
          <p:nvPr/>
        </p:nvSpPr>
        <p:spPr>
          <a:xfrm>
            <a:off x="338328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public signal, common to all, which can be stale</a:t>
            </a:r>
            <a:endParaRPr lang="en-US" sz="1150" dirty="0"/>
          </a:p>
        </p:txBody>
      </p:sp>
      <p:sp>
        <p:nvSpPr>
          <p:cNvPr id="12" name="term-2"/>
          <p:cNvSpPr/>
          <p:nvPr/>
        </p:nvSpPr>
        <p:spPr>
          <a:xfrm>
            <a:off x="6035040" y="2331720"/>
            <a:ext cx="2651760" cy="1188720"/>
          </a:xfrm>
          <a:prstGeom prst="roundRect">
            <a:avLst>
              <a:gd name="adj" fmla="val 6154"/>
            </a:avLst>
          </a:prstGeom>
          <a:solidFill>
            <a:schemeClr val="bg2"/>
          </a:solidFill>
          <a:ln w="12700">
            <a:solidFill>
              <a:schemeClr val="bg2"/>
            </a:solidFill>
            <a:prstDash val="solid"/>
          </a:ln>
        </p:spPr>
      </p:sp>
      <p:sp>
        <p:nvSpPr>
          <p:cNvPr id="13" name="term-head"/>
          <p:cNvSpPr txBox="1"/>
          <p:nvPr/>
        </p:nvSpPr>
        <p:spPr>
          <a:xfrm>
            <a:off x="6172200" y="2377440"/>
            <a:ext cx="2423160" cy="457200"/>
          </a:xfrm>
          <a:prstGeom prst="rect">
            <a:avLst/>
          </a:prstGeom>
          <a:noFill/>
          <a:ln/>
        </p:spPr>
        <p:txBody>
          <a:bodyPr wrap="square" lIns="0" tIns="0" rIns="0" bIns="0" rtlCol="0" anchor="ctr"/>
          <a:lstStyle/>
          <a:p>
            <a:pPr indent="0" marL="0">
              <a:buNone/>
            </a:pPr>
            <a:r>
              <a:rPr lang="en-US" sz="2200" i="1" dirty="0">
                <a:solidFill>
                  <a:schemeClr val="accent1"/>
                </a:solidFill>
                <a:latin typeface="Cambria" pitchFamily="34" charset="0"/>
                <a:ea typeface="Cambria" pitchFamily="34" charset="-122"/>
                <a:cs typeface="Cambria" pitchFamily="34" charset="-120"/>
              </a:rPr>
              <a:t>λ</a:t>
            </a:r>
            <a:pPr indent="0" marL="0">
              <a:buNone/>
            </a:pPr>
            <a:r>
              <a:rPr lang="en-US" sz="2200" i="1" baseline="-40000" dirty="0">
                <a:solidFill>
                  <a:schemeClr val="accent1"/>
                </a:solidFill>
                <a:latin typeface="Cambria" pitchFamily="34" charset="0"/>
                <a:ea typeface="Cambria" pitchFamily="34" charset="-122"/>
                <a:cs typeface="Cambria" pitchFamily="34" charset="-120"/>
              </a:rPr>
              <a:t>i</a:t>
            </a:r>
            <a:pPr indent="0" marL="0">
              <a:buNone/>
            </a:pPr>
            <a:r>
              <a:rPr lang="en-US" sz="1250" b="1" dirty="0">
                <a:solidFill>
                  <a:schemeClr val="tx1"/>
                </a:solidFill>
              </a:rPr>
              <a:t>   weight on the public line</a:t>
            </a:r>
            <a:endParaRPr lang="en-US" sz="2200" dirty="0"/>
          </a:p>
        </p:txBody>
      </p:sp>
      <p:sp>
        <p:nvSpPr>
          <p:cNvPr id="14" name="term-body"/>
          <p:cNvSpPr txBox="1"/>
          <p:nvPr/>
        </p:nvSpPr>
        <p:spPr>
          <a:xfrm>
            <a:off x="6172200" y="2834640"/>
            <a:ext cx="2423160" cy="640080"/>
          </a:xfrm>
          <a:prstGeom prst="rect">
            <a:avLst/>
          </a:prstGeom>
          <a:noFill/>
          <a:ln/>
        </p:spPr>
        <p:txBody>
          <a:bodyPr wrap="square" lIns="0" tIns="0" rIns="0" bIns="0" rtlCol="0" anchor="t"/>
          <a:lstStyle/>
          <a:p>
            <a:pPr indent="0" marL="0">
              <a:buNone/>
            </a:pPr>
            <a:r>
              <a:rPr lang="en-US" sz="1150" dirty="0">
                <a:solidFill>
                  <a:schemeClr val="accent3"/>
                </a:solidFill>
              </a:rPr>
              <a:t>a disposition set before the run; culture is its source</a:t>
            </a:r>
            <a:endParaRPr lang="en-US" sz="1150" dirty="0"/>
          </a:p>
        </p:txBody>
      </p:sp>
      <p:sp>
        <p:nvSpPr>
          <p:cNvPr id="15" name="wedge"/>
          <p:cNvSpPr txBox="1"/>
          <p:nvPr/>
        </p:nvSpPr>
        <p:spPr>
          <a:xfrm>
            <a:off x="457200" y="3657600"/>
            <a:ext cx="8229600" cy="777240"/>
          </a:xfrm>
          <a:prstGeom prst="rect">
            <a:avLst/>
          </a:prstGeom>
          <a:noFill/>
          <a:ln/>
        </p:spPr>
        <p:txBody>
          <a:bodyPr wrap="square" lIns="0" tIns="0" rIns="0" bIns="0" rtlCol="0" anchor="t"/>
          <a:lstStyle/>
          <a:p>
            <a:pPr indent="0" marL="0">
              <a:buNone/>
            </a:pPr>
            <a:r>
              <a:rPr lang="en-US" sz="1300" b="1" dirty="0">
                <a:solidFill>
                  <a:srgbClr val="EB6834"/>
                </a:solidFill>
              </a:rPr>
              <a:t>Individualists </a:t>
            </a:r>
            <a:pPr indent="0" marL="0">
              <a:buNone/>
            </a:pPr>
            <a:r>
              <a:rPr lang="en-US" sz="1300" dirty="0">
                <a:solidFill>
                  <a:schemeClr val="tx1"/>
                </a:solidFill>
              </a:rPr>
              <a:t>λ</a:t>
            </a:r>
            <a:pPr indent="0" marL="0">
              <a:buNone/>
            </a:pPr>
            <a:r>
              <a:rPr lang="en-US" sz="1300" baseline="-40000" dirty="0">
                <a:solidFill>
                  <a:schemeClr val="tx1"/>
                </a:solidFill>
              </a:rPr>
              <a:t>I</a:t>
            </a:r>
            <a:pPr indent="0" marL="0">
              <a:buNone/>
            </a:pPr>
            <a:r>
              <a:rPr lang="en-US" sz="1300" dirty="0">
                <a:solidFill>
                  <a:schemeClr val="tx1"/>
                </a:solidFill>
              </a:rPr>
              <a:t>  &lt;  λ</a:t>
            </a:r>
            <a:pPr indent="0" marL="0">
              <a:buNone/>
            </a:pPr>
            <a:r>
              <a:rPr lang="en-US" sz="1300" baseline="-40000" dirty="0">
                <a:solidFill>
                  <a:schemeClr val="tx1"/>
                </a:solidFill>
              </a:rPr>
              <a:t>C</a:t>
            </a:r>
            <a:pPr indent="0" marL="0">
              <a:buNone/>
            </a:pPr>
            <a:r>
              <a:rPr lang="en-US" sz="1300" b="1" dirty="0">
                <a:solidFill>
                  <a:srgbClr val="2A78D6"/>
                </a:solidFill>
              </a:rPr>
              <a:t> collectivists</a:t>
            </a:r>
            <a:pPr indent="0" marL="0">
              <a:buNone/>
            </a:pPr>
            <a:r>
              <a:rPr lang="en-US" sz="1300" dirty="0">
                <a:solidFill>
                  <a:schemeClr val="tx1"/>
                </a:solidFill>
              </a:rPr>
              <a:t>.  Same two signals, different estimates: </a:t>
            </a:r>
            <a:pPr indent="0" marL="0">
              <a:buNone/>
            </a:pPr>
            <a:r>
              <a:rPr lang="en-US" sz="1300" i="1" dirty="0">
                <a:solidFill>
                  <a:schemeClr val="tx1"/>
                </a:solidFill>
              </a:rPr>
              <a:t>ŝ</a:t>
            </a:r>
            <a:pPr indent="0" marL="0">
              <a:buNone/>
            </a:pPr>
            <a:r>
              <a:rPr lang="en-US" sz="1300" baseline="-40000" dirty="0">
                <a:solidFill>
                  <a:schemeClr val="tx1"/>
                </a:solidFill>
              </a:rPr>
              <a:t>I</a:t>
            </a:r>
            <a:pPr indent="0" marL="0">
              <a:buNone/>
            </a:pPr>
            <a:r>
              <a:rPr lang="en-US" sz="1300" dirty="0">
                <a:solidFill>
                  <a:schemeClr val="tx1"/>
                </a:solidFill>
              </a:rPr>
              <a:t> − </a:t>
            </a:r>
            <a:pPr indent="0" marL="0">
              <a:buNone/>
            </a:pPr>
            <a:r>
              <a:rPr lang="en-US" sz="1300" i="1" dirty="0">
                <a:solidFill>
                  <a:schemeClr val="tx1"/>
                </a:solidFill>
              </a:rPr>
              <a:t>ŝ</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C</a:t>
            </a:r>
            <a:pPr indent="0" marL="0">
              <a:buNone/>
            </a:pPr>
            <a:r>
              <a:rPr lang="en-US" sz="1300" dirty="0">
                <a:solidFill>
                  <a:schemeClr val="tx1"/>
                </a:solidFill>
              </a:rPr>
              <a:t> − λ</a:t>
            </a:r>
            <a:pPr indent="0" marL="0">
              <a:buNone/>
            </a:pPr>
            <a:r>
              <a:rPr lang="en-US" sz="1300" baseline="-40000" dirty="0">
                <a:solidFill>
                  <a:schemeClr val="tx1"/>
                </a:solidFill>
              </a:rPr>
              <a:t>I</a:t>
            </a:r>
            <a:pPr indent="0" marL="0">
              <a:buNone/>
            </a:pPr>
            <a:r>
              <a:rPr lang="en-US" sz="1300" dirty="0">
                <a:solidFill>
                  <a:schemeClr val="tx1"/>
                </a:solidFill>
              </a:rPr>
              <a:t>)(</a:t>
            </a:r>
            <a:pPr indent="0" marL="0">
              <a:buNone/>
            </a:pPr>
            <a:r>
              <a:rPr lang="en-US" sz="1300" i="1" dirty="0">
                <a:solidFill>
                  <a:schemeClr val="tx1"/>
                </a:solidFill>
              </a:rPr>
              <a:t>x</a:t>
            </a:r>
            <a:pPr indent="0" marL="0">
              <a:buNone/>
            </a:pPr>
            <a:r>
              <a:rPr lang="en-US" sz="1300" dirty="0">
                <a:solidFill>
                  <a:schemeClr val="tx1"/>
                </a:solidFill>
              </a:rPr>
              <a:t> − </a:t>
            </a:r>
            <a:pPr indent="0" marL="0">
              <a:buNone/>
            </a:pPr>
            <a:r>
              <a:rPr lang="en-US" sz="1300" i="1" dirty="0">
                <a:solidFill>
                  <a:schemeClr val="tx1"/>
                </a:solidFill>
              </a:rPr>
              <a:t>y</a:t>
            </a:r>
            <a:pPr indent="0" marL="0">
              <a:buNone/>
            </a:pPr>
            <a:r>
              <a:rPr lang="en-US" sz="1300" dirty="0">
                <a:solidFill>
                  <a:schemeClr val="tx1"/>
                </a:solidFill>
              </a:rPr>
              <a:t>). </a:t>
            </a:r>
            <a:pPr indent="0" marL="0">
              <a:buNone/>
            </a:pPr>
            <a:r>
              <a:rPr lang="en-US" sz="1300" b="1" dirty="0">
                <a:solidFill>
                  <a:schemeClr val="tx2"/>
                </a:solidFill>
              </a:rPr>
              <a:t>Who runs is sorted by the weight, and the order flips with the sign of the public error.</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model in one picture</a:t>
            </a:r>
            <a:endParaRPr lang="en-US" sz="2400" dirty="0"/>
          </a:p>
        </p:txBody>
      </p:sp>
      <p:pic>
        <p:nvPicPr>
          <p:cNvPr id="3" name="odd" descr="Model overview: depositors on a social network with a bank; each run draws fundamentals and signals, a shock hits, then depositors observe neighbours and news, form beliefs, and decide whether to withdraw, tick by tick.">    </p:cNvPr>
          <p:cNvPicPr>
            <a:picLocks noChangeAspect="1"/>
          </p:cNvPicPr>
          <p:nvPr/>
        </p:nvPicPr>
        <p:blipFill>
          <a:blip r:embed="rId1"/>
          <a:stretch>
            <a:fillRect/>
          </a:stretch>
        </p:blipFill>
        <p:spPr>
          <a:xfrm>
            <a:off x="457200" y="1051560"/>
            <a:ext cx="3467633" cy="3520440"/>
          </a:xfrm>
          <a:prstGeom prst="rect">
            <a:avLst/>
          </a:prstGeom>
        </p:spPr>
      </p:pic>
      <p:sp>
        <p:nvSpPr>
          <p:cNvPr id="4" name="stat-depositors on a smal"/>
          <p:cNvSpPr/>
          <p:nvPr/>
        </p:nvSpPr>
        <p:spPr>
          <a:xfrm>
            <a:off x="4244873" y="1051560"/>
            <a:ext cx="2152383" cy="960120"/>
          </a:xfrm>
          <a:prstGeom prst="roundRect">
            <a:avLst>
              <a:gd name="adj" fmla="val 7619"/>
            </a:avLst>
          </a:prstGeom>
          <a:solidFill>
            <a:schemeClr val="bg2"/>
          </a:solidFill>
          <a:ln w="12700">
            <a:solidFill>
              <a:schemeClr val="bg2"/>
            </a:solidFill>
            <a:prstDash val="solid"/>
          </a:ln>
        </p:spPr>
      </p:sp>
      <p:sp>
        <p:nvSpPr>
          <p:cNvPr id="5" name="stat-big"/>
          <p:cNvSpPr txBox="1"/>
          <p:nvPr/>
        </p:nvSpPr>
        <p:spPr>
          <a:xfrm>
            <a:off x="4382033"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1,000</a:t>
            </a:r>
            <a:endParaRPr lang="en-US" sz="2600" dirty="0"/>
          </a:p>
        </p:txBody>
      </p:sp>
      <p:sp>
        <p:nvSpPr>
          <p:cNvPr id="6" name="stat-label"/>
          <p:cNvSpPr txBox="1"/>
          <p:nvPr/>
        </p:nvSpPr>
        <p:spPr>
          <a:xfrm>
            <a:off x="4382033"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depositors on a small-world network, one bank</a:t>
            </a:r>
            <a:endParaRPr lang="en-US" sz="1100" dirty="0"/>
          </a:p>
        </p:txBody>
      </p:sp>
      <p:sp>
        <p:nvSpPr>
          <p:cNvPr id="7" name="stat-cap on any one depos"/>
          <p:cNvSpPr/>
          <p:nvPr/>
        </p:nvSpPr>
        <p:spPr>
          <a:xfrm>
            <a:off x="6534417" y="1051560"/>
            <a:ext cx="2152383" cy="960120"/>
          </a:xfrm>
          <a:prstGeom prst="roundRect">
            <a:avLst>
              <a:gd name="adj" fmla="val 7619"/>
            </a:avLst>
          </a:prstGeom>
          <a:solidFill>
            <a:schemeClr val="bg2"/>
          </a:solidFill>
          <a:ln w="12700">
            <a:solidFill>
              <a:schemeClr val="bg2"/>
            </a:solidFill>
            <a:prstDash val="solid"/>
          </a:ln>
        </p:spPr>
      </p:sp>
      <p:sp>
        <p:nvSpPr>
          <p:cNvPr id="8" name="stat-big"/>
          <p:cNvSpPr txBox="1"/>
          <p:nvPr/>
        </p:nvSpPr>
        <p:spPr>
          <a:xfrm>
            <a:off x="6671577" y="112471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9" name="stat-label"/>
          <p:cNvSpPr txBox="1"/>
          <p:nvPr/>
        </p:nvSpPr>
        <p:spPr>
          <a:xfrm>
            <a:off x="6671577" y="160020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cap on any one deposit; sizes log-normal (σ 2.5) below it</a:t>
            </a:r>
            <a:endParaRPr lang="en-US" sz="1100" dirty="0"/>
          </a:p>
        </p:txBody>
      </p:sp>
      <p:sp>
        <p:nvSpPr>
          <p:cNvPr id="10" name="stat-risk aversion; parti"/>
          <p:cNvSpPr/>
          <p:nvPr/>
        </p:nvSpPr>
        <p:spPr>
          <a:xfrm>
            <a:off x="4244873" y="2148840"/>
            <a:ext cx="2152383" cy="960120"/>
          </a:xfrm>
          <a:prstGeom prst="roundRect">
            <a:avLst>
              <a:gd name="adj" fmla="val 7619"/>
            </a:avLst>
          </a:prstGeom>
          <a:solidFill>
            <a:schemeClr val="bg2"/>
          </a:solidFill>
          <a:ln w="12700">
            <a:solidFill>
              <a:schemeClr val="bg2"/>
            </a:solidFill>
            <a:prstDash val="solid"/>
          </a:ln>
        </p:spPr>
      </p:sp>
      <p:sp>
        <p:nvSpPr>
          <p:cNvPr id="11" name="stat-big"/>
          <p:cNvSpPr txBox="1"/>
          <p:nvPr/>
        </p:nvSpPr>
        <p:spPr>
          <a:xfrm>
            <a:off x="4382033" y="2221992"/>
            <a:ext cx="1878063"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CARA 0.1</a:t>
            </a:r>
            <a:endParaRPr lang="en-US" sz="2200" dirty="0"/>
          </a:p>
        </p:txBody>
      </p:sp>
      <p:sp>
        <p:nvSpPr>
          <p:cNvPr id="12" name="stat-label"/>
          <p:cNvSpPr txBox="1"/>
          <p:nvPr/>
        </p:nvSpPr>
        <p:spPr>
          <a:xfrm>
            <a:off x="4382033"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risk aversion; partial withdrawals allowed</a:t>
            </a:r>
            <a:endParaRPr lang="en-US" sz="1100" dirty="0"/>
          </a:p>
        </p:txBody>
      </p:sp>
      <p:sp>
        <p:nvSpPr>
          <p:cNvPr id="13" name="stat-runs per cell: 25 in"/>
          <p:cNvSpPr/>
          <p:nvPr/>
        </p:nvSpPr>
        <p:spPr>
          <a:xfrm>
            <a:off x="6534417" y="2148840"/>
            <a:ext cx="2152383" cy="960120"/>
          </a:xfrm>
          <a:prstGeom prst="roundRect">
            <a:avLst>
              <a:gd name="adj" fmla="val 7619"/>
            </a:avLst>
          </a:prstGeom>
          <a:solidFill>
            <a:schemeClr val="bg2"/>
          </a:solidFill>
          <a:ln w="12700">
            <a:solidFill>
              <a:schemeClr val="bg2"/>
            </a:solidFill>
            <a:prstDash val="solid"/>
          </a:ln>
        </p:spPr>
      </p:sp>
      <p:sp>
        <p:nvSpPr>
          <p:cNvPr id="14" name="stat-big"/>
          <p:cNvSpPr txBox="1"/>
          <p:nvPr/>
        </p:nvSpPr>
        <p:spPr>
          <a:xfrm>
            <a:off x="6671577" y="2221992"/>
            <a:ext cx="1878063"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250</a:t>
            </a:r>
            <a:endParaRPr lang="en-US" sz="2600" dirty="0"/>
          </a:p>
        </p:txBody>
      </p:sp>
      <p:sp>
        <p:nvSpPr>
          <p:cNvPr id="15" name="stat-label"/>
          <p:cNvSpPr txBox="1"/>
          <p:nvPr/>
        </p:nvSpPr>
        <p:spPr>
          <a:xfrm>
            <a:off x="6671577" y="2697480"/>
            <a:ext cx="1878063" cy="356616"/>
          </a:xfrm>
          <a:prstGeom prst="rect">
            <a:avLst/>
          </a:prstGeom>
          <a:noFill/>
          <a:ln/>
        </p:spPr>
        <p:txBody>
          <a:bodyPr wrap="square" lIns="0" tIns="0" rIns="0" bIns="0" rtlCol="0" anchor="t"/>
          <a:lstStyle/>
          <a:p>
            <a:pPr indent="0" marL="0">
              <a:buNone/>
            </a:pPr>
            <a:r>
              <a:rPr lang="en-US" sz="1100" dirty="0">
                <a:solidFill>
                  <a:schemeClr val="accent3"/>
                </a:solidFill>
              </a:rPr>
              <a:t>runs per cell: 25 initialisations × 10 draws</a:t>
            </a:r>
            <a:endParaRPr lang="en-US" sz="1100" dirty="0"/>
          </a:p>
        </p:txBody>
      </p:sp>
      <p:sp>
        <p:nvSpPr>
          <p:cNvPr id="16" name="bullets"/>
          <p:cNvSpPr txBox="1"/>
          <p:nvPr/>
        </p:nvSpPr>
        <p:spPr>
          <a:xfrm>
            <a:off x="4244873" y="3200400"/>
            <a:ext cx="4441927" cy="1371600"/>
          </a:xfrm>
          <a:prstGeom prst="rect">
            <a:avLst/>
          </a:prstGeom>
          <a:noFill/>
          <a:ln/>
        </p:spPr>
        <p:txBody>
          <a:bodyPr wrap="square" lIns="0" tIns="0" rIns="0" bIns="0" rtlCol="0" anchor="t"/>
          <a:lstStyle/>
          <a:p>
            <a:pPr marL="177800" indent="-177800">
              <a:spcAft>
                <a:spcPts val="400"/>
              </a:spcAft>
              <a:buSzPct val="100000"/>
              <a:buChar char="•"/>
            </a:pPr>
            <a:r>
              <a:rPr lang="en-US" sz="1150" dirty="0">
                <a:solidFill>
                  <a:schemeClr val="tx1"/>
                </a:solidFill>
              </a:rPr>
              <a:t>One bank that sells its long asset at a discount when cash runs short (a fire-sale bank)</a:t>
            </a:r>
            <a:endParaRPr lang="en-US" sz="1150" dirty="0"/>
          </a:p>
          <a:p>
            <a:pPr marL="177800" indent="-177800">
              <a:spcAft>
                <a:spcPts val="400"/>
              </a:spcAft>
              <a:buSzPct val="100000"/>
              <a:buChar char="•"/>
            </a:pPr>
            <a:r>
              <a:rPr lang="en-US" sz="1150" dirty="0">
                <a:solidFill>
                  <a:schemeClr val="tx1"/>
                </a:solidFill>
              </a:rPr>
              <a:t>Each tick a depositor sees neighbours’ withdrawals and the public news, blends them with a private signal, and withdraws if that pays</a:t>
            </a:r>
            <a:endParaRPr lang="en-US" sz="1150" dirty="0"/>
          </a:p>
          <a:p>
            <a:pPr marL="177800" indent="-177800">
              <a:spcAft>
                <a:spcPts val="400"/>
              </a:spcAft>
              <a:buSzPct val="100000"/>
              <a:buChar char="•"/>
            </a:pPr>
            <a:r>
              <a:rPr lang="en-US" sz="1150" dirty="0">
                <a:solidFill>
                  <a:schemeClr val="tx1"/>
                </a:solidFill>
              </a:rPr>
              <a:t>A public signal can be absent, accurate, or outdated</a:t>
            </a:r>
            <a:endParaRPr lang="en-US" sz="1150" dirty="0"/>
          </a:p>
          <a:p>
            <a:pPr marL="177800" indent="-177800">
              <a:spcAft>
                <a:spcPts val="400"/>
              </a:spcAft>
              <a:buSzPct val="100000"/>
              <a:buChar char="•"/>
            </a:pPr>
            <a:r>
              <a:rPr lang="en-US" sz="1150" dirty="0">
                <a:solidFill>
                  <a:schemeClr val="tx1"/>
                </a:solidFill>
              </a:rPr>
              <a:t>Outcomes: D = individualists’ minus collectivists’ withdrawal share (those not hit by the shock); P(fail) = share of runs that fail</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Individualists and collectivists: who listens to whom</a:t>
            </a:r>
            <a:endParaRPr lang="en-US" sz="2400" dirty="0"/>
          </a:p>
        </p:txBody>
      </p:sp>
      <p:sp>
        <p:nvSpPr>
          <p:cNvPr id="3" name="type-Individualists"/>
          <p:cNvSpPr/>
          <p:nvPr/>
        </p:nvSpPr>
        <p:spPr>
          <a:xfrm>
            <a:off x="457200" y="1051560"/>
            <a:ext cx="4023360" cy="2377440"/>
          </a:xfrm>
          <a:prstGeom prst="roundRect">
            <a:avLst>
              <a:gd name="adj" fmla="val 3077"/>
            </a:avLst>
          </a:prstGeom>
          <a:solidFill>
            <a:schemeClr val="bg2"/>
          </a:solidFill>
          <a:ln w="12700">
            <a:solidFill>
              <a:schemeClr val="bg2"/>
            </a:solidFill>
            <a:prstDash val="solid"/>
          </a:ln>
        </p:spPr>
      </p:sp>
      <p:sp>
        <p:nvSpPr>
          <p:cNvPr id="4" name="type-head"/>
          <p:cNvSpPr txBox="1"/>
          <p:nvPr/>
        </p:nvSpPr>
        <p:spPr>
          <a:xfrm>
            <a:off x="640080" y="1143000"/>
            <a:ext cx="3657600" cy="365760"/>
          </a:xfrm>
          <a:prstGeom prst="rect">
            <a:avLst/>
          </a:prstGeom>
          <a:noFill/>
          <a:ln/>
        </p:spPr>
        <p:txBody>
          <a:bodyPr wrap="square" lIns="0" tIns="0" rIns="0" bIns="0" rtlCol="0" anchor="ctr"/>
          <a:lstStyle/>
          <a:p>
            <a:pPr indent="0" marL="0">
              <a:buNone/>
            </a:pPr>
            <a:r>
              <a:rPr lang="en-US" sz="1800" b="1" dirty="0">
                <a:solidFill>
                  <a:srgbClr val="EB6834"/>
                </a:solidFill>
              </a:rPr>
              <a:t>Individualists</a:t>
            </a:r>
            <a:endParaRPr lang="en-US" sz="1800" dirty="0"/>
          </a:p>
        </p:txBody>
      </p:sp>
      <p:sp>
        <p:nvSpPr>
          <p:cNvPr id="5" name="bullets"/>
          <p:cNvSpPr txBox="1"/>
          <p:nvPr/>
        </p:nvSpPr>
        <p:spPr>
          <a:xfrm>
            <a:off x="64008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Trust their own information about the bank</a:t>
            </a:r>
            <a:endParaRPr lang="en-US" sz="1300" dirty="0"/>
          </a:p>
          <a:p>
            <a:pPr marL="177800" indent="-177800">
              <a:spcAft>
                <a:spcPts val="500"/>
              </a:spcAft>
              <a:buSzPct val="100000"/>
              <a:buChar char="•"/>
            </a:pPr>
            <a:r>
              <a:rPr lang="en-US" sz="1300" dirty="0">
                <a:solidFill>
                  <a:schemeClr val="tx1"/>
                </a:solidFill>
              </a:rPr>
              <a:t>Put little weight on what neighbours do or on public news</a:t>
            </a:r>
            <a:endParaRPr lang="en-US" sz="1300" dirty="0"/>
          </a:p>
          <a:p>
            <a:pPr marL="177800" indent="-177800">
              <a:spcAft>
                <a:spcPts val="500"/>
              </a:spcAft>
              <a:buSzPct val="100000"/>
              <a:buChar char="•"/>
            </a:pPr>
            <a:r>
              <a:rPr lang="en-US" sz="1300" dirty="0">
                <a:solidFill>
                  <a:schemeClr val="tx1"/>
                </a:solidFill>
              </a:rPr>
              <a:t>Weight on the social side: λ = 0.1 to 0.3</a:t>
            </a:r>
            <a:endParaRPr lang="en-US" sz="1300" dirty="0"/>
          </a:p>
          <a:p>
            <a:pPr marL="177800" indent="-177800">
              <a:spcAft>
                <a:spcPts val="500"/>
              </a:spcAft>
              <a:buSzPct val="100000"/>
              <a:buChar char="•"/>
            </a:pPr>
            <a:r>
              <a:rPr lang="en-US" sz="1300" dirty="0">
                <a:solidFill>
                  <a:schemeClr val="tx1"/>
                </a:solidFill>
              </a:rPr>
              <a:t>Act on what they see themselves</a:t>
            </a:r>
            <a:endParaRPr lang="en-US" sz="1300" dirty="0"/>
          </a:p>
        </p:txBody>
      </p:sp>
      <p:sp>
        <p:nvSpPr>
          <p:cNvPr id="6" name="type-Collectivists"/>
          <p:cNvSpPr/>
          <p:nvPr/>
        </p:nvSpPr>
        <p:spPr>
          <a:xfrm>
            <a:off x="4663440" y="1051560"/>
            <a:ext cx="4023360" cy="2377440"/>
          </a:xfrm>
          <a:prstGeom prst="roundRect">
            <a:avLst>
              <a:gd name="adj" fmla="val 3077"/>
            </a:avLst>
          </a:prstGeom>
          <a:solidFill>
            <a:schemeClr val="bg2"/>
          </a:solidFill>
          <a:ln w="12700">
            <a:solidFill>
              <a:schemeClr val="bg2"/>
            </a:solidFill>
            <a:prstDash val="solid"/>
          </a:ln>
        </p:spPr>
      </p:sp>
      <p:sp>
        <p:nvSpPr>
          <p:cNvPr id="7" name="type-head"/>
          <p:cNvSpPr txBox="1"/>
          <p:nvPr/>
        </p:nvSpPr>
        <p:spPr>
          <a:xfrm>
            <a:off x="4846320" y="1143000"/>
            <a:ext cx="3657600" cy="365760"/>
          </a:xfrm>
          <a:prstGeom prst="rect">
            <a:avLst/>
          </a:prstGeom>
          <a:noFill/>
          <a:ln/>
        </p:spPr>
        <p:txBody>
          <a:bodyPr wrap="square" lIns="0" tIns="0" rIns="0" bIns="0" rtlCol="0" anchor="ctr"/>
          <a:lstStyle/>
          <a:p>
            <a:pPr indent="0" marL="0">
              <a:buNone/>
            </a:pPr>
            <a:r>
              <a:rPr lang="en-US" sz="1800" b="1" dirty="0">
                <a:solidFill>
                  <a:srgbClr val="2A78D6"/>
                </a:solidFill>
              </a:rPr>
              <a:t>Collectivists</a:t>
            </a:r>
            <a:endParaRPr lang="en-US" sz="1800" dirty="0"/>
          </a:p>
        </p:txBody>
      </p:sp>
      <p:sp>
        <p:nvSpPr>
          <p:cNvPr id="8" name="bullets"/>
          <p:cNvSpPr txBox="1"/>
          <p:nvPr/>
        </p:nvSpPr>
        <p:spPr>
          <a:xfrm>
            <a:off x="4846320" y="1600200"/>
            <a:ext cx="3657600" cy="173736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Watch what neighbours do and what the public news says</a:t>
            </a:r>
            <a:endParaRPr lang="en-US" sz="1300" dirty="0"/>
          </a:p>
          <a:p>
            <a:pPr marL="177800" indent="-177800">
              <a:spcAft>
                <a:spcPts val="500"/>
              </a:spcAft>
              <a:buSzPct val="100000"/>
              <a:buChar char="•"/>
            </a:pPr>
            <a:r>
              <a:rPr lang="en-US" sz="1300" dirty="0">
                <a:solidFill>
                  <a:schemeClr val="tx1"/>
                </a:solidFill>
              </a:rPr>
              <a:t>Put little weight on their own information</a:t>
            </a:r>
            <a:endParaRPr lang="en-US" sz="1300" dirty="0"/>
          </a:p>
          <a:p>
            <a:pPr marL="177800" indent="-177800">
              <a:spcAft>
                <a:spcPts val="500"/>
              </a:spcAft>
              <a:buSzPct val="100000"/>
              <a:buChar char="•"/>
            </a:pPr>
            <a:r>
              <a:rPr lang="en-US" sz="1300" dirty="0">
                <a:solidFill>
                  <a:schemeClr val="tx1"/>
                </a:solidFill>
              </a:rPr>
              <a:t>Weight on the social side: λ = 0.5 to 0.9</a:t>
            </a:r>
            <a:endParaRPr lang="en-US" sz="1300" dirty="0"/>
          </a:p>
          <a:p>
            <a:pPr marL="177800" indent="-177800">
              <a:spcAft>
                <a:spcPts val="500"/>
              </a:spcAft>
              <a:buSzPct val="100000"/>
              <a:buChar char="•"/>
            </a:pPr>
            <a:r>
              <a:rPr lang="en-US" sz="1300" dirty="0">
                <a:solidFill>
                  <a:schemeClr val="tx1"/>
                </a:solidFill>
              </a:rPr>
              <a:t>Move when others move</a:t>
            </a:r>
            <a:endParaRPr lang="en-US" sz="1300" dirty="0"/>
          </a:p>
        </p:txBody>
      </p:sp>
      <p:sp>
        <p:nvSpPr>
          <p:cNvPr id="9" name="pairs-head"/>
          <p:cNvSpPr txBox="1"/>
          <p:nvPr/>
        </p:nvSpPr>
        <p:spPr>
          <a:xfrm>
            <a:off x="457200" y="3611880"/>
            <a:ext cx="4572000" cy="274320"/>
          </a:xfrm>
          <a:prstGeom prst="rect">
            <a:avLst/>
          </a:prstGeom>
          <a:noFill/>
          <a:ln/>
        </p:spPr>
        <p:txBody>
          <a:bodyPr wrap="square" lIns="0" tIns="0" rIns="0" bIns="0" rtlCol="0" anchor="ctr"/>
          <a:lstStyle/>
          <a:p>
            <a:pPr indent="0" marL="0">
              <a:buNone/>
            </a:pPr>
            <a:r>
              <a:rPr lang="en-US" sz="1100" b="1" dirty="0">
                <a:solidFill>
                  <a:schemeClr val="accent3"/>
                </a:solidFill>
              </a:rPr>
              <a:t>Three pairs (λ individualist, λ collectivist) in the figures</a:t>
            </a:r>
            <a:endParaRPr lang="en-US" sz="1100" dirty="0"/>
          </a:p>
        </p:txBody>
      </p:sp>
      <p:sp>
        <p:nvSpPr>
          <p:cNvPr id="10" name="chip"/>
          <p:cNvSpPr/>
          <p:nvPr/>
        </p:nvSpPr>
        <p:spPr>
          <a:xfrm>
            <a:off x="457200" y="3931920"/>
            <a:ext cx="914400" cy="329184"/>
          </a:xfrm>
          <a:prstGeom prst="roundRect">
            <a:avLst>
              <a:gd name="adj" fmla="val 16667"/>
            </a:avLst>
          </a:prstGeom>
          <a:solidFill>
            <a:schemeClr val="tx2"/>
          </a:solidFill>
          <a:ln w="12700">
            <a:solidFill>
              <a:schemeClr val="tx2"/>
            </a:solidFill>
            <a:prstDash val="solid"/>
          </a:ln>
        </p:spPr>
      </p:sp>
      <p:sp>
        <p:nvSpPr>
          <p:cNvPr id="11" name="chip-label"/>
          <p:cNvSpPr txBox="1"/>
          <p:nvPr/>
        </p:nvSpPr>
        <p:spPr>
          <a:xfrm>
            <a:off x="4572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(0.1, 0.9)</a:t>
            </a:r>
            <a:endParaRPr lang="en-US" sz="1100" dirty="0"/>
          </a:p>
        </p:txBody>
      </p:sp>
      <p:sp>
        <p:nvSpPr>
          <p:cNvPr id="12" name="pair-label"/>
          <p:cNvSpPr txBox="1"/>
          <p:nvPr/>
        </p:nvSpPr>
        <p:spPr>
          <a:xfrm>
            <a:off x="14173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wide gap</a:t>
            </a:r>
            <a:endParaRPr lang="en-US" sz="1100" dirty="0"/>
          </a:p>
        </p:txBody>
      </p:sp>
      <p:sp>
        <p:nvSpPr>
          <p:cNvPr id="13" name="chip"/>
          <p:cNvSpPr/>
          <p:nvPr/>
        </p:nvSpPr>
        <p:spPr>
          <a:xfrm>
            <a:off x="2057400" y="3931920"/>
            <a:ext cx="914400" cy="329184"/>
          </a:xfrm>
          <a:prstGeom prst="roundRect">
            <a:avLst>
              <a:gd name="adj" fmla="val 16667"/>
            </a:avLst>
          </a:prstGeom>
          <a:solidFill>
            <a:schemeClr val="accent3"/>
          </a:solidFill>
          <a:ln w="12700">
            <a:solidFill>
              <a:schemeClr val="accent3"/>
            </a:solidFill>
            <a:prstDash val="solid"/>
          </a:ln>
        </p:spPr>
      </p:sp>
      <p:sp>
        <p:nvSpPr>
          <p:cNvPr id="14" name="chip-label"/>
          <p:cNvSpPr txBox="1"/>
          <p:nvPr/>
        </p:nvSpPr>
        <p:spPr>
          <a:xfrm>
            <a:off x="2057400" y="3931920"/>
            <a:ext cx="914400"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(0.2, 0.8)</a:t>
            </a:r>
            <a:endParaRPr lang="en-US" sz="1100" dirty="0"/>
          </a:p>
        </p:txBody>
      </p:sp>
      <p:sp>
        <p:nvSpPr>
          <p:cNvPr id="15" name="pair-label"/>
          <p:cNvSpPr txBox="1"/>
          <p:nvPr/>
        </p:nvSpPr>
        <p:spPr>
          <a:xfrm>
            <a:off x="30175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medium</a:t>
            </a:r>
            <a:endParaRPr lang="en-US" sz="1100" dirty="0"/>
          </a:p>
        </p:txBody>
      </p:sp>
      <p:sp>
        <p:nvSpPr>
          <p:cNvPr id="16" name="chip"/>
          <p:cNvSpPr/>
          <p:nvPr/>
        </p:nvSpPr>
        <p:spPr>
          <a:xfrm>
            <a:off x="3657600" y="3931920"/>
            <a:ext cx="914400" cy="329184"/>
          </a:xfrm>
          <a:prstGeom prst="roundRect">
            <a:avLst>
              <a:gd name="adj" fmla="val 16667"/>
            </a:avLst>
          </a:prstGeom>
          <a:solidFill>
            <a:schemeClr val="accent4"/>
          </a:solidFill>
          <a:ln w="12700">
            <a:solidFill>
              <a:schemeClr val="accent4"/>
            </a:solidFill>
            <a:prstDash val="solid"/>
          </a:ln>
        </p:spPr>
      </p:sp>
      <p:sp>
        <p:nvSpPr>
          <p:cNvPr id="17" name="chip-label"/>
          <p:cNvSpPr txBox="1"/>
          <p:nvPr/>
        </p:nvSpPr>
        <p:spPr>
          <a:xfrm>
            <a:off x="3657600" y="3931920"/>
            <a:ext cx="914400" cy="329184"/>
          </a:xfrm>
          <a:prstGeom prst="rect">
            <a:avLst/>
          </a:prstGeom>
          <a:noFill/>
          <a:ln/>
        </p:spPr>
        <p:txBody>
          <a:bodyPr wrap="square" lIns="0" tIns="0" rIns="0" bIns="0" rtlCol="0" anchor="ctr"/>
          <a:lstStyle/>
          <a:p>
            <a:pPr algn="ctr" indent="0" marL="0">
              <a:buNone/>
            </a:pPr>
            <a:r>
              <a:rPr lang="en-US" sz="1100" b="1" dirty="0">
                <a:solidFill>
                  <a:schemeClr val="tx1"/>
                </a:solidFill>
                <a:latin typeface="Cambria" pitchFamily="34" charset="0"/>
                <a:ea typeface="Cambria" pitchFamily="34" charset="-122"/>
                <a:cs typeface="Cambria" pitchFamily="34" charset="-120"/>
              </a:rPr>
              <a:t>(0.3, 0.5)</a:t>
            </a:r>
            <a:endParaRPr lang="en-US" sz="1100" dirty="0"/>
          </a:p>
        </p:txBody>
      </p:sp>
      <p:sp>
        <p:nvSpPr>
          <p:cNvPr id="18" name="pair-label"/>
          <p:cNvSpPr txBox="1"/>
          <p:nvPr/>
        </p:nvSpPr>
        <p:spPr>
          <a:xfrm>
            <a:off x="4617720" y="3931920"/>
            <a:ext cx="640080" cy="329184"/>
          </a:xfrm>
          <a:prstGeom prst="rect">
            <a:avLst/>
          </a:prstGeom>
          <a:noFill/>
          <a:ln/>
        </p:spPr>
        <p:txBody>
          <a:bodyPr wrap="square" lIns="0" tIns="0" rIns="0" bIns="0" rtlCol="0" anchor="ctr"/>
          <a:lstStyle/>
          <a:p>
            <a:pPr indent="0" marL="0">
              <a:buNone/>
            </a:pPr>
            <a:r>
              <a:rPr lang="en-US" sz="1100" dirty="0">
                <a:solidFill>
                  <a:schemeClr val="accent3"/>
                </a:solidFill>
              </a:rPr>
              <a:t>narrow</a:t>
            </a:r>
            <a:endParaRPr lang="en-US" sz="1100" dirty="0"/>
          </a:p>
        </p:txBody>
      </p:sp>
      <p:sp>
        <p:nvSpPr>
          <p:cNvPr id="19" name="mu-note"/>
          <p:cNvSpPr txBox="1"/>
          <p:nvPr/>
        </p:nvSpPr>
        <p:spPr>
          <a:xfrm>
            <a:off x="5303520" y="3611880"/>
            <a:ext cx="3383280" cy="822960"/>
          </a:xfrm>
          <a:prstGeom prst="rect">
            <a:avLst/>
          </a:prstGeom>
          <a:noFill/>
          <a:ln/>
        </p:spPr>
        <p:txBody>
          <a:bodyPr wrap="square" lIns="0" tIns="0" rIns="0" bIns="0" rtlCol="0" anchor="t"/>
          <a:lstStyle/>
          <a:p>
            <a:pPr indent="0" marL="0">
              <a:buNone/>
            </a:pPr>
            <a:r>
              <a:rPr lang="en-US" sz="1100" dirty="0">
                <a:solidFill>
                  <a:schemeClr val="accent3"/>
                </a:solidFill>
              </a:rPr>
              <a:t>The share of individualists μ is set by a cultural warm-up on the network. </a:t>
            </a:r>
            <a:pPr indent="0" marL="0">
              <a:buNone/>
            </a:pPr>
            <a:r>
              <a:rPr lang="en-US" sz="1100" b="1" dirty="0">
                <a:solidFill>
                  <a:srgbClr val="EB6834"/>
                </a:solidFill>
              </a:rPr>
              <a:t>Orange = individualists</a:t>
            </a:r>
            <a:pPr indent="0" marL="0">
              <a:buNone/>
            </a:pPr>
            <a:r>
              <a:rPr lang="en-US" sz="1100" dirty="0">
                <a:solidFill>
                  <a:schemeClr val="accent3"/>
                </a:solidFill>
              </a:rPr>
              <a:t>, </a:t>
            </a:r>
            <a:pPr indent="0" marL="0">
              <a:buNone/>
            </a:pPr>
            <a:r>
              <a:rPr lang="en-US" sz="1100" b="1" dirty="0">
                <a:solidFill>
                  <a:srgbClr val="2A78D6"/>
                </a:solidFill>
              </a:rPr>
              <a:t>blue = collectivists</a:t>
            </a:r>
            <a:pPr indent="0" marL="0">
              <a:buNone/>
            </a:pPr>
            <a:r>
              <a:rPr lang="en-US" sz="1100" dirty="0">
                <a:solidFill>
                  <a:schemeClr val="accent3"/>
                </a:solidFill>
              </a:rPr>
              <a:t> throughout.</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Collectivists herd</a:t>
            </a:r>
            <a:endParaRPr lang="en-US" sz="2400" dirty="0"/>
          </a:p>
        </p:txBody>
      </p:sp>
      <p:pic>
        <p:nvPicPr>
          <p:cNvPr id="3" name="e07" descr="Chance of withdrawing by share of neighbours who have withdrawn: collectivists jump to near 1 once 20 to 35 percent of neighbours are out; individualists level off near 0.25 to 0.30.">    </p:cNvPr>
          <p:cNvPicPr>
            <a:picLocks noChangeAspect="1"/>
          </p:cNvPicPr>
          <p:nvPr/>
        </p:nvPicPr>
        <p:blipFill>
          <a:blip r:embed="rId1"/>
          <a:stretch>
            <a:fillRect/>
          </a:stretch>
        </p:blipFill>
        <p:spPr>
          <a:xfrm>
            <a:off x="457200" y="1051560"/>
            <a:ext cx="5164897"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of withdrawing, given the share of a depositor’s neighbours who have already withdrawn. λ pairs pooled; reference bank.</a:t>
            </a:r>
            <a:endParaRPr lang="en-US" sz="1000" dirty="0"/>
          </a:p>
        </p:txBody>
      </p:sp>
      <p:sp>
        <p:nvSpPr>
          <p:cNvPr id="5" name="stat-collectivists, once "/>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rgbClr val="2A78D6"/>
                </a:solidFill>
                <a:latin typeface="Cambria" pitchFamily="34" charset="0"/>
                <a:ea typeface="Cambria" pitchFamily="34" charset="-122"/>
                <a:cs typeface="Cambria" pitchFamily="34" charset="-120"/>
              </a:rPr>
              <a:t>0.15 to 0.93</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collectivists, once 20–35% of their neighbours are out</a:t>
            </a:r>
            <a:endParaRPr lang="en-US" sz="1100" dirty="0"/>
          </a:p>
        </p:txBody>
      </p:sp>
      <p:sp>
        <p:nvSpPr>
          <p:cNvPr id="8" name="stat-where individualists"/>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rgbClr val="EB6834"/>
                </a:solidFill>
                <a:latin typeface="Cambria" pitchFamily="34" charset="0"/>
                <a:ea typeface="Cambria" pitchFamily="34" charset="-122"/>
                <a:cs typeface="Cambria" pitchFamily="34" charset="-120"/>
              </a:rPr>
              <a:t>0.25 to 0.30</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where individualists level off, whatever their neighbours do</a:t>
            </a:r>
            <a:endParaRPr lang="en-US" sz="1100" dirty="0"/>
          </a:p>
        </p:txBody>
      </p:sp>
      <p:sp>
        <p:nvSpPr>
          <p:cNvPr id="11" name="stat-difference in slopes"/>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+0.58</a:t>
            </a:r>
            <a:endParaRPr lang="en-US" sz="26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difference in slopes (collectivists 0.80, individualists 0.22), t = 16.7</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More individualists, fewer failures</a:t>
            </a:r>
            <a:endParaRPr lang="en-US" sz="2400" dirty="0"/>
          </a:p>
        </p:txBody>
      </p:sp>
      <p:pic>
        <p:nvPicPr>
          <p:cNvPr id="3" name="e05" descr="Chance the bank fails by share of individualists: falls from about 0.67 with no individualists to about 0.08 with all individualists for the large difference pair; monotone for every pair.">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μ, one line per λ pair. Includes the pure populations (μ 0 and 1).</a:t>
            </a:r>
            <a:endParaRPr lang="en-US" sz="1000" dirty="0"/>
          </a:p>
        </p:txBody>
      </p:sp>
      <p:sp>
        <p:nvSpPr>
          <p:cNvPr id="5" name="stat-P(fail) from no indi"/>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0.67 to 0.08</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P(fail) from no individualists to all, wide λ gap</a:t>
            </a:r>
            <a:endParaRPr lang="en-US" sz="1100" dirty="0"/>
          </a:p>
        </p:txBody>
      </p:sp>
      <p:sp>
        <p:nvSpPr>
          <p:cNvPr id="8" name="stat-the same, narrow λ g"/>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0.25 to 0.09</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the same, narrow λ gap: it matters most when collectivists dominate</a:t>
            </a:r>
            <a:endParaRPr lang="en-US" sz="1100" dirty="0"/>
          </a:p>
        </p:txBody>
      </p:sp>
      <p:sp>
        <p:nvSpPr>
          <p:cNvPr id="11" name="card-Monotone"/>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card-head"/>
          <p:cNvSpPr txBox="1"/>
          <p:nvPr/>
        </p:nvSpPr>
        <p:spPr>
          <a:xfrm>
            <a:off x="6355080" y="3429000"/>
            <a:ext cx="2194560" cy="292608"/>
          </a:xfrm>
          <a:prstGeom prst="rect">
            <a:avLst/>
          </a:prstGeom>
          <a:noFill/>
          <a:ln/>
        </p:spPr>
        <p:txBody>
          <a:bodyPr wrap="square" lIns="0" tIns="0" rIns="0" bIns="0" rtlCol="0" anchor="ctr"/>
          <a:lstStyle/>
          <a:p>
            <a:pPr indent="0" marL="0">
              <a:buNone/>
            </a:pPr>
            <a:r>
              <a:rPr lang="en-US" sz="1300" b="1" dirty="0">
                <a:solidFill>
                  <a:schemeClr val="tx2"/>
                </a:solidFill>
              </a:rPr>
              <a:t>Monotone</a:t>
            </a:r>
            <a:endParaRPr lang="en-US" sz="1300" dirty="0"/>
          </a:p>
        </p:txBody>
      </p:sp>
      <p:sp>
        <p:nvSpPr>
          <p:cNvPr id="13" name="card-body"/>
          <p:cNvSpPr txBox="1"/>
          <p:nvPr/>
        </p:nvSpPr>
        <p:spPr>
          <a:xfrm>
            <a:off x="6355080" y="3749040"/>
            <a:ext cx="2194560" cy="594360"/>
          </a:xfrm>
          <a:prstGeom prst="rect">
            <a:avLst/>
          </a:prstGeom>
          <a:noFill/>
          <a:ln/>
        </p:spPr>
        <p:txBody>
          <a:bodyPr wrap="square" lIns="0" tIns="0" rIns="0" bIns="0" rtlCol="0" anchor="t"/>
          <a:lstStyle/>
          <a:p>
            <a:pPr indent="0" marL="0">
              <a:buNone/>
            </a:pPr>
            <a:r>
              <a:rPr lang="en-US" sz="1150" dirty="0">
                <a:solidFill>
                  <a:schemeClr val="tx1"/>
                </a:solidFill>
              </a:rPr>
              <a:t>No interior peak at any mix. The lines converge once individualists are 75% or more.</a:t>
            </a:r>
            <a:endParaRPr lang="en-US" sz="115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Outdated news cuts both ways</a:t>
            </a:r>
            <a:endParaRPr lang="en-US" sz="2400" dirty="0"/>
          </a:p>
        </p:txBody>
      </p:sp>
      <p:pic>
        <p:nvPicPr>
          <p:cNvPr id="3" name="e08" descr="Chance the bank fails by kind of public news: outdated pessimistic news raises it to about 0.48, accurate news barely changes it from no news (0.29 vs 0.31), outdated optimistic news lowers it to 0.16.">    </p:cNvPr>
          <p:cNvPicPr>
            <a:picLocks noChangeAspect="1"/>
          </p:cNvPicPr>
          <p:nvPr/>
        </p:nvPicPr>
        <p:blipFill>
          <a:blip r:embed="rId1"/>
          <a:stretch>
            <a:fillRect/>
          </a:stretch>
        </p:blipFill>
        <p:spPr>
          <a:xfrm>
            <a:off x="457200" y="1051560"/>
            <a:ext cx="5486400" cy="2607605"/>
          </a:xfrm>
          <a:prstGeom prst="rect">
            <a:avLst/>
          </a:prstGeom>
        </p:spPr>
      </p:pic>
      <p:sp>
        <p:nvSpPr>
          <p:cNvPr id="4" name="caption"/>
          <p:cNvSpPr txBox="1"/>
          <p:nvPr/>
        </p:nvSpPr>
        <p:spPr>
          <a:xfrm>
            <a:off x="457200" y="3704885"/>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the kind of public news, dot and CI per λ pair. All mixes μ. Numbers at right: wide λ gap.</a:t>
            </a:r>
            <a:endParaRPr lang="en-US" sz="1000" dirty="0"/>
          </a:p>
        </p:txBody>
      </p:sp>
      <p:sp>
        <p:nvSpPr>
          <p:cNvPr id="5" name="stat-outdated, pessimisti"/>
          <p:cNvSpPr/>
          <p:nvPr/>
        </p:nvSpPr>
        <p:spPr>
          <a:xfrm>
            <a:off x="6217920" y="1051560"/>
            <a:ext cx="2468880" cy="777240"/>
          </a:xfrm>
          <a:prstGeom prst="roundRect">
            <a:avLst>
              <a:gd name="adj" fmla="val 9412"/>
            </a:avLst>
          </a:prstGeom>
          <a:solidFill>
            <a:schemeClr val="bg2"/>
          </a:solidFill>
          <a:ln w="12700">
            <a:solidFill>
              <a:schemeClr val="bg2"/>
            </a:solidFill>
            <a:prstDash val="solid"/>
          </a:ln>
        </p:spPr>
      </p:sp>
      <p:sp>
        <p:nvSpPr>
          <p:cNvPr id="6" name="stat-big"/>
          <p:cNvSpPr txBox="1"/>
          <p:nvPr/>
        </p:nvSpPr>
        <p:spPr>
          <a:xfrm>
            <a:off x="6355080" y="1124712"/>
            <a:ext cx="2194560" cy="36576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0.48</a:t>
            </a:r>
            <a:endParaRPr lang="en-US" sz="2200" dirty="0"/>
          </a:p>
        </p:txBody>
      </p:sp>
      <p:sp>
        <p:nvSpPr>
          <p:cNvPr id="7" name="stat-label"/>
          <p:cNvSpPr txBox="1"/>
          <p:nvPr/>
        </p:nvSpPr>
        <p:spPr>
          <a:xfrm>
            <a:off x="6355080" y="1508760"/>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pessimistic news</a:t>
            </a:r>
            <a:endParaRPr lang="en-US" sz="1100" dirty="0"/>
          </a:p>
        </p:txBody>
      </p:sp>
      <p:sp>
        <p:nvSpPr>
          <p:cNvPr id="8" name="stat-no public news"/>
          <p:cNvSpPr/>
          <p:nvPr/>
        </p:nvSpPr>
        <p:spPr>
          <a:xfrm>
            <a:off x="6217920" y="1938528"/>
            <a:ext cx="2468880" cy="777240"/>
          </a:xfrm>
          <a:prstGeom prst="roundRect">
            <a:avLst>
              <a:gd name="adj" fmla="val 9412"/>
            </a:avLst>
          </a:prstGeom>
          <a:solidFill>
            <a:schemeClr val="bg2"/>
          </a:solidFill>
          <a:ln w="12700">
            <a:solidFill>
              <a:schemeClr val="bg2"/>
            </a:solidFill>
            <a:prstDash val="solid"/>
          </a:ln>
        </p:spPr>
      </p:sp>
      <p:sp>
        <p:nvSpPr>
          <p:cNvPr id="9" name="stat-big"/>
          <p:cNvSpPr txBox="1"/>
          <p:nvPr/>
        </p:nvSpPr>
        <p:spPr>
          <a:xfrm>
            <a:off x="6355080" y="2011680"/>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0.31</a:t>
            </a:r>
            <a:endParaRPr lang="en-US" sz="2200" dirty="0"/>
          </a:p>
        </p:txBody>
      </p:sp>
      <p:sp>
        <p:nvSpPr>
          <p:cNvPr id="10" name="stat-label"/>
          <p:cNvSpPr txBox="1"/>
          <p:nvPr/>
        </p:nvSpPr>
        <p:spPr>
          <a:xfrm>
            <a:off x="6355080" y="2395728"/>
            <a:ext cx="2194560" cy="265176"/>
          </a:xfrm>
          <a:prstGeom prst="rect">
            <a:avLst/>
          </a:prstGeom>
          <a:noFill/>
          <a:ln/>
        </p:spPr>
        <p:txBody>
          <a:bodyPr wrap="square" lIns="0" tIns="0" rIns="0" bIns="0" rtlCol="0" anchor="t"/>
          <a:lstStyle/>
          <a:p>
            <a:pPr indent="0" marL="0">
              <a:buNone/>
            </a:pPr>
            <a:r>
              <a:rPr lang="en-US" sz="1100" dirty="0">
                <a:solidFill>
                  <a:schemeClr val="accent3"/>
                </a:solidFill>
              </a:rPr>
              <a:t>no public news</a:t>
            </a:r>
            <a:endParaRPr lang="en-US" sz="1100" dirty="0"/>
          </a:p>
        </p:txBody>
      </p:sp>
      <p:sp>
        <p:nvSpPr>
          <p:cNvPr id="11" name="stat-accurate news"/>
          <p:cNvSpPr/>
          <p:nvPr/>
        </p:nvSpPr>
        <p:spPr>
          <a:xfrm>
            <a:off x="6217920" y="2825496"/>
            <a:ext cx="2468880" cy="777240"/>
          </a:xfrm>
          <a:prstGeom prst="roundRect">
            <a:avLst>
              <a:gd name="adj" fmla="val 9412"/>
            </a:avLst>
          </a:prstGeom>
          <a:solidFill>
            <a:schemeClr val="bg2"/>
          </a:solidFill>
          <a:ln w="12700">
            <a:solidFill>
              <a:schemeClr val="bg2"/>
            </a:solidFill>
            <a:prstDash val="solid"/>
          </a:ln>
        </p:spPr>
      </p:sp>
      <p:sp>
        <p:nvSpPr>
          <p:cNvPr id="12" name="stat-big"/>
          <p:cNvSpPr txBox="1"/>
          <p:nvPr/>
        </p:nvSpPr>
        <p:spPr>
          <a:xfrm>
            <a:off x="6355080" y="2898648"/>
            <a:ext cx="2194560" cy="36576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0.29</a:t>
            </a:r>
            <a:endParaRPr lang="en-US" sz="2200" dirty="0"/>
          </a:p>
        </p:txBody>
      </p:sp>
      <p:sp>
        <p:nvSpPr>
          <p:cNvPr id="13" name="stat-label"/>
          <p:cNvSpPr txBox="1"/>
          <p:nvPr/>
        </p:nvSpPr>
        <p:spPr>
          <a:xfrm>
            <a:off x="6355080" y="3282696"/>
            <a:ext cx="2194560" cy="265176"/>
          </a:xfrm>
          <a:prstGeom prst="rect">
            <a:avLst/>
          </a:prstGeom>
          <a:noFill/>
          <a:ln/>
        </p:spPr>
        <p:txBody>
          <a:bodyPr wrap="square" lIns="0" tIns="0" rIns="0" bIns="0" rtlCol="0" anchor="t"/>
          <a:lstStyle/>
          <a:p>
            <a:pPr indent="0" marL="0">
              <a:buNone/>
            </a:pPr>
            <a:r>
              <a:rPr lang="en-US" sz="1100" dirty="0">
                <a:solidFill>
                  <a:schemeClr val="accent3"/>
                </a:solidFill>
              </a:rPr>
              <a:t>accurate news</a:t>
            </a:r>
            <a:endParaRPr lang="en-US" sz="1100" dirty="0"/>
          </a:p>
        </p:txBody>
      </p:sp>
      <p:sp>
        <p:nvSpPr>
          <p:cNvPr id="14" name="stat-outdated, optimistic"/>
          <p:cNvSpPr/>
          <p:nvPr/>
        </p:nvSpPr>
        <p:spPr>
          <a:xfrm>
            <a:off x="6217920" y="3712464"/>
            <a:ext cx="2468880" cy="777240"/>
          </a:xfrm>
          <a:prstGeom prst="roundRect">
            <a:avLst>
              <a:gd name="adj" fmla="val 9412"/>
            </a:avLst>
          </a:prstGeom>
          <a:solidFill>
            <a:schemeClr val="bg2"/>
          </a:solidFill>
          <a:ln w="12700">
            <a:solidFill>
              <a:schemeClr val="bg2"/>
            </a:solidFill>
            <a:prstDash val="solid"/>
          </a:ln>
        </p:spPr>
      </p:sp>
      <p:sp>
        <p:nvSpPr>
          <p:cNvPr id="15" name="stat-big"/>
          <p:cNvSpPr txBox="1"/>
          <p:nvPr/>
        </p:nvSpPr>
        <p:spPr>
          <a:xfrm>
            <a:off x="6355080" y="3785616"/>
            <a:ext cx="2194560" cy="365760"/>
          </a:xfrm>
          <a:prstGeom prst="rect">
            <a:avLst/>
          </a:prstGeom>
          <a:noFill/>
          <a:ln/>
        </p:spPr>
        <p:txBody>
          <a:bodyPr wrap="square" lIns="0" tIns="0" rIns="0" bIns="0" rtlCol="0" anchor="ctr"/>
          <a:lstStyle/>
          <a:p>
            <a:pPr indent="0" marL="0">
              <a:buNone/>
            </a:pPr>
            <a:r>
              <a:rPr lang="en-US" sz="2200" b="1" dirty="0">
                <a:solidFill>
                  <a:schemeClr val="accent5"/>
                </a:solidFill>
                <a:latin typeface="Cambria" pitchFamily="34" charset="0"/>
                <a:ea typeface="Cambria" pitchFamily="34" charset="-122"/>
                <a:cs typeface="Cambria" pitchFamily="34" charset="-120"/>
              </a:rPr>
              <a:t>0.16</a:t>
            </a:r>
            <a:endParaRPr lang="en-US" sz="2200" dirty="0"/>
          </a:p>
        </p:txBody>
      </p:sp>
      <p:sp>
        <p:nvSpPr>
          <p:cNvPr id="16" name="stat-label"/>
          <p:cNvSpPr txBox="1"/>
          <p:nvPr/>
        </p:nvSpPr>
        <p:spPr>
          <a:xfrm>
            <a:off x="6355080" y="4169664"/>
            <a:ext cx="2194560" cy="265176"/>
          </a:xfrm>
          <a:prstGeom prst="rect">
            <a:avLst/>
          </a:prstGeom>
          <a:noFill/>
          <a:ln/>
        </p:spPr>
        <p:txBody>
          <a:bodyPr wrap="square" lIns="0" tIns="0" rIns="0" bIns="0" rtlCol="0" anchor="t"/>
          <a:lstStyle/>
          <a:p>
            <a:pPr indent="0" marL="0">
              <a:buNone/>
            </a:pPr>
            <a:r>
              <a:rPr lang="en-US" sz="1100" dirty="0">
                <a:solidFill>
                  <a:schemeClr val="accent3"/>
                </a:solidFill>
              </a:rPr>
              <a:t>outdated, optimistic news</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Capping the largest deposits</a:t>
            </a:r>
            <a:endParaRPr lang="en-US" sz="2400" dirty="0"/>
          </a:p>
        </p:txBody>
      </p:sp>
      <p:pic>
        <p:nvPicPr>
          <p:cNvPr id="3" name="e10" descr="Chance the bank fails by share of individualists for three deposit-size distributions: uncapped large deposits fail most often; capped at 1 percent matches the bank with similar-sized deposits at every share.">    </p:cNvPr>
          <p:cNvPicPr>
            <a:picLocks noChangeAspect="1"/>
          </p:cNvPicPr>
          <p:nvPr/>
        </p:nvPicPr>
        <p:blipFill>
          <a:blip r:embed="rId1"/>
          <a:stretch>
            <a:fillRect/>
          </a:stretch>
        </p:blipFill>
        <p:spPr>
          <a:xfrm>
            <a:off x="457200" y="1051560"/>
            <a:ext cx="4941052"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Chance the bank fails by share of individualists, for three deposit-size distributions. λ pairs pooled.</a:t>
            </a:r>
            <a:endParaRPr lang="en-US" sz="1000" dirty="0"/>
          </a:p>
        </p:txBody>
      </p:sp>
      <p:sp>
        <p:nvSpPr>
          <p:cNvPr id="5" name="stat-uncapped: a few very"/>
          <p:cNvSpPr/>
          <p:nvPr/>
        </p:nvSpPr>
        <p:spPr>
          <a:xfrm>
            <a:off x="6217920" y="1051560"/>
            <a:ext cx="2468880" cy="1005840"/>
          </a:xfrm>
          <a:prstGeom prst="roundRect">
            <a:avLst>
              <a:gd name="adj" fmla="val 7273"/>
            </a:avLst>
          </a:prstGeom>
          <a:solidFill>
            <a:schemeClr val="bg2"/>
          </a:solidFill>
          <a:ln w="12700">
            <a:solidFill>
              <a:schemeClr val="bg2"/>
            </a:solidFill>
            <a:prstDash val="solid"/>
          </a:ln>
        </p:spPr>
      </p:sp>
      <p:sp>
        <p:nvSpPr>
          <p:cNvPr id="6" name="stat-big"/>
          <p:cNvSpPr txBox="1"/>
          <p:nvPr/>
        </p:nvSpPr>
        <p:spPr>
          <a:xfrm>
            <a:off x="6355080" y="1124712"/>
            <a:ext cx="2194560" cy="457200"/>
          </a:xfrm>
          <a:prstGeom prst="rect">
            <a:avLst/>
          </a:prstGeom>
          <a:noFill/>
          <a:ln/>
        </p:spPr>
        <p:txBody>
          <a:bodyPr wrap="square" lIns="0" tIns="0" rIns="0" bIns="0" rtlCol="0" anchor="ctr"/>
          <a:lstStyle/>
          <a:p>
            <a:pPr indent="0" marL="0">
              <a:buNone/>
            </a:pPr>
            <a:r>
              <a:rPr lang="en-US" sz="2200" b="1" dirty="0">
                <a:solidFill>
                  <a:schemeClr val="accent2"/>
                </a:solidFill>
                <a:latin typeface="Cambria" pitchFamily="34" charset="0"/>
                <a:ea typeface="Cambria" pitchFamily="34" charset="-122"/>
                <a:cs typeface="Cambria" pitchFamily="34" charset="-120"/>
              </a:rPr>
              <a:t>0.61 to 0.11</a:t>
            </a:r>
            <a:endParaRPr lang="en-US" sz="2200" dirty="0"/>
          </a:p>
        </p:txBody>
      </p:sp>
      <p:sp>
        <p:nvSpPr>
          <p:cNvPr id="7" name="stat-label"/>
          <p:cNvSpPr txBox="1"/>
          <p:nvPr/>
        </p:nvSpPr>
        <p:spPr>
          <a:xfrm>
            <a:off x="6355080" y="1600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uncapped: a few very large deposits (σ 2.5)</a:t>
            </a:r>
            <a:endParaRPr lang="en-US" sz="1100" dirty="0"/>
          </a:p>
        </p:txBody>
      </p:sp>
      <p:sp>
        <p:nvSpPr>
          <p:cNvPr id="8" name="stat-capped: no deposit a"/>
          <p:cNvSpPr/>
          <p:nvPr/>
        </p:nvSpPr>
        <p:spPr>
          <a:xfrm>
            <a:off x="6217920" y="2194560"/>
            <a:ext cx="2468880" cy="1005840"/>
          </a:xfrm>
          <a:prstGeom prst="roundRect">
            <a:avLst>
              <a:gd name="adj" fmla="val 7273"/>
            </a:avLst>
          </a:prstGeom>
          <a:solidFill>
            <a:schemeClr val="bg2"/>
          </a:solidFill>
          <a:ln w="12700">
            <a:solidFill>
              <a:schemeClr val="bg2"/>
            </a:solidFill>
            <a:prstDash val="solid"/>
          </a:ln>
        </p:spPr>
      </p:sp>
      <p:sp>
        <p:nvSpPr>
          <p:cNvPr id="9" name="stat-big"/>
          <p:cNvSpPr txBox="1"/>
          <p:nvPr/>
        </p:nvSpPr>
        <p:spPr>
          <a:xfrm>
            <a:off x="6355080" y="2267712"/>
            <a:ext cx="2194560" cy="457200"/>
          </a:xfrm>
          <a:prstGeom prst="rect">
            <a:avLst/>
          </a:prstGeom>
          <a:noFill/>
          <a:ln/>
        </p:spPr>
        <p:txBody>
          <a:bodyPr wrap="square" lIns="0" tIns="0" rIns="0" bIns="0" rtlCol="0" anchor="ctr"/>
          <a:lstStyle/>
          <a:p>
            <a:pPr indent="0" marL="0">
              <a:buNone/>
            </a:pPr>
            <a:r>
              <a:rPr lang="en-US" sz="2200" b="1" dirty="0">
                <a:solidFill>
                  <a:schemeClr val="accent1"/>
                </a:solidFill>
                <a:latin typeface="Cambria" pitchFamily="34" charset="0"/>
                <a:ea typeface="Cambria" pitchFamily="34" charset="-122"/>
                <a:cs typeface="Cambria" pitchFamily="34" charset="-120"/>
              </a:rPr>
              <a:t>0.51 to 0.08</a:t>
            </a:r>
            <a:endParaRPr lang="en-US" sz="2200" dirty="0"/>
          </a:p>
        </p:txBody>
      </p:sp>
      <p:sp>
        <p:nvSpPr>
          <p:cNvPr id="10" name="stat-label"/>
          <p:cNvSpPr txBox="1"/>
          <p:nvPr/>
        </p:nvSpPr>
        <p:spPr>
          <a:xfrm>
            <a:off x="6355080" y="2743200"/>
            <a:ext cx="2194560" cy="402336"/>
          </a:xfrm>
          <a:prstGeom prst="rect">
            <a:avLst/>
          </a:prstGeom>
          <a:noFill/>
          <a:ln/>
        </p:spPr>
        <p:txBody>
          <a:bodyPr wrap="square" lIns="0" tIns="0" rIns="0" bIns="0" rtlCol="0" anchor="t"/>
          <a:lstStyle/>
          <a:p>
            <a:pPr indent="0" marL="0">
              <a:buNone/>
            </a:pPr>
            <a:r>
              <a:rPr lang="en-US" sz="1100" dirty="0">
                <a:solidFill>
                  <a:schemeClr val="accent3"/>
                </a:solidFill>
              </a:rPr>
              <a:t>capped: no deposit above 1% of the total (the reference bank)</a:t>
            </a:r>
            <a:endParaRPr lang="en-US" sz="1100" dirty="0"/>
          </a:p>
        </p:txBody>
      </p:sp>
      <p:sp>
        <p:nvSpPr>
          <p:cNvPr id="11" name="stat-similar sizes (σ 1)."/>
          <p:cNvSpPr/>
          <p:nvPr/>
        </p:nvSpPr>
        <p:spPr>
          <a:xfrm>
            <a:off x="6217920" y="3337560"/>
            <a:ext cx="2468880" cy="1097280"/>
          </a:xfrm>
          <a:prstGeom prst="roundRect">
            <a:avLst>
              <a:gd name="adj" fmla="val 6667"/>
            </a:avLst>
          </a:prstGeom>
          <a:solidFill>
            <a:schemeClr val="bg2"/>
          </a:solidFill>
          <a:ln w="12700">
            <a:solidFill>
              <a:schemeClr val="bg2"/>
            </a:solidFill>
            <a:prstDash val="solid"/>
          </a:ln>
        </p:spPr>
      </p:sp>
      <p:sp>
        <p:nvSpPr>
          <p:cNvPr id="12" name="stat-big"/>
          <p:cNvSpPr txBox="1"/>
          <p:nvPr/>
        </p:nvSpPr>
        <p:spPr>
          <a:xfrm>
            <a:off x="6355080" y="3410712"/>
            <a:ext cx="2194560" cy="457200"/>
          </a:xfrm>
          <a:prstGeom prst="rect">
            <a:avLst/>
          </a:prstGeom>
          <a:noFill/>
          <a:ln/>
        </p:spPr>
        <p:txBody>
          <a:bodyPr wrap="square" lIns="0" tIns="0" rIns="0" bIns="0" rtlCol="0" anchor="ctr"/>
          <a:lstStyle/>
          <a:p>
            <a:pPr indent="0" marL="0">
              <a:buNone/>
            </a:pPr>
            <a:r>
              <a:rPr lang="en-US" sz="2200" b="1" dirty="0">
                <a:solidFill>
                  <a:schemeClr val="accent3"/>
                </a:solidFill>
                <a:latin typeface="Cambria" pitchFamily="34" charset="0"/>
                <a:ea typeface="Cambria" pitchFamily="34" charset="-122"/>
                <a:cs typeface="Cambria" pitchFamily="34" charset="-120"/>
              </a:rPr>
              <a:t>0.50 to 0.08</a:t>
            </a:r>
            <a:endParaRPr lang="en-US" sz="2200" dirty="0"/>
          </a:p>
        </p:txBody>
      </p:sp>
      <p:sp>
        <p:nvSpPr>
          <p:cNvPr id="13" name="stat-label"/>
          <p:cNvSpPr txBox="1"/>
          <p:nvPr/>
        </p:nvSpPr>
        <p:spPr>
          <a:xfrm>
            <a:off x="6355080" y="3886200"/>
            <a:ext cx="2194560" cy="493776"/>
          </a:xfrm>
          <a:prstGeom prst="rect">
            <a:avLst/>
          </a:prstGeom>
          <a:noFill/>
          <a:ln/>
        </p:spPr>
        <p:txBody>
          <a:bodyPr wrap="square" lIns="0" tIns="0" rIns="0" bIns="0" rtlCol="0" anchor="t"/>
          <a:lstStyle/>
          <a:p>
            <a:pPr indent="0" marL="0">
              <a:buNone/>
            </a:pPr>
            <a:r>
              <a:rPr lang="en-US" sz="1100" dirty="0">
                <a:solidFill>
                  <a:schemeClr val="accent3"/>
                </a:solidFill>
              </a:rPr>
              <a:t>similar sizes (σ 1). The μ gradient is the same in all three.</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Does the model hold up?</a:t>
            </a:r>
            <a:endParaRPr lang="en-US" sz="2400" dirty="0"/>
          </a:p>
        </p:txBody>
      </p:sp>
      <p:pic>
        <p:nvPicPr>
          <p:cNvPr id="3" name="e01" descr="Individualists' run rate minus collectivists', relative to no news, against how far public news is from the truth: rises from negative when news is pessimistic to positive when optimistic, more steeply for the wide lambda gap.">    </p:cNvPr>
          <p:cNvPicPr>
            <a:picLocks noChangeAspect="1"/>
          </p:cNvPicPr>
          <p:nvPr/>
        </p:nvPicPr>
        <p:blipFill>
          <a:blip r:embed="rId1"/>
          <a:stretch>
            <a:fillRect/>
          </a:stretch>
        </p:blipFill>
        <p:spPr>
          <a:xfrm>
            <a:off x="457200" y="1051560"/>
            <a:ext cx="5145146" cy="3291840"/>
          </a:xfrm>
          <a:prstGeom prst="rect">
            <a:avLst/>
          </a:prstGeom>
        </p:spPr>
      </p:pic>
      <p:sp>
        <p:nvSpPr>
          <p:cNvPr id="4" name="caption"/>
          <p:cNvSpPr txBox="1"/>
          <p:nvPr/>
        </p:nvSpPr>
        <p:spPr>
          <a:xfrm>
            <a:off x="457200" y="4389120"/>
            <a:ext cx="5486400" cy="274320"/>
          </a:xfrm>
          <a:prstGeom prst="rect">
            <a:avLst/>
          </a:prstGeom>
          <a:noFill/>
          <a:ln/>
        </p:spPr>
        <p:txBody>
          <a:bodyPr wrap="square" lIns="0" tIns="0" rIns="0" bIns="0" rtlCol="0" anchor="ctr"/>
          <a:lstStyle/>
          <a:p>
            <a:pPr indent="0" marL="0">
              <a:buNone/>
            </a:pPr>
            <a:r>
              <a:rPr lang="en-US" sz="1000" i="1" dirty="0">
                <a:solidFill>
                  <a:schemeClr val="accent3"/>
                </a:solidFill>
              </a:rPr>
              <a:t>D relative to no news, against how far the public news sits from the truth. Shaded: where the theory predicts the sign.</a:t>
            </a:r>
            <a:endParaRPr lang="en-US" sz="1000" dirty="0"/>
          </a:p>
        </p:txBody>
      </p:sp>
      <p:sp>
        <p:nvSpPr>
          <p:cNvPr id="5" name="tests"/>
          <p:cNvSpPr/>
          <p:nvPr/>
        </p:nvSpPr>
        <p:spPr>
          <a:xfrm>
            <a:off x="6217920" y="1051560"/>
            <a:ext cx="2468880" cy="2103120"/>
          </a:xfrm>
          <a:prstGeom prst="roundRect">
            <a:avLst>
              <a:gd name="adj" fmla="val 3478"/>
            </a:avLst>
          </a:prstGeom>
          <a:solidFill>
            <a:schemeClr val="bg2"/>
          </a:solidFill>
          <a:ln w="12700">
            <a:solidFill>
              <a:schemeClr val="bg2"/>
            </a:solidFill>
            <a:prstDash val="solid"/>
          </a:ln>
        </p:spPr>
      </p:sp>
      <p:sp>
        <p:nvSpPr>
          <p:cNvPr id="6" name="tests-text"/>
          <p:cNvSpPr txBox="1"/>
          <p:nvPr/>
        </p:nvSpPr>
        <p:spPr>
          <a:xfrm>
            <a:off x="6355080" y="1143000"/>
            <a:ext cx="2194560" cy="192024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Pre-registered tests</a:t>
            </a:r>
            <a:endParaRPr lang="en-US" sz="1050" dirty="0"/>
          </a:p>
          <a:p>
            <a:pPr indent="0" marL="0">
              <a:spcAft>
                <a:spcPts val="300"/>
              </a:spcAft>
              <a:buNone/>
            </a:pPr>
            <a:r>
              <a:rPr lang="en-US" sz="1050" dirty="0">
                <a:solidFill>
                  <a:schemeClr val="tx1"/>
                </a:solidFill>
              </a:rPr>
              <a:t>G1′  optimistic news: individualists run more   +0.033</a:t>
            </a:r>
            <a:endParaRPr lang="en-US" sz="1050" dirty="0"/>
          </a:p>
          <a:p>
            <a:pPr indent="0" marL="0">
              <a:spcAft>
                <a:spcPts val="300"/>
              </a:spcAft>
              <a:buNone/>
            </a:pPr>
            <a:r>
              <a:rPr lang="en-US" sz="1050" dirty="0">
                <a:solidFill>
                  <a:schemeClr val="tx1"/>
                </a:solidFill>
              </a:rPr>
              <a:t>G4′  pessimistic news: collectivists run more   −0.031</a:t>
            </a:r>
            <a:endParaRPr lang="en-US" sz="1050" dirty="0"/>
          </a:p>
          <a:p>
            <a:pPr indent="0" marL="0">
              <a:spcAft>
                <a:spcPts val="300"/>
              </a:spcAft>
              <a:buNone/>
            </a:pPr>
            <a:r>
              <a:rPr lang="en-US" sz="1050" dirty="0">
                <a:solidFill>
                  <a:schemeClr val="tx1"/>
                </a:solidFill>
              </a:rPr>
              <a:t>G2a′  the effect grows with the λ gap   +0.093</a:t>
            </a:r>
            <a:endParaRPr lang="en-US" sz="1050" dirty="0"/>
          </a:p>
          <a:p>
            <a:pPr indent="0" marL="0">
              <a:buNone/>
            </a:pPr>
            <a:r>
              <a:rPr lang="en-US" sz="1050" dirty="0">
                <a:solidFill>
                  <a:schemeClr val="accent2"/>
                </a:solidFill>
              </a:rPr>
              <a:t>G3  sorting with no news: counts against (one pair wrong-signed)</a:t>
            </a:r>
            <a:endParaRPr lang="en-US" sz="1050" dirty="0"/>
          </a:p>
        </p:txBody>
      </p:sp>
      <p:sp>
        <p:nvSpPr>
          <p:cNvPr id="7" name="stat-confirmatory tests s"/>
          <p:cNvSpPr/>
          <p:nvPr/>
        </p:nvSpPr>
        <p:spPr>
          <a:xfrm>
            <a:off x="6217920" y="3291840"/>
            <a:ext cx="2468880" cy="1143000"/>
          </a:xfrm>
          <a:prstGeom prst="roundRect">
            <a:avLst>
              <a:gd name="adj" fmla="val 6400"/>
            </a:avLst>
          </a:prstGeom>
          <a:solidFill>
            <a:schemeClr val="bg2"/>
          </a:solidFill>
          <a:ln w="12700">
            <a:solidFill>
              <a:schemeClr val="bg2"/>
            </a:solidFill>
            <a:prstDash val="solid"/>
          </a:ln>
        </p:spPr>
      </p:sp>
      <p:sp>
        <p:nvSpPr>
          <p:cNvPr id="8" name="stat-big"/>
          <p:cNvSpPr txBox="1"/>
          <p:nvPr/>
        </p:nvSpPr>
        <p:spPr>
          <a:xfrm>
            <a:off x="6355080" y="3364992"/>
            <a:ext cx="219456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 of 4</a:t>
            </a:r>
            <a:endParaRPr lang="en-US" sz="2600" dirty="0"/>
          </a:p>
        </p:txBody>
      </p:sp>
      <p:sp>
        <p:nvSpPr>
          <p:cNvPr id="9" name="stat-label"/>
          <p:cNvSpPr txBox="1"/>
          <p:nvPr/>
        </p:nvSpPr>
        <p:spPr>
          <a:xfrm>
            <a:off x="6355080" y="3840480"/>
            <a:ext cx="2194560" cy="539496"/>
          </a:xfrm>
          <a:prstGeom prst="rect">
            <a:avLst/>
          </a:prstGeom>
          <a:noFill/>
          <a:ln/>
        </p:spPr>
        <p:txBody>
          <a:bodyPr wrap="square" lIns="0" tIns="0" rIns="0" bIns="0" rtlCol="0" anchor="t"/>
          <a:lstStyle/>
          <a:p>
            <a:pPr indent="0" marL="0">
              <a:buNone/>
            </a:pPr>
            <a:r>
              <a:rPr lang="en-US" sz="1100" dirty="0">
                <a:solidFill>
                  <a:schemeClr val="accent3"/>
                </a:solidFill>
              </a:rPr>
              <a:t>confirmatory tests support the theory, on all three versions of the bank</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Takeaways and next steps</a:t>
            </a:r>
            <a:endParaRPr lang="en-US" sz="2400" dirty="0"/>
          </a:p>
        </p:txBody>
      </p:sp>
      <p:sp>
        <p:nvSpPr>
          <p:cNvPr id="3" name="take-0"/>
          <p:cNvSpPr/>
          <p:nvPr/>
        </p:nvSpPr>
        <p:spPr>
          <a:xfrm>
            <a:off x="457200" y="1051560"/>
            <a:ext cx="5760720" cy="512064"/>
          </a:xfrm>
          <a:prstGeom prst="roundRect">
            <a:avLst>
              <a:gd name="adj" fmla="val 14286"/>
            </a:avLst>
          </a:prstGeom>
          <a:solidFill>
            <a:schemeClr val="bg2"/>
          </a:solidFill>
          <a:ln w="12700">
            <a:solidFill>
              <a:schemeClr val="bg2"/>
            </a:solidFill>
            <a:prstDash val="solid"/>
          </a:ln>
        </p:spPr>
      </p:sp>
      <p:sp>
        <p:nvSpPr>
          <p:cNvPr id="4" name="chip"/>
          <p:cNvSpPr/>
          <p:nvPr/>
        </p:nvSpPr>
        <p:spPr>
          <a:xfrm>
            <a:off x="548640" y="1143000"/>
            <a:ext cx="329184" cy="329184"/>
          </a:xfrm>
          <a:prstGeom prst="roundRect">
            <a:avLst>
              <a:gd name="adj" fmla="val 16667"/>
            </a:avLst>
          </a:prstGeom>
          <a:solidFill>
            <a:schemeClr val="accent1"/>
          </a:solidFill>
          <a:ln w="12700">
            <a:solidFill>
              <a:schemeClr val="accent1"/>
            </a:solidFill>
            <a:prstDash val="solid"/>
          </a:ln>
        </p:spPr>
      </p:sp>
      <p:sp>
        <p:nvSpPr>
          <p:cNvPr id="5" name="chip-label"/>
          <p:cNvSpPr txBox="1"/>
          <p:nvPr/>
        </p:nvSpPr>
        <p:spPr>
          <a:xfrm>
            <a:off x="548640" y="114300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1</a:t>
            </a:r>
            <a:endParaRPr lang="en-US" sz="1100" dirty="0"/>
          </a:p>
        </p:txBody>
      </p:sp>
      <p:sp>
        <p:nvSpPr>
          <p:cNvPr id="6" name="take-head"/>
          <p:cNvSpPr txBox="1"/>
          <p:nvPr/>
        </p:nvSpPr>
        <p:spPr>
          <a:xfrm>
            <a:off x="987552" y="108813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Sorting follows the news</a:t>
            </a:r>
            <a:endParaRPr lang="en-US" sz="1100" dirty="0"/>
          </a:p>
        </p:txBody>
      </p:sp>
      <p:sp>
        <p:nvSpPr>
          <p:cNvPr id="7" name="take-body"/>
          <p:cNvSpPr txBox="1"/>
          <p:nvPr/>
        </p:nvSpPr>
        <p:spPr>
          <a:xfrm>
            <a:off x="2651760" y="1088136"/>
            <a:ext cx="3474720" cy="438912"/>
          </a:xfrm>
          <a:prstGeom prst="rect">
            <a:avLst/>
          </a:prstGeom>
          <a:noFill/>
          <a:ln/>
        </p:spPr>
        <p:txBody>
          <a:bodyPr wrap="square" lIns="0" tIns="0" rIns="0" bIns="0" rtlCol="0" anchor="ctr"/>
          <a:lstStyle/>
          <a:p>
            <a:pPr indent="0" marL="0">
              <a:buNone/>
            </a:pPr>
            <a:r>
              <a:rPr lang="en-US" sz="1000" dirty="0">
                <a:solidFill>
                  <a:schemeClr val="tx1"/>
                </a:solidFill>
              </a:rPr>
              <a:t>Optimistic public news makes individualists run relatively more; pessimistic news, collectivists. 3 of 4 pre-registered tests pass, in all three bank versions.</a:t>
            </a:r>
            <a:endParaRPr lang="en-US" sz="1000" dirty="0"/>
          </a:p>
        </p:txBody>
      </p:sp>
      <p:sp>
        <p:nvSpPr>
          <p:cNvPr id="8" name="take-1"/>
          <p:cNvSpPr/>
          <p:nvPr/>
        </p:nvSpPr>
        <p:spPr>
          <a:xfrm>
            <a:off x="457200" y="1636776"/>
            <a:ext cx="5760720" cy="512064"/>
          </a:xfrm>
          <a:prstGeom prst="roundRect">
            <a:avLst>
              <a:gd name="adj" fmla="val 14286"/>
            </a:avLst>
          </a:prstGeom>
          <a:solidFill>
            <a:schemeClr val="bg2"/>
          </a:solidFill>
          <a:ln w="12700">
            <a:solidFill>
              <a:schemeClr val="bg2"/>
            </a:solidFill>
            <a:prstDash val="solid"/>
          </a:ln>
        </p:spPr>
      </p:sp>
      <p:sp>
        <p:nvSpPr>
          <p:cNvPr id="9" name="chip"/>
          <p:cNvSpPr/>
          <p:nvPr/>
        </p:nvSpPr>
        <p:spPr>
          <a:xfrm>
            <a:off x="548640" y="1728216"/>
            <a:ext cx="329184" cy="329184"/>
          </a:xfrm>
          <a:prstGeom prst="roundRect">
            <a:avLst>
              <a:gd name="adj" fmla="val 16667"/>
            </a:avLst>
          </a:prstGeom>
          <a:solidFill>
            <a:schemeClr val="accent1"/>
          </a:solidFill>
          <a:ln w="12700">
            <a:solidFill>
              <a:schemeClr val="accent1"/>
            </a:solidFill>
            <a:prstDash val="solid"/>
          </a:ln>
        </p:spPr>
      </p:sp>
      <p:sp>
        <p:nvSpPr>
          <p:cNvPr id="10" name="chip-label"/>
          <p:cNvSpPr txBox="1"/>
          <p:nvPr/>
        </p:nvSpPr>
        <p:spPr>
          <a:xfrm>
            <a:off x="548640" y="1728216"/>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2</a:t>
            </a:r>
            <a:endParaRPr lang="en-US" sz="1100" dirty="0"/>
          </a:p>
        </p:txBody>
      </p:sp>
      <p:sp>
        <p:nvSpPr>
          <p:cNvPr id="11" name="take-head"/>
          <p:cNvSpPr txBox="1"/>
          <p:nvPr/>
        </p:nvSpPr>
        <p:spPr>
          <a:xfrm>
            <a:off x="987552" y="1673352"/>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Collectivists herd</a:t>
            </a:r>
            <a:endParaRPr lang="en-US" sz="1100" dirty="0"/>
          </a:p>
        </p:txBody>
      </p:sp>
      <p:sp>
        <p:nvSpPr>
          <p:cNvPr id="12" name="take-body"/>
          <p:cNvSpPr txBox="1"/>
          <p:nvPr/>
        </p:nvSpPr>
        <p:spPr>
          <a:xfrm>
            <a:off x="2651760" y="1673352"/>
            <a:ext cx="3474720" cy="438912"/>
          </a:xfrm>
          <a:prstGeom prst="rect">
            <a:avLst/>
          </a:prstGeom>
          <a:noFill/>
          <a:ln/>
        </p:spPr>
        <p:txBody>
          <a:bodyPr wrap="square" lIns="0" tIns="0" rIns="0" bIns="0" rtlCol="0" anchor="ctr"/>
          <a:lstStyle/>
          <a:p>
            <a:pPr indent="0" marL="0">
              <a:buNone/>
            </a:pPr>
            <a:r>
              <a:rPr lang="en-US" sz="1000" dirty="0">
                <a:solidFill>
                  <a:schemeClr val="tx1"/>
                </a:solidFill>
              </a:rPr>
              <a:t>Their chance of withdrawing jumps from 0.15 to 0.93 once 20–35% of neighbours are out; individualists level off near 0.3.</a:t>
            </a:r>
            <a:endParaRPr lang="en-US" sz="1000" dirty="0"/>
          </a:p>
        </p:txBody>
      </p:sp>
      <p:sp>
        <p:nvSpPr>
          <p:cNvPr id="13" name="take-2"/>
          <p:cNvSpPr/>
          <p:nvPr/>
        </p:nvSpPr>
        <p:spPr>
          <a:xfrm>
            <a:off x="457200" y="2221992"/>
            <a:ext cx="5760720" cy="512064"/>
          </a:xfrm>
          <a:prstGeom prst="roundRect">
            <a:avLst>
              <a:gd name="adj" fmla="val 14286"/>
            </a:avLst>
          </a:prstGeom>
          <a:solidFill>
            <a:schemeClr val="bg2"/>
          </a:solidFill>
          <a:ln w="12700">
            <a:solidFill>
              <a:schemeClr val="bg2"/>
            </a:solidFill>
            <a:prstDash val="solid"/>
          </a:ln>
        </p:spPr>
      </p:sp>
      <p:sp>
        <p:nvSpPr>
          <p:cNvPr id="14" name="chip"/>
          <p:cNvSpPr/>
          <p:nvPr/>
        </p:nvSpPr>
        <p:spPr>
          <a:xfrm>
            <a:off x="548640" y="2313432"/>
            <a:ext cx="329184" cy="329184"/>
          </a:xfrm>
          <a:prstGeom prst="roundRect">
            <a:avLst>
              <a:gd name="adj" fmla="val 16667"/>
            </a:avLst>
          </a:prstGeom>
          <a:solidFill>
            <a:schemeClr val="accent1"/>
          </a:solidFill>
          <a:ln w="12700">
            <a:solidFill>
              <a:schemeClr val="accent1"/>
            </a:solidFill>
            <a:prstDash val="solid"/>
          </a:ln>
        </p:spPr>
      </p:sp>
      <p:sp>
        <p:nvSpPr>
          <p:cNvPr id="15" name="chip-label"/>
          <p:cNvSpPr txBox="1"/>
          <p:nvPr/>
        </p:nvSpPr>
        <p:spPr>
          <a:xfrm>
            <a:off x="548640" y="23134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3</a:t>
            </a:r>
            <a:endParaRPr lang="en-US" sz="1100" dirty="0"/>
          </a:p>
        </p:txBody>
      </p:sp>
      <p:sp>
        <p:nvSpPr>
          <p:cNvPr id="16" name="take-head"/>
          <p:cNvSpPr txBox="1"/>
          <p:nvPr/>
        </p:nvSpPr>
        <p:spPr>
          <a:xfrm>
            <a:off x="987552" y="2258568"/>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More individualists, fewer failures</a:t>
            </a:r>
            <a:endParaRPr lang="en-US" sz="1100" dirty="0"/>
          </a:p>
        </p:txBody>
      </p:sp>
      <p:sp>
        <p:nvSpPr>
          <p:cNvPr id="17" name="take-body"/>
          <p:cNvSpPr txBox="1"/>
          <p:nvPr/>
        </p:nvSpPr>
        <p:spPr>
          <a:xfrm>
            <a:off x="2651760" y="2258568"/>
            <a:ext cx="3474720" cy="438912"/>
          </a:xfrm>
          <a:prstGeom prst="rect">
            <a:avLst/>
          </a:prstGeom>
          <a:noFill/>
          <a:ln/>
        </p:spPr>
        <p:txBody>
          <a:bodyPr wrap="square" lIns="0" tIns="0" rIns="0" bIns="0" rtlCol="0" anchor="ctr"/>
          <a:lstStyle/>
          <a:p>
            <a:pPr indent="0" marL="0">
              <a:buNone/>
            </a:pPr>
            <a:r>
              <a:rPr lang="en-US" sz="1000" dirty="0">
                <a:solidFill>
                  <a:schemeClr val="tx1"/>
                </a:solidFill>
              </a:rPr>
              <a:t>P(fail) falls from 0.67 to 0.08 as the individualist share goes from 0 to 1. Monotone; no interior peak.</a:t>
            </a:r>
            <a:endParaRPr lang="en-US" sz="1000" dirty="0"/>
          </a:p>
        </p:txBody>
      </p:sp>
      <p:sp>
        <p:nvSpPr>
          <p:cNvPr id="18" name="take-3"/>
          <p:cNvSpPr/>
          <p:nvPr/>
        </p:nvSpPr>
        <p:spPr>
          <a:xfrm>
            <a:off x="457200" y="2807208"/>
            <a:ext cx="5760720" cy="512064"/>
          </a:xfrm>
          <a:prstGeom prst="roundRect">
            <a:avLst>
              <a:gd name="adj" fmla="val 14286"/>
            </a:avLst>
          </a:prstGeom>
          <a:solidFill>
            <a:schemeClr val="bg2"/>
          </a:solidFill>
          <a:ln w="12700">
            <a:solidFill>
              <a:schemeClr val="bg2"/>
            </a:solidFill>
            <a:prstDash val="solid"/>
          </a:ln>
        </p:spPr>
      </p:sp>
      <p:sp>
        <p:nvSpPr>
          <p:cNvPr id="19" name="chip"/>
          <p:cNvSpPr/>
          <p:nvPr/>
        </p:nvSpPr>
        <p:spPr>
          <a:xfrm>
            <a:off x="548640" y="2898648"/>
            <a:ext cx="329184" cy="329184"/>
          </a:xfrm>
          <a:prstGeom prst="roundRect">
            <a:avLst>
              <a:gd name="adj" fmla="val 16667"/>
            </a:avLst>
          </a:prstGeom>
          <a:solidFill>
            <a:schemeClr val="accent1"/>
          </a:solidFill>
          <a:ln w="12700">
            <a:solidFill>
              <a:schemeClr val="accent1"/>
            </a:solidFill>
            <a:prstDash val="solid"/>
          </a:ln>
        </p:spPr>
      </p:sp>
      <p:sp>
        <p:nvSpPr>
          <p:cNvPr id="20" name="chip-label"/>
          <p:cNvSpPr txBox="1"/>
          <p:nvPr/>
        </p:nvSpPr>
        <p:spPr>
          <a:xfrm>
            <a:off x="548640" y="2898648"/>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4</a:t>
            </a:r>
            <a:endParaRPr lang="en-US" sz="1100" dirty="0"/>
          </a:p>
        </p:txBody>
      </p:sp>
      <p:sp>
        <p:nvSpPr>
          <p:cNvPr id="21" name="take-head"/>
          <p:cNvSpPr txBox="1"/>
          <p:nvPr/>
        </p:nvSpPr>
        <p:spPr>
          <a:xfrm>
            <a:off x="987552" y="2843784"/>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Stale news cuts both ways</a:t>
            </a:r>
            <a:endParaRPr lang="en-US" sz="1100" dirty="0"/>
          </a:p>
        </p:txBody>
      </p:sp>
      <p:sp>
        <p:nvSpPr>
          <p:cNvPr id="22" name="take-body"/>
          <p:cNvSpPr txBox="1"/>
          <p:nvPr/>
        </p:nvSpPr>
        <p:spPr>
          <a:xfrm>
            <a:off x="2651760" y="2843784"/>
            <a:ext cx="3474720" cy="438912"/>
          </a:xfrm>
          <a:prstGeom prst="rect">
            <a:avLst/>
          </a:prstGeom>
          <a:noFill/>
          <a:ln/>
        </p:spPr>
        <p:txBody>
          <a:bodyPr wrap="square" lIns="0" tIns="0" rIns="0" bIns="0" rtlCol="0" anchor="ctr"/>
          <a:lstStyle/>
          <a:p>
            <a:pPr indent="0" marL="0">
              <a:buNone/>
            </a:pPr>
            <a:r>
              <a:rPr lang="en-US" sz="1000" dirty="0">
                <a:solidFill>
                  <a:schemeClr val="tx1"/>
                </a:solidFill>
              </a:rPr>
              <a:t>A stale optimistic signal halves failure, a stale pessimistic one raises it by half. Accurate news barely moves it.</a:t>
            </a:r>
            <a:endParaRPr lang="en-US" sz="1000" dirty="0"/>
          </a:p>
        </p:txBody>
      </p:sp>
      <p:sp>
        <p:nvSpPr>
          <p:cNvPr id="23" name="take-4"/>
          <p:cNvSpPr/>
          <p:nvPr/>
        </p:nvSpPr>
        <p:spPr>
          <a:xfrm>
            <a:off x="457200" y="3392424"/>
            <a:ext cx="5760720" cy="512064"/>
          </a:xfrm>
          <a:prstGeom prst="roundRect">
            <a:avLst>
              <a:gd name="adj" fmla="val 14286"/>
            </a:avLst>
          </a:prstGeom>
          <a:solidFill>
            <a:schemeClr val="bg2"/>
          </a:solidFill>
          <a:ln w="12700">
            <a:solidFill>
              <a:schemeClr val="bg2"/>
            </a:solidFill>
            <a:prstDash val="solid"/>
          </a:ln>
        </p:spPr>
      </p:sp>
      <p:sp>
        <p:nvSpPr>
          <p:cNvPr id="24" name="chip"/>
          <p:cNvSpPr/>
          <p:nvPr/>
        </p:nvSpPr>
        <p:spPr>
          <a:xfrm>
            <a:off x="548640" y="3483864"/>
            <a:ext cx="329184" cy="329184"/>
          </a:xfrm>
          <a:prstGeom prst="roundRect">
            <a:avLst>
              <a:gd name="adj" fmla="val 16667"/>
            </a:avLst>
          </a:prstGeom>
          <a:solidFill>
            <a:schemeClr val="accent1"/>
          </a:solidFill>
          <a:ln w="12700">
            <a:solidFill>
              <a:schemeClr val="accent1"/>
            </a:solidFill>
            <a:prstDash val="solid"/>
          </a:ln>
        </p:spPr>
      </p:sp>
      <p:sp>
        <p:nvSpPr>
          <p:cNvPr id="25" name="chip-label"/>
          <p:cNvSpPr txBox="1"/>
          <p:nvPr/>
        </p:nvSpPr>
        <p:spPr>
          <a:xfrm>
            <a:off x="548640" y="3483864"/>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5</a:t>
            </a:r>
            <a:endParaRPr lang="en-US" sz="1100" dirty="0"/>
          </a:p>
        </p:txBody>
      </p:sp>
      <p:sp>
        <p:nvSpPr>
          <p:cNvPr id="26" name="take-head"/>
          <p:cNvSpPr txBox="1"/>
          <p:nvPr/>
        </p:nvSpPr>
        <p:spPr>
          <a:xfrm>
            <a:off x="987552" y="3429000"/>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Capping the largest deposits</a:t>
            </a:r>
            <a:endParaRPr lang="en-US" sz="1100" dirty="0"/>
          </a:p>
        </p:txBody>
      </p:sp>
      <p:sp>
        <p:nvSpPr>
          <p:cNvPr id="27" name="take-body"/>
          <p:cNvSpPr txBox="1"/>
          <p:nvPr/>
        </p:nvSpPr>
        <p:spPr>
          <a:xfrm>
            <a:off x="2651760" y="3429000"/>
            <a:ext cx="3474720" cy="438912"/>
          </a:xfrm>
          <a:prstGeom prst="rect">
            <a:avLst/>
          </a:prstGeom>
          <a:noFill/>
          <a:ln/>
        </p:spPr>
        <p:txBody>
          <a:bodyPr wrap="square" lIns="0" tIns="0" rIns="0" bIns="0" rtlCol="0" anchor="ctr"/>
          <a:lstStyle/>
          <a:p>
            <a:pPr indent="0" marL="0">
              <a:buNone/>
            </a:pPr>
            <a:r>
              <a:rPr lang="en-US" sz="1000" dirty="0">
                <a:solidFill>
                  <a:schemeClr val="tx1"/>
                </a:solidFill>
              </a:rPr>
              <a:t>A 1% cap brings failure down to the no-concentration bank’s level; the culture gradient is unchanged.</a:t>
            </a:r>
            <a:endParaRPr lang="en-US" sz="1000" dirty="0"/>
          </a:p>
        </p:txBody>
      </p:sp>
      <p:sp>
        <p:nvSpPr>
          <p:cNvPr id="28" name="take-5"/>
          <p:cNvSpPr/>
          <p:nvPr/>
        </p:nvSpPr>
        <p:spPr>
          <a:xfrm>
            <a:off x="457200" y="3977640"/>
            <a:ext cx="5760720" cy="512064"/>
          </a:xfrm>
          <a:prstGeom prst="roundRect">
            <a:avLst>
              <a:gd name="adj" fmla="val 14286"/>
            </a:avLst>
          </a:prstGeom>
          <a:solidFill>
            <a:schemeClr val="accent4"/>
          </a:solidFill>
          <a:ln w="12700">
            <a:solidFill>
              <a:schemeClr val="accent4"/>
            </a:solidFill>
            <a:prstDash val="solid"/>
          </a:ln>
        </p:spPr>
      </p:sp>
      <p:sp>
        <p:nvSpPr>
          <p:cNvPr id="29" name="chip"/>
          <p:cNvSpPr/>
          <p:nvPr/>
        </p:nvSpPr>
        <p:spPr>
          <a:xfrm>
            <a:off x="548640" y="4069080"/>
            <a:ext cx="329184" cy="329184"/>
          </a:xfrm>
          <a:prstGeom prst="roundRect">
            <a:avLst>
              <a:gd name="adj" fmla="val 16667"/>
            </a:avLst>
          </a:prstGeom>
          <a:solidFill>
            <a:schemeClr val="accent2"/>
          </a:solidFill>
          <a:ln w="12700">
            <a:solidFill>
              <a:schemeClr val="accent2"/>
            </a:solidFill>
            <a:prstDash val="solid"/>
          </a:ln>
        </p:spPr>
      </p:sp>
      <p:sp>
        <p:nvSpPr>
          <p:cNvPr id="30" name="chip-label"/>
          <p:cNvSpPr txBox="1"/>
          <p:nvPr/>
        </p:nvSpPr>
        <p:spPr>
          <a:xfrm>
            <a:off x="548640" y="4069080"/>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latin typeface="Cambria" pitchFamily="34" charset="0"/>
                <a:ea typeface="Cambria" pitchFamily="34" charset="-122"/>
                <a:cs typeface="Cambria" pitchFamily="34" charset="-120"/>
              </a:rPr>
              <a:t>6</a:t>
            </a:r>
            <a:endParaRPr lang="en-US" sz="1100" dirty="0"/>
          </a:p>
        </p:txBody>
      </p:sp>
      <p:sp>
        <p:nvSpPr>
          <p:cNvPr id="31" name="take-head"/>
          <p:cNvSpPr txBox="1"/>
          <p:nvPr/>
        </p:nvSpPr>
        <p:spPr>
          <a:xfrm>
            <a:off x="987552" y="4014216"/>
            <a:ext cx="1600200" cy="438912"/>
          </a:xfrm>
          <a:prstGeom prst="rect">
            <a:avLst/>
          </a:prstGeom>
          <a:noFill/>
          <a:ln/>
        </p:spPr>
        <p:txBody>
          <a:bodyPr wrap="square" lIns="0" tIns="0" rIns="0" bIns="0" rtlCol="0" anchor="ctr"/>
          <a:lstStyle/>
          <a:p>
            <a:pPr indent="0" marL="0">
              <a:buNone/>
            </a:pPr>
            <a:r>
              <a:rPr lang="en-US" sz="1100" b="1" dirty="0">
                <a:solidFill>
                  <a:schemeClr val="tx2"/>
                </a:solidFill>
              </a:rPr>
              <a:t>Not yet matched</a:t>
            </a:r>
            <a:endParaRPr lang="en-US" sz="1100" dirty="0"/>
          </a:p>
        </p:txBody>
      </p:sp>
      <p:sp>
        <p:nvSpPr>
          <p:cNvPr id="32" name="take-body"/>
          <p:cNvSpPr txBox="1"/>
          <p:nvPr/>
        </p:nvSpPr>
        <p:spPr>
          <a:xfrm>
            <a:off x="2651760" y="4014216"/>
            <a:ext cx="3474720" cy="438912"/>
          </a:xfrm>
          <a:prstGeom prst="rect">
            <a:avLst/>
          </a:prstGeom>
          <a:noFill/>
          <a:ln/>
        </p:spPr>
        <p:txBody>
          <a:bodyPr wrap="square" lIns="0" tIns="0" rIns="0" bIns="0" rtlCol="0" anchor="ctr"/>
          <a:lstStyle/>
          <a:p>
            <a:pPr indent="0" marL="0">
              <a:buNone/>
            </a:pPr>
            <a:r>
              <a:rPr lang="en-US" sz="1000" dirty="0">
                <a:solidFill>
                  <a:schemeClr val="tx1"/>
                </a:solidFill>
              </a:rPr>
              <a:t>How Celsius’s largest depositors exit: one-shot share 0.35 there, 0.93 or more in the model.</a:t>
            </a:r>
            <a:endParaRPr lang="en-US" sz="1000" dirty="0"/>
          </a:p>
        </p:txBody>
      </p:sp>
      <p:sp>
        <p:nvSpPr>
          <p:cNvPr id="33" name="next"/>
          <p:cNvSpPr/>
          <p:nvPr/>
        </p:nvSpPr>
        <p:spPr>
          <a:xfrm>
            <a:off x="6400800" y="1051560"/>
            <a:ext cx="2286000" cy="3438144"/>
          </a:xfrm>
          <a:prstGeom prst="roundRect">
            <a:avLst>
              <a:gd name="adj" fmla="val 3200"/>
            </a:avLst>
          </a:prstGeom>
          <a:solidFill>
            <a:schemeClr val="bg2"/>
          </a:solidFill>
          <a:ln w="12700">
            <a:solidFill>
              <a:schemeClr val="bg2"/>
            </a:solidFill>
            <a:prstDash val="solid"/>
          </a:ln>
        </p:spPr>
      </p:sp>
      <p:sp>
        <p:nvSpPr>
          <p:cNvPr id="34" name="next-head"/>
          <p:cNvSpPr txBox="1"/>
          <p:nvPr/>
        </p:nvSpPr>
        <p:spPr>
          <a:xfrm>
            <a:off x="6537960" y="1143000"/>
            <a:ext cx="2011680" cy="320040"/>
          </a:xfrm>
          <a:prstGeom prst="rect">
            <a:avLst/>
          </a:prstGeom>
          <a:noFill/>
          <a:ln/>
        </p:spPr>
        <p:txBody>
          <a:bodyPr wrap="square" lIns="0" tIns="0" rIns="0" bIns="0" rtlCol="0" anchor="ctr"/>
          <a:lstStyle/>
          <a:p>
            <a:pPr indent="0" marL="0">
              <a:buNone/>
            </a:pPr>
            <a:r>
              <a:rPr lang="en-US" sz="1300" b="1" dirty="0">
                <a:solidFill>
                  <a:schemeClr val="tx2"/>
                </a:solidFill>
              </a:rPr>
              <a:t>Next steps</a:t>
            </a:r>
            <a:endParaRPr lang="en-US" sz="1300" dirty="0"/>
          </a:p>
        </p:txBody>
      </p:sp>
      <p:sp>
        <p:nvSpPr>
          <p:cNvPr id="35" name="bullets"/>
          <p:cNvSpPr txBox="1"/>
          <p:nvPr/>
        </p:nvSpPr>
        <p:spPr>
          <a:xfrm>
            <a:off x="6537960" y="1508760"/>
            <a:ext cx="2011680" cy="292608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chemeClr val="tx1"/>
                </a:solidFill>
              </a:rPr>
              <a:t>Super-individuals, to match how the largest depositors exited Celsius</a:t>
            </a:r>
            <a:endParaRPr lang="en-US" sz="1100" dirty="0"/>
          </a:p>
          <a:p>
            <a:pPr marL="177800" indent="-177800">
              <a:spcAft>
                <a:spcPts val="700"/>
              </a:spcAft>
              <a:buSzPct val="100000"/>
              <a:buChar char="•"/>
            </a:pPr>
            <a:r>
              <a:rPr lang="en-US" sz="1100" dirty="0">
                <a:solidFill>
                  <a:schemeClr val="tx1"/>
                </a:solidFill>
              </a:rPr>
              <a:t>Deposit insurance and the reserve ratio on the fire-sale bank</a:t>
            </a:r>
            <a:endParaRPr lang="en-US" sz="1100" dirty="0"/>
          </a:p>
          <a:p>
            <a:pPr marL="177800" indent="-177800">
              <a:spcAft>
                <a:spcPts val="700"/>
              </a:spcAft>
              <a:buSzPct val="100000"/>
              <a:buChar char="•"/>
            </a:pPr>
            <a:r>
              <a:rPr lang="en-US" sz="1100" dirty="0">
                <a:solidFill>
                  <a:schemeClr val="tx1"/>
                </a:solidFill>
              </a:rPr>
              <a:t>Network topology and learning</a:t>
            </a:r>
            <a:endParaRPr lang="en-US" sz="1100" dirty="0"/>
          </a:p>
          <a:p>
            <a:pPr marL="177800" indent="-177800">
              <a:spcAft>
                <a:spcPts val="700"/>
              </a:spcAft>
              <a:buSzPct val="100000"/>
              <a:buChar char="•"/>
            </a:pPr>
            <a:r>
              <a:rPr lang="en-US" sz="1100" dirty="0">
                <a:solidFill>
                  <a:schemeClr val="tx1"/>
                </a:solidFill>
              </a:rPr>
              <a:t>Full sweep: stale public signal plus no-signal baseline, CARA 0.1, σ reported</a:t>
            </a:r>
            <a:endParaRPr lang="en-US" sz="11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1097280"/>
          </a:xfrm>
          <a:prstGeom prst="rect">
            <a:avLst/>
          </a:prstGeom>
          <a:noFill/>
          <a:ln/>
        </p:spPr>
        <p:txBody>
          <a:bodyPr wrap="square" lIns="0" tIns="0" rIns="0" bIns="0" rtlCol="0" anchor="ctr"/>
          <a:lstStyle/>
          <a:p>
            <a:pPr algn="l" indent="0" marL="0">
              <a:buNone/>
            </a:pPr>
            <a:r>
              <a:rPr lang="en-US" sz="3200" b="1" dirty="0">
                <a:solidFill>
                  <a:schemeClr val="bg1"/>
                </a:solidFill>
              </a:rPr>
              <a:t>Backup</a:t>
            </a:r>
            <a:endParaRPr lang="en-US" sz="3200" dirty="0"/>
          </a:p>
        </p:txBody>
      </p:sp>
      <p:sp>
        <p:nvSpPr>
          <p:cNvPr id="3" name="Text 0"/>
          <p:cNvSpPr/>
          <p:nvPr>
            <p:ph idx="101" type="body" hasCustomPrompt="1"/>
          </p:nvPr>
        </p:nvSpPr>
        <p:spPr>
          <a:xfrm>
            <a:off x="548640" y="2971800"/>
            <a:ext cx="8046720" cy="731520"/>
          </a:xfrm>
          <a:prstGeom prst="rect">
            <a:avLst/>
          </a:prstGeom>
          <a:noFill/>
          <a:ln/>
        </p:spPr>
        <p:txBody>
          <a:bodyPr wrap="square" lIns="0" tIns="0" rIns="0" bIns="0" rtlCol="0" anchor="t"/>
          <a:lstStyle/>
          <a:p>
            <a:pPr indent="0" marL="0">
              <a:buNone/>
            </a:pPr>
            <a:r>
              <a:rPr lang="en-US" sz="1600" dirty="0">
                <a:solidFill>
                  <a:schemeClr val="accent4"/>
                </a:solidFill>
              </a:rPr>
              <a:t>Technical versions of the exhibits, the pre-registered tests, channels, and the Celsius docking gap.</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Who withdraws, by type and mix</a:t>
            </a:r>
            <a:endParaRPr lang="en-US" sz="2400" dirty="0"/>
          </a:p>
        </p:txBody>
      </p:sp>
      <p:pic>
        <p:nvPicPr>
          <p:cNvPr id="3" name="e06" descr="Share who withdraw by individualist share, three panels by lambda pair: collectivists above individualists at every mixed share for the two wide gaps.">    </p:cNvPr>
          <p:cNvPicPr>
            <a:picLocks noChangeAspect="1"/>
          </p:cNvPicPr>
          <p:nvPr/>
        </p:nvPicPr>
        <p:blipFill>
          <a:blip r:embed="rId1"/>
          <a:stretch>
            <a:fillRect/>
          </a:stretch>
        </p:blipFill>
        <p:spPr>
          <a:xfrm>
            <a:off x="512064" y="1051560"/>
            <a:ext cx="8119872"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who withdraw by individualist share μ, one panel per λ pair; orange individualists, blue collectivists, with CIs.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The pre-registered tests, three versions of the bank</a:t>
            </a:r>
            <a:endParaRPr lang="en-US" sz="2400" dirty="0"/>
          </a:p>
        </p:txBody>
      </p:sp>
      <p:pic>
        <p:nvPicPr>
          <p:cNvPr id="3" name="e03" descr="Forest plot of five tests (G1', G4', G2a', G3, G3c) across three bank versions with pooled estimates and per-pair markers.">    </p:cNvPr>
          <p:cNvPicPr>
            <a:picLocks noChangeAspect="1"/>
          </p:cNvPicPr>
          <p:nvPr/>
        </p:nvPicPr>
        <p:blipFill>
          <a:blip r:embed="rId1"/>
          <a:stretch>
            <a:fillRect/>
          </a:stretch>
        </p:blipFill>
        <p:spPr>
          <a:xfrm>
            <a:off x="882533" y="1051560"/>
            <a:ext cx="7378934"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G1′, G4′, G2a′, G3 and G3c (post hoc). Rows: risk-neutral all-or-nothing, CARA partial, capped reference bank. Filled dot: pooled; hollow: each λ pair. Shaded: the theory’s predicted sign.</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Which channel carries culture</a:t>
            </a:r>
            <a:endParaRPr lang="en-US" sz="2400" dirty="0"/>
          </a:p>
        </p:txBody>
      </p:sp>
      <p:pic>
        <p:nvPicPr>
          <p:cNvPr id="3" name="e09" descr="Who runs in failed runs with optimistic news when lambda applies only to the neighbour blend, only to the news blend, or both: positive, negative, small positive.">    </p:cNvPr>
          <p:cNvPicPr>
            <a:picLocks noChangeAspect="1"/>
          </p:cNvPicPr>
          <p:nvPr/>
        </p:nvPicPr>
        <p:blipFill>
          <a:blip r:embed="rId1"/>
          <a:stretch>
            <a:fillRect/>
          </a:stretch>
        </p:blipFill>
        <p:spPr>
          <a:xfrm>
            <a:off x="1547348" y="1051560"/>
            <a:ext cx="604930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D in failed runs with optimistic news, when λ weights only the neighbour blend, only the news blend, or both (the model). θ-blend only +0.14; head-count only −0.07; both +0.02.</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Matching Celsius: how large depositors exit</a:t>
            </a:r>
            <a:endParaRPr lang="en-US" sz="2400" dirty="0"/>
          </a:p>
        </p:txBody>
      </p:sp>
      <p:pic>
        <p:nvPicPr>
          <p:cNvPr id="3" name="e04" descr="Share of exits that withdraw everything at once by depositor size: Celsius falls from about 0.86 to 0.35 for the largest; the model stays at 0.93 to 1.">    </p:cNvPr>
          <p:cNvPicPr>
            <a:picLocks noChangeAspect="1"/>
          </p:cNvPicPr>
          <p:nvPr/>
        </p:nvPicPr>
        <p:blipFill>
          <a:blip r:embed="rId1"/>
          <a:stretch>
            <a:fillRect/>
          </a:stretch>
        </p:blipFill>
        <p:spPr>
          <a:xfrm>
            <a:off x="1882292" y="1051560"/>
            <a:ext cx="5379415"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Share of exits that withdraw everything at once, by depositor size. Black: Celsius (band for D1–D5); greys: the model, uncapped and capped.</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2400" b="1" dirty="0">
                <a:solidFill>
                  <a:schemeClr val="tx2"/>
                </a:solidFill>
              </a:rPr>
              <a:t>Earlier specification (vault bank): failure by mix</a:t>
            </a:r>
            <a:endParaRPr lang="en-US" sz="2400" dirty="0"/>
          </a:p>
        </p:txBody>
      </p:sp>
      <p:pic>
        <p:nvPicPr>
          <p:cNvPr id="3" name="fig1" descr="Earlier vault-bank specification: probability of a run falls with the share of individualists for all three signal-weighting gaps.">    </p:cNvPr>
          <p:cNvPicPr>
            <a:picLocks noChangeAspect="1"/>
          </p:cNvPicPr>
          <p:nvPr/>
        </p:nvPicPr>
        <p:blipFill>
          <a:blip r:embed="rId1"/>
          <a:stretch>
            <a:fillRect/>
          </a:stretch>
        </p:blipFill>
        <p:spPr>
          <a:xfrm>
            <a:off x="1999016" y="1051560"/>
            <a:ext cx="5145969" cy="3383280"/>
          </a:xfrm>
          <a:prstGeom prst="rect">
            <a:avLst/>
          </a:prstGeom>
        </p:spPr>
      </p:pic>
      <p:sp>
        <p:nvSpPr>
          <p:cNvPr id="4" name="caption"/>
          <p:cNvSpPr txBox="1"/>
          <p:nvPr/>
        </p:nvSpPr>
        <p:spPr>
          <a:xfrm>
            <a:off x="457200" y="4480560"/>
            <a:ext cx="8229600" cy="274320"/>
          </a:xfrm>
          <a:prstGeom prst="rect">
            <a:avLst/>
          </a:prstGeom>
          <a:noFill/>
          <a:ln/>
        </p:spPr>
        <p:txBody>
          <a:bodyPr wrap="square" lIns="0" tIns="0" rIns="0" bIns="0" rtlCol="0" anchor="ctr"/>
          <a:lstStyle/>
          <a:p>
            <a:pPr indent="0" marL="0">
              <a:buNone/>
            </a:pPr>
            <a:r>
              <a:rPr lang="en-US" sz="1000" i="1" dirty="0">
                <a:solidFill>
                  <a:schemeClr val="accent3"/>
                </a:solidFill>
              </a:rPr>
              <a:t>Vault bank, earlier specification (chapter Figure 1): probability of a run by share of individualists, three λ gaps. Also monotone.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6B7280"/>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Bank Run Talk">
  <a:themeElements>
    <a:clrScheme name="Bank Run Talk">
      <a:dk1>
        <a:srgbClr val="1F2937"/>
      </a:dk1>
      <a:lt1>
        <a:srgbClr val="FFFFFF"/>
      </a:lt1>
      <a:dk2>
        <a:srgbClr val="16213E"/>
      </a:dk2>
      <a:lt2>
        <a:srgbClr val="EEF2F9"/>
      </a:lt2>
      <a:accent1>
        <a:srgbClr val="3B6BB5"/>
      </a:accent1>
      <a:accent2>
        <a:srgbClr val="C9502E"/>
      </a:accent2>
      <a:accent3>
        <a:srgbClr val="6B7280"/>
      </a:accent3>
      <a:accent4>
        <a:srgbClr val="D9E3F3"/>
      </a:accent4>
      <a:accent5>
        <a:srgbClr val="2E7D5B"/>
      </a:accent5>
      <a:accent6>
        <a:srgbClr val="E08A2E"/>
      </a:accent6>
      <a:hlink>
        <a:srgbClr val="3B6BB5"/>
      </a:hlink>
      <a:folHlink>
        <a:srgbClr val="6B7280"/>
      </a:folHlink>
    </a:clrScheme>
    <a:fontScheme name="Bank Run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Agent-based Diamond–Dybvig with cultural heterogeneity</dc:title>
  <dc:subject>PptxGenJS Presentation</dc:subject>
  <dc:creator>Walter Stover</dc:creator>
  <cp:lastModifiedBy>Walter Stover</cp:lastModifiedBy>
  <cp:revision>1</cp:revision>
  <dcterms:created xsi:type="dcterms:W3CDTF">2026-10-26T03:54:35Z</dcterms:created>
  <dcterms:modified xsi:type="dcterms:W3CDTF">2026-10-26T03:54:35Z</dcterms:modified>
</cp:coreProperties>
</file>