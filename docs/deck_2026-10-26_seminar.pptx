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0f61ee-7bef-7ce8-4b28-4b59a5327a61}">
          <p14:sldIdLst>
            <p14:sldId id="256"/>
            <p14:sldId id="257"/>
            <p14:sldId id="258"/>
            <p14:sldId id="259"/>
            <p14:sldId id="260"/>
            <p14:sldId id="262"/>
          </p14:sldIdLst>
        </p14:section>
        <p14:section name="The model" id="{93910c9f-1099-270d-c07f-5103a4462bd3}">
          <p14:sldIdLst>
            <p14:sldId id="263"/>
            <p14:sldId id="264"/>
          </p14:sldIdLst>
        </p14:section>
        <p14:section name="Results" id="{72fcd71d-aa50-e9e8-c28d-1957eafc80c4}">
          <p14:sldIdLst>
            <p14:sldId id="265"/>
            <p14:sldId id="266"/>
            <p14:sldId id="267"/>
            <p14:sldId id="268"/>
            <p14:sldId id="269"/>
          </p14:sldIdLst>
        </p14:section>
        <p14:section name="Validation" id="{2e89d5aa-f328-3aec-2413-2c4b74dc54f0}">
          <p14:sldIdLst>
            <p14:sldId id="270"/>
          </p14:sldIdLst>
        </p14:section>
        <p14:section name="Close" id="{244f6fad-fb3d-8a9f-c084-bd96c103640b}">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Photo: the 1931 run on the American Union Bank, New York (National Archives, public domain).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card. ~0.2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card. ~0.1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Markets and Society 2026</a:t>
            </a:r>
            <a:endParaRPr lang="en-US" sz="1800" dirty="0"/>
          </a:p>
          <a:p>
            <a:pPr algn="ctr" indent="0" marL="0">
              <a:buNone/>
            </a:pPr>
            <a:r>
              <a:rPr lang="en-US" sz="1800" dirty="0">
                <a:solidFill>
                  <a:schemeClr val="accent4"/>
                </a:solidFill>
              </a:rPr>
              <a:t>Walter Stover  ·  George Mason University  ·  26 October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aub" descr="Black-and-white photograph from 1931: a dense crowd of depositors in hats and suits packs the sidewalk outside the American Union Bank in New York, at the corner of West 37th Street, during a bank run.">    </p:cNvPr>
          <p:cNvPicPr>
            <a:picLocks noChangeAspect="1"/>
          </p:cNvPicPr>
          <p:nvPr/>
        </p:nvPicPr>
        <p:blipFill>
          <a:blip r:embed="rId1"/>
          <a:stretch>
            <a:fillRect/>
          </a:stretch>
        </p:blipFill>
        <p:spPr>
          <a:xfrm>
            <a:off x="477591" y="1051560"/>
            <a:ext cx="3982578" cy="3108960"/>
          </a:xfrm>
          <a:prstGeom prst="rect">
            <a:avLst/>
          </a:prstGeom>
        </p:spPr>
      </p:pic>
      <p:sp>
        <p:nvSpPr>
          <p:cNvPr id="4" name="caption"/>
          <p:cNvSpPr txBox="1"/>
          <p:nvPr/>
        </p:nvSpPr>
        <p:spPr>
          <a:xfrm>
            <a:off x="477591" y="4206240"/>
            <a:ext cx="3982578" cy="274320"/>
          </a:xfrm>
          <a:prstGeom prst="rect">
            <a:avLst/>
          </a:prstGeom>
          <a:noFill/>
          <a:ln/>
        </p:spPr>
        <p:txBody>
          <a:bodyPr wrap="square" lIns="0" tIns="0" rIns="0" bIns="0" rtlCol="0" anchor="ctr"/>
          <a:lstStyle/>
          <a:p>
            <a:pPr indent="0" marL="0">
              <a:buNone/>
            </a:pPr>
            <a:r>
              <a:rPr lang="en-US" sz="1000" i="1" dirty="0">
                <a:solidFill>
                  <a:schemeClr val="accent3"/>
                </a:solidFill>
              </a:rPr>
              <a:t>Run on the American Union Bank, New York, 1931. National Archives; public domain.</a:t>
            </a:r>
            <a:endParaRPr lang="en-US" sz="1000" dirty="0"/>
          </a:p>
        </p:txBody>
      </p:sp>
      <p:pic>
        <p:nvPicPr>
          <p:cNvPr id="5"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2"/>
          <a:stretch>
            <a:fillRect/>
          </a:stretch>
        </p:blipFill>
        <p:spPr>
          <a:xfrm>
            <a:off x="4665177" y="1051560"/>
            <a:ext cx="4019885" cy="3108960"/>
          </a:xfrm>
          <a:prstGeom prst="rect">
            <a:avLst/>
          </a:prstGeom>
        </p:spPr>
      </p:pic>
      <p:sp>
        <p:nvSpPr>
          <p:cNvPr id="6" name="caption"/>
          <p:cNvSpPr txBox="1"/>
          <p:nvPr/>
        </p:nvSpPr>
        <p:spPr>
          <a:xfrm>
            <a:off x="4665177" y="4206240"/>
            <a:ext cx="401988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4"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5"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6"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items"/>
          <p:cNvSpPr txBox="1"/>
          <p:nvPr/>
        </p:nvSpPr>
        <p:spPr>
          <a:xfrm>
            <a:off x="457200" y="1188720"/>
            <a:ext cx="8229600" cy="30175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weights. </a:t>
            </a:r>
            <a:pPr indent="0" marL="0">
              <a:spcAft>
                <a:spcPts val="900"/>
              </a:spcAft>
              <a:buNone/>
            </a:pPr>
            <a:r>
              <a:rPr lang="en-US" sz="1400" dirty="0">
                <a:solidFill>
                  <a:schemeClr val="tx1"/>
                </a:solidFill>
              </a:rPr>
              <a:t>Cultural values pass largely unchanged from parents to children (Guiso, Sapienza, Zingales; Bazzi et al.).</a:t>
            </a:r>
            <a:endParaRPr lang="en-US" sz="1400" dirty="0"/>
          </a:p>
          <a:p>
            <a:pPr marL="177800" indent="-177800">
              <a:spcAft>
                <a:spcPts val="900"/>
              </a:spcAft>
              <a:buSzPct val="100000"/>
              <a:buChar char="•"/>
            </a:pPr>
            <a:r>
              <a:rPr lang="en-US" sz="1400" b="1" dirty="0">
                <a:solidFill>
                  <a:schemeClr val="tx1"/>
                </a:solidFill>
              </a:rPr>
              <a:t>Individualism </a:t>
            </a:r>
            <a:pPr indent="0" marL="0">
              <a:spcAft>
                <a:spcPts val="900"/>
              </a:spcAft>
              <a:buNone/>
            </a:pPr>
            <a:r>
              <a:rPr lang="en-US" sz="1400" dirty="0">
                <a:solidFill>
                  <a:schemeClr val="tx1"/>
                </a:solidFill>
              </a:rPr>
              <a:t>as 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we can observe the weight instead of assuming 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ctr" indent="0" marL="0">
              <a:buNone/>
            </a:pPr>
            <a:r>
              <a:rPr lang="en-US" sz="3200" b="1" dirty="0">
                <a:solidFill>
                  <a:schemeClr val="bg1"/>
                </a:solidFill>
              </a:rPr>
              <a:t>An agent-based bank run model</a:t>
            </a:r>
            <a:endParaRPr lang="en-US" sz="3200" dirty="0"/>
          </a:p>
          <a:p>
            <a:pPr algn="ctr" indent="0" marL="0">
              <a:buNone/>
            </a:pPr>
            <a:r>
              <a:rPr lang="en-US" sz="3200" b="1" dirty="0">
                <a:solidFill>
                  <a:schemeClr val="bg1"/>
                </a:solidFill>
              </a:rPr>
              <a:t>with culture</a:t>
            </a:r>
            <a:endParaRPr lang="en-US" sz="3200" dirty="0"/>
          </a:p>
        </p:txBody>
      </p:sp>
      <p:sp>
        <p:nvSpPr>
          <p:cNvPr id="4"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ctr" indent="0" marL="0">
              <a:buNone/>
            </a:pP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D62828"/>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D62828"/>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ctr" indent="0" marL="0">
              <a:buNone/>
            </a:pPr>
            <a:r>
              <a:rPr lang="en-US" sz="3200" b="1" dirty="0">
                <a:solidFill>
                  <a:schemeClr val="bg1"/>
                </a:solidFill>
              </a:rPr>
              <a:t>Results</a:t>
            </a:r>
            <a:endParaRPr lang="en-US" sz="3200" dirty="0"/>
          </a:p>
        </p:txBody>
      </p:sp>
      <p:sp>
        <p:nvSpPr>
          <p:cNvPr id="4"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ctr" indent="0" marL="0">
              <a:buNone/>
            </a:pP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2026-10-26T14:28:11Z</dcterms:created>
  <dcterms:modified xsi:type="dcterms:W3CDTF">2026-10-26T14:28:11Z</dcterms:modified>
</cp:coreProperties>
</file>