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3d20d6-e695-9e15-752b-5ddd667d8f45}">
          <p14:sldIdLst>
            <p14:sldId id="256"/>
            <p14:sldId id="257"/>
            <p14:sldId id="258"/>
            <p14:sldId id="259"/>
            <p14:sldId id="260"/>
            <p14:sldId id="261"/>
          </p14:sldIdLst>
        </p14:section>
        <p14:section name="The model" id="{6d5348b0-1b8b-fec1-10fd-5c57a3f13f00}">
          <p14:sldIdLst>
            <p14:sldId id="262"/>
            <p14:sldId id="263"/>
          </p14:sldIdLst>
        </p14:section>
        <p14:section name="Results" id="{97cfc799-ce7f-f93a-c311-a0a6d52329ae}">
          <p14:sldIdLst>
            <p14:sldId id="264"/>
            <p14:sldId id="265"/>
            <p14:sldId id="266"/>
            <p14:sldId id="267"/>
          </p14:sldIdLst>
        </p14:section>
        <p14:section name="Validation" id="{dbd01375-bfb5-6f0c-ad03-c4cab584aaff}">
          <p14:sldIdLst>
            <p14:sldId id="268"/>
          </p14:sldIdLst>
        </p14:section>
        <p14:section name="Close" id="{dae37f5b-7041-83ff-1ce6-d3ac39617de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37160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eq-sub"/>
          <p:cNvSpPr txBox="1"/>
          <p:nvPr/>
        </p:nvSpPr>
        <p:spPr>
          <a:xfrm>
            <a:off x="640080" y="210312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5" name="wedge"/>
          <p:cNvSpPr txBox="1"/>
          <p:nvPr/>
        </p:nvSpPr>
        <p:spPr>
          <a:xfrm>
            <a:off x="457200" y="2926080"/>
            <a:ext cx="8229600" cy="1005840"/>
          </a:xfrm>
          <a:prstGeom prst="rect">
            <a:avLst/>
          </a:prstGeom>
          <a:noFill/>
          <a:ln/>
        </p:spPr>
        <p:txBody>
          <a:bodyPr wrap="square" lIns="0" tIns="0" rIns="0" bIns="0" rtlCol="0" anchor="t"/>
          <a:lstStyle/>
          <a:p>
            <a:pPr algn="ctr" indent="0" marL="0">
              <a:buNone/>
            </a:pPr>
            <a:r>
              <a:rPr lang="en-US" sz="1400" b="1" dirty="0">
                <a:solidFill>
                  <a:srgbClr val="EB6834"/>
                </a:solidFill>
              </a:rPr>
              <a:t>Individualists </a:t>
            </a:r>
            <a:pPr algn="ctr" indent="0" marL="0">
              <a:buNone/>
            </a:pPr>
            <a:r>
              <a:rPr lang="en-US" sz="1400" dirty="0">
                <a:solidFill>
                  <a:schemeClr val="tx1"/>
                </a:solidFill>
              </a:rPr>
              <a:t>λ</a:t>
            </a:r>
            <a:pPr algn="ctr" indent="0" marL="0">
              <a:buNone/>
            </a:pPr>
            <a:r>
              <a:rPr lang="en-US" sz="1400" baseline="-40000" dirty="0">
                <a:solidFill>
                  <a:schemeClr val="tx1"/>
                </a:solidFill>
              </a:rPr>
              <a:t>I</a:t>
            </a:r>
            <a:pPr algn="ctr" indent="0" marL="0">
              <a:buNone/>
            </a:pPr>
            <a:r>
              <a:rPr lang="en-US" sz="1400" dirty="0">
                <a:solidFill>
                  <a:schemeClr val="tx1"/>
                </a:solidFill>
              </a:rPr>
              <a:t>  &lt;  λ</a:t>
            </a:r>
            <a:pPr algn="ctr" indent="0" marL="0">
              <a:buNone/>
            </a:pPr>
            <a:r>
              <a:rPr lang="en-US" sz="1400" baseline="-40000" dirty="0">
                <a:solidFill>
                  <a:schemeClr val="tx1"/>
                </a:solidFill>
              </a:rPr>
              <a:t>C</a:t>
            </a:r>
            <a:pPr algn="ctr" indent="0" marL="0">
              <a:buNone/>
            </a:pPr>
            <a:r>
              <a:rPr lang="en-US" sz="1400" b="1" dirty="0">
                <a:solidFill>
                  <a:srgbClr val="2A78D6"/>
                </a:solidFill>
              </a:rPr>
              <a:t> collectivists</a:t>
            </a:r>
            <a:pPr algn="ctr" indent="0" marL="0">
              <a:buNone/>
            </a:pPr>
            <a:r>
              <a:rPr lang="en-US" sz="1400" dirty="0">
                <a:solidFill>
                  <a:schemeClr val="tx1"/>
                </a:solidFill>
              </a:rPr>
              <a:t>.  Same two signals, different estimates: </a:t>
            </a:r>
            <a:pPr algn="ctr" indent="0" marL="0">
              <a:buNone/>
            </a:pPr>
            <a:r>
              <a:rPr lang="en-US" sz="1400" i="1" dirty="0">
                <a:solidFill>
                  <a:schemeClr val="tx1"/>
                </a:solidFill>
              </a:rPr>
              <a:t>ŝ</a:t>
            </a:r>
            <a:pPr algn="ctr" indent="0" marL="0">
              <a:buNone/>
            </a:pPr>
            <a:r>
              <a:rPr lang="en-US" sz="1400" baseline="-40000" dirty="0">
                <a:solidFill>
                  <a:schemeClr val="tx1"/>
                </a:solidFill>
              </a:rPr>
              <a:t>I</a:t>
            </a:r>
            <a:pPr algn="ctr" indent="0" marL="0">
              <a:buNone/>
            </a:pPr>
            <a:r>
              <a:rPr lang="en-US" sz="1400" dirty="0">
                <a:solidFill>
                  <a:schemeClr val="tx1"/>
                </a:solidFill>
              </a:rPr>
              <a:t> − </a:t>
            </a:r>
            <a:pPr algn="ctr" indent="0" marL="0">
              <a:buNone/>
            </a:pPr>
            <a:r>
              <a:rPr lang="en-US" sz="1400" i="1" dirty="0">
                <a:solidFill>
                  <a:schemeClr val="tx1"/>
                </a:solidFill>
              </a:rPr>
              <a:t>ŝ</a:t>
            </a:r>
            <a:pPr algn="ctr" indent="0" marL="0">
              <a:buNone/>
            </a:pPr>
            <a:r>
              <a:rPr lang="en-US" sz="1400" baseline="-40000" dirty="0">
                <a:solidFill>
                  <a:schemeClr val="tx1"/>
                </a:solidFill>
              </a:rPr>
              <a:t>C</a:t>
            </a:r>
            <a:pPr algn="ctr" indent="0" marL="0">
              <a:buNone/>
            </a:pPr>
            <a:r>
              <a:rPr lang="en-US" sz="1400" dirty="0">
                <a:solidFill>
                  <a:schemeClr val="tx1"/>
                </a:solidFill>
              </a:rPr>
              <a:t> = (λ</a:t>
            </a:r>
            <a:pPr algn="ctr" indent="0" marL="0">
              <a:buNone/>
            </a:pPr>
            <a:r>
              <a:rPr lang="en-US" sz="1400" baseline="-40000" dirty="0">
                <a:solidFill>
                  <a:schemeClr val="tx1"/>
                </a:solidFill>
              </a:rPr>
              <a:t>C</a:t>
            </a:r>
            <a:pPr algn="ctr" indent="0" marL="0">
              <a:buNone/>
            </a:pPr>
            <a:r>
              <a:rPr lang="en-US" sz="1400" dirty="0">
                <a:solidFill>
                  <a:schemeClr val="tx1"/>
                </a:solidFill>
              </a:rPr>
              <a:t> − λ</a:t>
            </a:r>
            <a:pPr algn="ctr" indent="0" marL="0">
              <a:buNone/>
            </a:pPr>
            <a:r>
              <a:rPr lang="en-US" sz="1400" baseline="-40000" dirty="0">
                <a:solidFill>
                  <a:schemeClr val="tx1"/>
                </a:solidFill>
              </a:rPr>
              <a:t>I</a:t>
            </a:r>
            <a:pPr algn="ctr" indent="0" marL="0">
              <a:buNone/>
            </a:pPr>
            <a:r>
              <a:rPr lang="en-US" sz="1400" dirty="0">
                <a:solidFill>
                  <a:schemeClr val="tx1"/>
                </a:solidFill>
              </a:rPr>
              <a:t>)(</a:t>
            </a:r>
            <a:pPr algn="ctr" indent="0" marL="0">
              <a:buNone/>
            </a:pPr>
            <a:r>
              <a:rPr lang="en-US" sz="1400" i="1" dirty="0">
                <a:solidFill>
                  <a:schemeClr val="tx1"/>
                </a:solidFill>
              </a:rPr>
              <a:t>x</a:t>
            </a:r>
            <a:pPr algn="ctr" indent="0" marL="0">
              <a:buNone/>
            </a:pPr>
            <a:r>
              <a:rPr lang="en-US" sz="1400" dirty="0">
                <a:solidFill>
                  <a:schemeClr val="tx1"/>
                </a:solidFill>
              </a:rPr>
              <a:t> − </a:t>
            </a:r>
            <a:pPr algn="ctr" indent="0" marL="0">
              <a:buNone/>
            </a:pPr>
            <a:r>
              <a:rPr lang="en-US" sz="1400" i="1" dirty="0">
                <a:solidFill>
                  <a:schemeClr val="tx1"/>
                </a:solidFill>
              </a:rPr>
              <a:t>y</a:t>
            </a:r>
            <a:pPr algn="ctr" indent="0" marL="0">
              <a:buNone/>
            </a:pPr>
            <a:r>
              <a:rPr lang="en-US" sz="1400" dirty="0">
                <a:solidFill>
                  <a:schemeClr val="tx1"/>
                </a:solidFill>
              </a:rPr>
              <a:t>). </a:t>
            </a:r>
            <a:pPr algn="ctr" indent="0" marL="0">
              <a:buNone/>
            </a:pPr>
            <a:r>
              <a:rPr lang="en-US" sz="1400" b="1" dirty="0">
                <a:solidFill>
                  <a:schemeClr val="tx2"/>
                </a:solidFill>
              </a:rPr>
              <a:t>Which type runs more depends on which way the public line is wrong: too optimistic, individualists; too pessimistic, collectivists.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2026-10-26T12:23:53Z</dcterms:created>
  <dcterms:modified xsi:type="dcterms:W3CDTF">2026-10-26T12:23:53Z</dcterms:modified>
</cp:coreProperties>
</file>