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b81448-a301-79bf-b808-78467e587f4e}">
          <p14:sldIdLst>
            <p14:sldId id="256"/>
            <p14:sldId id="257"/>
            <p14:sldId id="258"/>
            <p14:sldId id="259"/>
            <p14:sldId id="260"/>
            <p14:sldId id="261"/>
            <p14:sldId id="262"/>
            <p14:sldId id="263"/>
            <p14:sldId id="264"/>
            <p14:sldId id="265"/>
          </p14:sldIdLst>
        </p14:section>
        <p14:section name="The model" id="{e9e6278b-4834-3dce-0379-cf39c1383116}">
          <p14:sldIdLst>
            <p14:sldId id="266"/>
            <p14:sldId id="267"/>
          </p14:sldIdLst>
        </p14:section>
        <p14:section name="Results" id="{82291f85-92a5-30ea-7752-70a01a7217aa}">
          <p14:sldIdLst>
            <p14:sldId id="268"/>
            <p14:sldId id="269"/>
            <p14:sldId id="270"/>
            <p14:sldId id="271"/>
          </p14:sldIdLst>
        </p14:section>
        <p14:section name="Validation" id="{64bb2175-ae54-414d-3928-7faa0b2f8445}">
          <p14:sldIdLst>
            <p14:sldId id="272"/>
          </p14:sldIdLst>
        </p14:section>
        <p14:section name="Close" id="{d736efe2-8d2e-8157-9ee2-ab42ad7540a9}">
          <p14:sldIdLst>
            <p14:sldId id="273"/>
          </p14:sldIdLst>
        </p14:section>
        <p14:section name="Backup" id="{d05939e3-f4fc-5ece-c57a-fd09324bae9a}">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and when. Variation in the signal: Goldstein-Pauzner's noisy private draw (same technology, different draws), the device that gives Diamond-Dybvig an equilibrium-selection mechanism; depositors are ex ante identical, so who runs is luck. Note the model is static: for an intermediate fundamental a fraction runs (those below the threshold draw), not everyone or nobody; the all-or-nothing picture is the zero-noise limit. Timing only enters with the network literature. Variation in location: the network and media literature; the order is position. Both are consistent with identical processing.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Two mechanisms the literature has used</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Who runs, and when, has been answered two ways: by what a depositor drew and by where they sit.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Variation in the signal. </a:t>
            </a:r>
            <a:pPr indent="0" marL="0">
              <a:spcAft>
                <a:spcPts val="900"/>
              </a:spcAft>
              <a:buNone/>
            </a:pPr>
            <a:r>
              <a:rPr lang="en-US" sz="1400" dirty="0">
                <a:solidFill>
                  <a:schemeClr val="tx1"/>
                </a:solidFill>
              </a:rPr>
              <a:t>Goldstein–Pauzner give every depositor a noisy draw of the same signal. The draw breaks common knowledge and selects the equilibrium. Who runs is whoever drew low; everyone decides at once, so there is no first.</a:t>
            </a:r>
            <a:endParaRPr lang="en-US" sz="1400" dirty="0"/>
          </a:p>
          <a:p>
            <a:pPr marL="177800" indent="-177800">
              <a:spcAft>
                <a:spcPts val="900"/>
              </a:spcAft>
              <a:buSzPct val="100000"/>
              <a:buChar char="•"/>
            </a:pPr>
            <a:r>
              <a:rPr lang="en-US" sz="1400" b="1" dirty="0">
                <a:solidFill>
                  <a:schemeClr val="tx1"/>
                </a:solidFill>
              </a:rPr>
              <a:t>Variation in location. </a:t>
            </a:r>
            <a:pPr indent="0" marL="0">
              <a:spcAft>
                <a:spcPts val="900"/>
              </a:spcAft>
              <a:buNone/>
            </a:pPr>
            <a:r>
              <a:rPr lang="en-US" sz="1400" dirty="0">
                <a:solidFill>
                  <a:schemeClr val="tx1"/>
                </a:solidFill>
              </a:rPr>
              <a:t>Networks and media decide who hears what, from whom, when (Kelly–Ó Gráda, Iyer–Puri, Cookson et al.). Who runs first is whoever sits nearest the source.</a:t>
            </a:r>
            <a:endParaRPr lang="en-US" sz="1400" dirty="0"/>
          </a:p>
          <a:p>
            <a:pPr marL="177800" indent="-177800">
              <a:spcAft>
                <a:spcPts val="900"/>
              </a:spcAft>
              <a:buSzPct val="100000"/>
              <a:buChar char="•"/>
            </a:pPr>
            <a:r>
              <a:rPr lang="en-US" sz="1400" b="1" dirty="0">
                <a:solidFill>
                  <a:schemeClr val="tx1"/>
                </a:solidFill>
              </a:rPr>
              <a:t>Both are fruitful. </a:t>
            </a:r>
            <a:pPr indent="0" marL="0">
              <a:spcAft>
                <a:spcPts val="900"/>
              </a:spcAft>
              <a:buNone/>
            </a:pPr>
            <a:r>
              <a:rPr lang="en-US" sz="1400" dirty="0">
                <a:solidFill>
                  <a:schemeClr val="tx1"/>
                </a:solidFill>
              </a:rPr>
              <a:t>Neither says anything about the depositor: the same Bayesian, with the same prior, sits at every node.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7" name="step-foot"/>
          <p:cNvSpPr txBox="1"/>
          <p:nvPr/>
        </p:nvSpPr>
        <p:spPr>
          <a:xfrm>
            <a:off x="1005840" y="4251960"/>
            <a:ext cx="768096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which type runs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7</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2026-10-26T03:28:42Z</dcterms:created>
  <dcterms:modified xsi:type="dcterms:W3CDTF">2026-10-26T03:28:42Z</dcterms:modified>
</cp:coreProperties>
</file>