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9c422ad-505d-8dcf-c12d-ff605d9aaaa0}">
          <p14:sldIdLst>
            <p14:sldId id="256"/>
            <p14:sldId id="257"/>
            <p14:sldId id="258"/>
            <p14:sldId id="259"/>
            <p14:sldId id="260"/>
            <p14:sldId id="261"/>
          </p14:sldIdLst>
        </p14:section>
        <p14:section name="The model" id="{481503f5-a1b7-8bef-c57a-44ace5cec1e5}">
          <p14:sldIdLst>
            <p14:sldId id="262"/>
            <p14:sldId id="263"/>
          </p14:sldIdLst>
        </p14:section>
        <p14:section name="Results" id="{85901ff1-6875-5771-133d-a9a628aed2a5}">
          <p14:sldIdLst>
            <p14:sldId id="264"/>
            <p14:sldId id="265"/>
            <p14:sldId id="266"/>
            <p14:sldId id="267"/>
          </p14:sldIdLst>
        </p14:section>
        <p14:section name="Validation" id="{f9368fb3-0c9c-652b-9c95-3431d06c4de7}">
          <p14:sldIdLst>
            <p14:sldId id="268"/>
          </p14:sldIdLst>
        </p14:section>
        <p14:section name="Close" id="{4898beb8-f625-c9f1-f85a-50d2d4d3b4f7}">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algn="ctr" indent="0" marL="0">
              <a:buNone/>
              <a:defRPr lang="en-US" sz="1800" dirty="0">
                <a:solidFill>
                  <a:schemeClr val="accent4"/>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algn="ct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4" name="types"/>
          <p:cNvSpPr txBox="1"/>
          <p:nvPr/>
        </p:nvSpPr>
        <p:spPr>
          <a:xfrm>
            <a:off x="457200" y="2240280"/>
            <a:ext cx="8229600" cy="685800"/>
          </a:xfrm>
          <a:prstGeom prst="rect">
            <a:avLst/>
          </a:prstGeom>
          <a:noFill/>
          <a:ln/>
        </p:spPr>
        <p:txBody>
          <a:bodyPr wrap="square" lIns="0" tIns="0" rIns="0" bIns="0" rtlCol="0" anchor="ctr"/>
          <a:lstStyle/>
          <a:p>
            <a:pPr algn="ctr" indent="0" marL="0">
              <a:buNone/>
            </a:pPr>
            <a:r>
              <a:rPr lang="en-US" sz="3000" b="1" dirty="0">
                <a:solidFill>
                  <a:srgbClr val="EB6834"/>
                </a:solidFill>
                <a:latin typeface="Cambria" pitchFamily="34" charset="0"/>
                <a:ea typeface="Cambria" pitchFamily="34" charset="-122"/>
                <a:cs typeface="Cambria" pitchFamily="34" charset="-120"/>
              </a:rPr>
              <a:t>Individualists </a:t>
            </a:r>
            <a:pPr algn="ctr" indent="0" marL="0">
              <a:buNone/>
            </a:pPr>
            <a:r>
              <a:rPr lang="en-US" sz="3000" dirty="0">
                <a:solidFill>
                  <a:schemeClr val="tx2"/>
                </a:solidFill>
                <a:latin typeface="Cambria" pitchFamily="34" charset="0"/>
                <a:ea typeface="Cambria" pitchFamily="34" charset="-122"/>
                <a:cs typeface="Cambria" pitchFamily="34" charset="-120"/>
              </a:rPr>
              <a:t>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&lt;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b="1" dirty="0">
                <a:solidFill>
                  <a:srgbClr val="2A78D6"/>
                </a:solidFill>
                <a:latin typeface="Cambria" pitchFamily="34" charset="0"/>
                <a:ea typeface="Cambria" pitchFamily="34" charset="-122"/>
                <a:cs typeface="Cambria" pitchFamily="34" charset="-120"/>
              </a:rPr>
              <a:t> collectivists</a:t>
            </a:r>
            <a:endParaRPr lang="en-US" sz="3000" dirty="0"/>
          </a:p>
        </p:txBody>
      </p:sp>
      <p:sp>
        <p:nvSpPr>
          <p:cNvPr id="5" name="eq2"/>
          <p:cNvSpPr txBox="1"/>
          <p:nvPr/>
        </p:nvSpPr>
        <p:spPr>
          <a:xfrm>
            <a:off x="640080" y="324612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a:t>
            </a:r>
            <a:endParaRPr lang="en-US" sz="3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4"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5"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6"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7" name="pairs-head"/>
          <p:cNvSpPr txBox="1"/>
          <p:nvPr/>
        </p:nvSpPr>
        <p:spPr>
          <a:xfrm>
            <a:off x="457200" y="3886200"/>
            <a:ext cx="8229600" cy="329184"/>
          </a:xfrm>
          <a:prstGeom prst="rect">
            <a:avLst/>
          </a:prstGeom>
          <a:noFill/>
          <a:ln/>
        </p:spPr>
        <p:txBody>
          <a:bodyPr wrap="square" lIns="0" tIns="0" rIns="0" bIns="0" rtlCol="0" anchor="ctr"/>
          <a:lstStyle/>
          <a:p>
            <a:pPr algn="ctr" indent="0" marL="0">
              <a:buNone/>
            </a:pPr>
            <a:r>
              <a:rPr lang="en-US" sz="1300" b="1" dirty="0">
                <a:solidFill>
                  <a:schemeClr val="tx2"/>
                </a:solidFill>
              </a:rPr>
              <a:t>Signal interpretation gap</a:t>
            </a:r>
            <a:endParaRPr lang="en-US" sz="1300" dirty="0"/>
          </a:p>
        </p:txBody>
      </p:sp>
      <p:sp>
        <p:nvSpPr>
          <p:cNvPr id="8" name="chip"/>
          <p:cNvSpPr/>
          <p:nvPr/>
        </p:nvSpPr>
        <p:spPr>
          <a:xfrm>
            <a:off x="2057400" y="3429000"/>
            <a:ext cx="914400" cy="329184"/>
          </a:xfrm>
          <a:prstGeom prst="roundRect">
            <a:avLst>
              <a:gd name="adj" fmla="val 16667"/>
            </a:avLst>
          </a:prstGeom>
          <a:solidFill>
            <a:schemeClr val="tx2"/>
          </a:solidFill>
          <a:ln w="12700">
            <a:solidFill>
              <a:schemeClr val="tx2"/>
            </a:solidFill>
            <a:prstDash val="solid"/>
          </a:ln>
        </p:spPr>
      </p:sp>
      <p:sp>
        <p:nvSpPr>
          <p:cNvPr id="9" name="chip-label"/>
          <p:cNvSpPr txBox="1"/>
          <p:nvPr/>
        </p:nvSpPr>
        <p:spPr>
          <a:xfrm>
            <a:off x="205740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0" name="pair-label"/>
          <p:cNvSpPr txBox="1"/>
          <p:nvPr/>
        </p:nvSpPr>
        <p:spPr>
          <a:xfrm>
            <a:off x="301752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wide gap</a:t>
            </a:r>
            <a:endParaRPr lang="en-US" sz="1200" dirty="0"/>
          </a:p>
        </p:txBody>
      </p:sp>
      <p:sp>
        <p:nvSpPr>
          <p:cNvPr id="11" name="chip"/>
          <p:cNvSpPr/>
          <p:nvPr/>
        </p:nvSpPr>
        <p:spPr>
          <a:xfrm>
            <a:off x="3794760" y="3429000"/>
            <a:ext cx="914400" cy="329184"/>
          </a:xfrm>
          <a:prstGeom prst="roundRect">
            <a:avLst>
              <a:gd name="adj" fmla="val 16667"/>
            </a:avLst>
          </a:prstGeom>
          <a:solidFill>
            <a:schemeClr val="accent3"/>
          </a:solidFill>
          <a:ln w="12700">
            <a:solidFill>
              <a:schemeClr val="accent3"/>
            </a:solidFill>
            <a:prstDash val="solid"/>
          </a:ln>
        </p:spPr>
      </p:sp>
      <p:sp>
        <p:nvSpPr>
          <p:cNvPr id="12" name="chip-label"/>
          <p:cNvSpPr txBox="1"/>
          <p:nvPr/>
        </p:nvSpPr>
        <p:spPr>
          <a:xfrm>
            <a:off x="379476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3" name="pair-label"/>
          <p:cNvSpPr txBox="1"/>
          <p:nvPr/>
        </p:nvSpPr>
        <p:spPr>
          <a:xfrm>
            <a:off x="475488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medium</a:t>
            </a:r>
            <a:endParaRPr lang="en-US" sz="1200" dirty="0"/>
          </a:p>
        </p:txBody>
      </p:sp>
      <p:sp>
        <p:nvSpPr>
          <p:cNvPr id="14" name="chip"/>
          <p:cNvSpPr/>
          <p:nvPr/>
        </p:nvSpPr>
        <p:spPr>
          <a:xfrm>
            <a:off x="5532120" y="3429000"/>
            <a:ext cx="914400" cy="329184"/>
          </a:xfrm>
          <a:prstGeom prst="roundRect">
            <a:avLst>
              <a:gd name="adj" fmla="val 16667"/>
            </a:avLst>
          </a:prstGeom>
          <a:solidFill>
            <a:schemeClr val="accent4"/>
          </a:solidFill>
          <a:ln w="12700">
            <a:solidFill>
              <a:schemeClr val="accent4"/>
            </a:solidFill>
            <a:prstDash val="solid"/>
          </a:ln>
        </p:spPr>
      </p:sp>
      <p:sp>
        <p:nvSpPr>
          <p:cNvPr id="15" name="chip-label"/>
          <p:cNvSpPr txBox="1"/>
          <p:nvPr/>
        </p:nvSpPr>
        <p:spPr>
          <a:xfrm>
            <a:off x="5532120" y="342900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6" name="pair-label"/>
          <p:cNvSpPr txBox="1"/>
          <p:nvPr/>
        </p:nvSpPr>
        <p:spPr>
          <a:xfrm>
            <a:off x="649224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narrow</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2026-10-26T12:35:36Z</dcterms:created>
  <dcterms:modified xsi:type="dcterms:W3CDTF">2026-10-26T12:35:36Z</dcterms:modified>
</cp:coreProperties>
</file>